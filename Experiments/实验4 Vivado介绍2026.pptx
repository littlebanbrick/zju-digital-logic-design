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94" r:id="rId3"/>
    <p:sldId id="298" r:id="rId5"/>
    <p:sldId id="299" r:id="rId6"/>
    <p:sldId id="393" r:id="rId7"/>
    <p:sldId id="303" r:id="rId8"/>
    <p:sldId id="646" r:id="rId9"/>
    <p:sldId id="647" r:id="rId10"/>
    <p:sldId id="394" r:id="rId11"/>
    <p:sldId id="534" r:id="rId12"/>
    <p:sldId id="617" r:id="rId13"/>
    <p:sldId id="587" r:id="rId14"/>
    <p:sldId id="589" r:id="rId15"/>
    <p:sldId id="590" r:id="rId16"/>
    <p:sldId id="592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1122" r:id="rId28"/>
    <p:sldId id="603" r:id="rId29"/>
    <p:sldId id="604" r:id="rId30"/>
    <p:sldId id="1123" r:id="rId31"/>
    <p:sldId id="605" r:id="rId32"/>
    <p:sldId id="1124" r:id="rId33"/>
    <p:sldId id="860" r:id="rId34"/>
    <p:sldId id="1274" r:id="rId35"/>
    <p:sldId id="1536" r:id="rId36"/>
    <p:sldId id="1272" r:id="rId37"/>
    <p:sldId id="609" r:id="rId38"/>
    <p:sldId id="608" r:id="rId39"/>
    <p:sldId id="610" r:id="rId40"/>
    <p:sldId id="611" r:id="rId41"/>
    <p:sldId id="612" r:id="rId42"/>
    <p:sldId id="613" r:id="rId43"/>
    <p:sldId id="1268" r:id="rId44"/>
    <p:sldId id="614" r:id="rId45"/>
    <p:sldId id="615" r:id="rId46"/>
    <p:sldId id="616" r:id="rId47"/>
    <p:sldId id="618" r:id="rId48"/>
    <p:sldId id="1269" r:id="rId49"/>
    <p:sldId id="1270" r:id="rId50"/>
    <p:sldId id="619" r:id="rId51"/>
    <p:sldId id="1271" r:id="rId52"/>
    <p:sldId id="622" r:id="rId53"/>
    <p:sldId id="1533" r:id="rId54"/>
    <p:sldId id="623" r:id="rId55"/>
    <p:sldId id="1534" r:id="rId56"/>
    <p:sldId id="620" r:id="rId57"/>
    <p:sldId id="624" r:id="rId58"/>
    <p:sldId id="625" r:id="rId59"/>
    <p:sldId id="627" r:id="rId60"/>
    <p:sldId id="626" r:id="rId61"/>
    <p:sldId id="628" r:id="rId62"/>
    <p:sldId id="629" r:id="rId63"/>
    <p:sldId id="630" r:id="rId64"/>
    <p:sldId id="631" r:id="rId65"/>
    <p:sldId id="632" r:id="rId66"/>
    <p:sldId id="633" r:id="rId67"/>
    <p:sldId id="634" r:id="rId68"/>
    <p:sldId id="1418" r:id="rId69"/>
    <p:sldId id="1685" r:id="rId70"/>
    <p:sldId id="1694" r:id="rId71"/>
    <p:sldId id="1695" r:id="rId72"/>
    <p:sldId id="1686" r:id="rId73"/>
    <p:sldId id="1687" r:id="rId74"/>
    <p:sldId id="1688" r:id="rId75"/>
    <p:sldId id="1689" r:id="rId76"/>
    <p:sldId id="1690" r:id="rId77"/>
    <p:sldId id="1691" r:id="rId78"/>
    <p:sldId id="1692" r:id="rId79"/>
    <p:sldId id="1693" r:id="rId80"/>
    <p:sldId id="699" r:id="rId81"/>
    <p:sldId id="661" r:id="rId82"/>
    <p:sldId id="446" r:id="rId83"/>
    <p:sldId id="447" r:id="rId84"/>
    <p:sldId id="662" r:id="rId85"/>
    <p:sldId id="663" r:id="rId86"/>
    <p:sldId id="522" r:id="rId87"/>
  </p:sldIdLst>
  <p:sldSz cx="9144000" cy="6858000" type="screen4x3"/>
  <p:notesSz cx="6858000" cy="9144000"/>
  <p:custDataLst>
    <p:tags r:id="rId9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3B0B364-4BE9-472C-8215-48676C2E2B3A}">
          <p14:sldIdLst>
            <p14:sldId id="694"/>
            <p14:sldId id="298"/>
            <p14:sldId id="299"/>
            <p14:sldId id="393"/>
            <p14:sldId id="303"/>
            <p14:sldId id="646"/>
            <p14:sldId id="647"/>
            <p14:sldId id="394"/>
            <p14:sldId id="534"/>
            <p14:sldId id="617"/>
            <p14:sldId id="587"/>
            <p14:sldId id="589"/>
            <p14:sldId id="590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1122"/>
            <p14:sldId id="603"/>
            <p14:sldId id="604"/>
            <p14:sldId id="1123"/>
            <p14:sldId id="605"/>
            <p14:sldId id="1124"/>
            <p14:sldId id="860"/>
            <p14:sldId id="1274"/>
            <p14:sldId id="1536"/>
            <p14:sldId id="1272"/>
            <p14:sldId id="609"/>
            <p14:sldId id="608"/>
            <p14:sldId id="610"/>
            <p14:sldId id="611"/>
            <p14:sldId id="612"/>
            <p14:sldId id="613"/>
            <p14:sldId id="1268"/>
            <p14:sldId id="614"/>
            <p14:sldId id="615"/>
            <p14:sldId id="616"/>
            <p14:sldId id="618"/>
            <p14:sldId id="1269"/>
            <p14:sldId id="1270"/>
            <p14:sldId id="619"/>
            <p14:sldId id="1271"/>
            <p14:sldId id="622"/>
            <p14:sldId id="1533"/>
            <p14:sldId id="623"/>
            <p14:sldId id="1534"/>
            <p14:sldId id="620"/>
            <p14:sldId id="624"/>
            <p14:sldId id="625"/>
            <p14:sldId id="627"/>
            <p14:sldId id="626"/>
            <p14:sldId id="628"/>
            <p14:sldId id="629"/>
            <p14:sldId id="630"/>
            <p14:sldId id="631"/>
            <p14:sldId id="632"/>
            <p14:sldId id="633"/>
            <p14:sldId id="634"/>
            <p14:sldId id="1418"/>
            <p14:sldId id="1685"/>
            <p14:sldId id="1694"/>
            <p14:sldId id="1695"/>
            <p14:sldId id="1686"/>
            <p14:sldId id="1687"/>
            <p14:sldId id="1688"/>
            <p14:sldId id="1689"/>
            <p14:sldId id="1690"/>
            <p14:sldId id="1691"/>
            <p14:sldId id="1692"/>
            <p14:sldId id="1693"/>
            <p14:sldId id="699"/>
            <p14:sldId id="661"/>
            <p14:sldId id="446"/>
            <p14:sldId id="447"/>
            <p14:sldId id="662"/>
            <p14:sldId id="663"/>
            <p14:sldId id="5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dehd@163.com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 autoAdjust="0"/>
    <p:restoredTop sz="87617" autoAdjust="0"/>
  </p:normalViewPr>
  <p:slideViewPr>
    <p:cSldViewPr showGuides="1">
      <p:cViewPr varScale="1">
        <p:scale>
          <a:sx n="76" d="100"/>
          <a:sy n="76" d="100"/>
        </p:scale>
        <p:origin x="15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1.xml"/><Relationship Id="rId91" Type="http://schemas.openxmlformats.org/officeDocument/2006/relationships/commentAuthors" Target="commentAuthors.xml"/><Relationship Id="rId90" Type="http://schemas.openxmlformats.org/officeDocument/2006/relationships/tableStyles" Target="tableStyles.xml"/><Relationship Id="rId9" Type="http://schemas.openxmlformats.org/officeDocument/2006/relationships/slide" Target="slides/slide6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95162-E531-4353-9095-5E7962AFF7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17411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1005205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005205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005205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005205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005205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005205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005205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005205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005205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D10D8A-0181-42EC-A258-7EA406449492}" type="slidenum">
              <a:rPr kumimoji="1" lang="zh-CN" altLang="en-US" sz="1500" u="none" baseline="0" smtClean="0"/>
            </a:fld>
            <a:endParaRPr kumimoji="1" lang="zh-CN" altLang="en-US" sz="1500" u="none" baseline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5343CD-D9F7-415D-AF47-D27DBA89B7DD}" type="slidenum">
              <a:rPr lang="zh-CN" altLang="en-US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9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1" name="Line 1054"/>
          <p:cNvSpPr>
            <a:spLocks noChangeShapeType="1"/>
          </p:cNvSpPr>
          <p:nvPr userDrawn="1"/>
        </p:nvSpPr>
        <p:spPr bwMode="auto">
          <a:xfrm>
            <a:off x="467544" y="1065373"/>
            <a:ext cx="8239944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9268" y="131401"/>
            <a:ext cx="7005464" cy="742921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3E3EFC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896544"/>
          </a:xfrm>
        </p:spPr>
        <p:txBody>
          <a:bodyPr/>
          <a:lstStyle>
            <a:lvl1pPr marL="342900" indent="-342900">
              <a:buClr>
                <a:srgbClr val="FF1515"/>
              </a:buClr>
              <a:buSzPct val="80000"/>
              <a:buFont typeface="黑体" panose="02010609060101010101" pitchFamily="49" charset="-122"/>
              <a:buChar char="◎"/>
              <a:defRPr b="1">
                <a:solidFill>
                  <a:srgbClr val="24279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buClr>
                <a:srgbClr val="002060"/>
              </a:buClr>
              <a:buSzPct val="100000"/>
              <a:buFont typeface="Times New Roman" panose="02020603050405020304" pitchFamily="18" charset="0"/>
              <a:buChar char="₠"/>
              <a:defRPr b="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>
              <a:buClr>
                <a:srgbClr val="DE0000"/>
              </a:buClr>
              <a:buSzPct val="80000"/>
              <a:buFont typeface="黑体" panose="02010609060101010101" pitchFamily="49" charset="-122"/>
              <a:buChar char="☉"/>
              <a:defRPr>
                <a:latin typeface="+mn-ea"/>
                <a:ea typeface="+mn-ea"/>
              </a:defRPr>
            </a:lvl3pPr>
            <a:lvl4pPr marL="1600200" indent="-228600">
              <a:buClr>
                <a:srgbClr val="002060"/>
              </a:buClr>
              <a:buSzPct val="60000"/>
              <a:buFont typeface="黑体" panose="02010609060101010101" pitchFamily="49" charset="-122"/>
              <a:buChar char="◆"/>
              <a:defRPr>
                <a:latin typeface="+mn-ea"/>
                <a:ea typeface="+mn-ea"/>
              </a:defRPr>
            </a:lvl4pPr>
            <a:lvl5pPr marL="2057400" indent="-228600">
              <a:buClr>
                <a:srgbClr val="FF0000"/>
              </a:buClr>
              <a:buFont typeface="Arial" panose="020B0604020202020204" pitchFamily="34" charset="0"/>
              <a:buChar char="●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12E16E5-7A8D-403A-8B16-5B4D23BE024D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9" name="Line 1054"/>
          <p:cNvSpPr>
            <a:spLocks noChangeShapeType="1"/>
          </p:cNvSpPr>
          <p:nvPr userDrawn="1"/>
        </p:nvSpPr>
        <p:spPr bwMode="auto">
          <a:xfrm>
            <a:off x="467544" y="874322"/>
            <a:ext cx="8239944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216" y="44625"/>
            <a:ext cx="7869560" cy="792083"/>
          </a:xfrm>
        </p:spPr>
        <p:txBody>
          <a:bodyPr>
            <a:normAutofit/>
          </a:bodyPr>
          <a:lstStyle>
            <a:lvl1pPr algn="l"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968552"/>
          </a:xfrm>
        </p:spPr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lang="zh-CN" altLang="en-US" sz="3200" b="1" kern="1200" baseline="0" dirty="0" smtClean="0">
                <a:solidFill>
                  <a:srgbClr val="242790"/>
                </a:solidFill>
                <a:latin typeface="Times New Roman" panose="02020603050405020304" pitchFamily="18" charset="0"/>
                <a:ea typeface="+mj-ea"/>
                <a:cs typeface="+mn-cs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lang="zh-CN" altLang="en-US" sz="2800" b="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 lang="zh-CN" altLang="en-US" sz="24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lang="zh-CN" altLang="en-US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>
              <a:defRPr lang="zh-CN" altLang="en-US" sz="200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D5DE39A-44C9-4838-8984-BDBFB38A585A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9" name="Line 1054"/>
          <p:cNvSpPr>
            <a:spLocks noChangeShapeType="1"/>
          </p:cNvSpPr>
          <p:nvPr userDrawn="1"/>
        </p:nvSpPr>
        <p:spPr bwMode="auto">
          <a:xfrm>
            <a:off x="395536" y="980728"/>
            <a:ext cx="8239944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193FA72-0228-4AEE-B4A1-A39A3D0AE49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2FFFDE-34EC-4F8B-A19C-ABC44BD58F8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3081959-BA0A-4A0C-A964-778EAD797AD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F02C8B0-5E6F-4A88-9D11-958CAF86C74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AF16A4-8839-4FF0-8B87-2A0277340AC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99028BF-7E04-452F-82E7-68D11517D3D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428F756-92F4-4785-99A9-B9F6CF8DE21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E9027BC-D759-47BC-91E4-81B8DE55A14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3CCCD5C-147E-4067-BE0E-11FB96A4AF6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body" sz="quarter" idx="14"/>
          </p:nvPr>
        </p:nvSpPr>
        <p:spPr>
          <a:xfrm>
            <a:off x="461254" y="857244"/>
            <a:ext cx="8225546" cy="1142996"/>
          </a:xfrm>
        </p:spPr>
        <p:txBody>
          <a:bodyPr/>
          <a:lstStyle>
            <a:lvl1pPr>
              <a:buNone/>
              <a:defRPr sz="2400" baseline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" name="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日期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D9745-F3E5-4591-BEED-D26DD27829E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body" sz="quarter" idx="14"/>
          </p:nvPr>
        </p:nvSpPr>
        <p:spPr>
          <a:xfrm>
            <a:off x="461254" y="857244"/>
            <a:ext cx="8225546" cy="1142996"/>
          </a:xfrm>
        </p:spPr>
        <p:txBody>
          <a:bodyPr/>
          <a:lstStyle>
            <a:lvl1pPr>
              <a:buNone/>
              <a:defRPr sz="2400" baseline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" name="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日期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444BC-F640-4DA0-B1BF-90CB3762D5C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C5903DA-DDF1-40C7-B33F-664703B0934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Chapte2222r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618060-C51E-443B-A932-64B79725C7E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hyperlink" Target="mailto:made@zju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1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0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2.png"/></Relationships>
</file>

<file path=ppt/slides/_rels/slide6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GI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52095" y="2060575"/>
            <a:ext cx="10177780" cy="185293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kumimoji="1" lang="zh-CN" altLang="en-US" sz="3555" dirty="0">
                <a:ea typeface="宋体" panose="02010600030101010101" pitchFamily="2" charset="-122"/>
              </a:rPr>
              <a:t>计算机逻辑设计实验</a:t>
            </a:r>
            <a:br>
              <a:rPr kumimoji="1" lang="en-US" altLang="zh-CN" sz="3200" dirty="0">
                <a:ea typeface="宋体" panose="02010600030101010101" pitchFamily="2" charset="-122"/>
              </a:rPr>
            </a:br>
            <a:r>
              <a:rPr kumimoji="1" lang="en-US" altLang="zh-CN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  <a:t>Lab4</a:t>
            </a:r>
            <a:br>
              <a:rPr kumimoji="1" lang="zh-CN" altLang="en-US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</a:br>
            <a:r>
              <a:rPr kumimoji="1" lang="en-US" altLang="zh-CN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  <a:t>VIVADO</a:t>
            </a:r>
            <a:r>
              <a:rPr kumimoji="1" lang="zh-CN" altLang="en-US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  <a:t>介绍</a:t>
            </a:r>
            <a:r>
              <a:rPr kumimoji="1" lang="en-US" altLang="zh-CN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  <a:t>&amp;</a:t>
            </a:r>
            <a:r>
              <a:rPr kumimoji="1" lang="zh-CN" altLang="en-US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  <a:t>模块封装</a:t>
            </a:r>
            <a:br>
              <a:rPr kumimoji="1" lang="zh-CN" altLang="en-US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</a:br>
            <a:br>
              <a:rPr kumimoji="1" lang="en-US" altLang="zh-CN" dirty="0">
                <a:solidFill>
                  <a:srgbClr val="660066"/>
                </a:solidFill>
                <a:latin typeface="Cambria" panose="02040503050406030204" charset="0"/>
                <a:ea typeface="宋体" panose="02010600030101010101" pitchFamily="2" charset="-122"/>
              </a:rPr>
            </a:br>
            <a:endParaRPr kumimoji="1" lang="zh-CN" altLang="en-US" sz="3200" dirty="0">
              <a:solidFill>
                <a:srgbClr val="660066"/>
              </a:solidFill>
              <a:latin typeface="Cambria" panose="02040503050406030204" charset="0"/>
              <a:ea typeface="宋体" panose="02010600030101010101" pitchFamily="2" charset="-122"/>
            </a:endParaRPr>
          </a:p>
        </p:txBody>
      </p:sp>
      <p:sp>
        <p:nvSpPr>
          <p:cNvPr id="16386" name="副标题 2"/>
          <p:cNvSpPr>
            <a:spLocks noGrp="1" noChangeArrowheads="1"/>
          </p:cNvSpPr>
          <p:nvPr>
            <p:ph type="subTitle" idx="1"/>
          </p:nvPr>
        </p:nvSpPr>
        <p:spPr>
          <a:xfrm>
            <a:off x="1088390" y="3429000"/>
            <a:ext cx="6684010" cy="252412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洪奇军</a:t>
            </a:r>
            <a:endParaRPr kumimoji="1"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kumimoji="1" lang="en-US" altLang="zh-CN" sz="2800" u="sng" dirty="0">
                <a:solidFill>
                  <a:srgbClr val="0000FF"/>
                </a:solidFill>
                <a:ea typeface="宋体" panose="02010600030101010101" pitchFamily="2" charset="-122"/>
              </a:rPr>
              <a:t>redflag</a:t>
            </a:r>
            <a:r>
              <a:rPr kumimoji="1" lang="en-US" altLang="zh-CN" sz="2800" u="sng" dirty="0">
                <a:solidFill>
                  <a:srgbClr val="0000FF"/>
                </a:solidFill>
                <a:ea typeface="宋体" panose="02010600030101010101" pitchFamily="2" charset="-122"/>
                <a:hlinkClick r:id="rId1"/>
              </a:rPr>
              <a:t>@zju.edu.cn</a:t>
            </a:r>
            <a:endParaRPr kumimoji="1" lang="en-US" altLang="zh-CN" sz="2800" u="sng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kumimoji="1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2025-3-12</a:t>
            </a:r>
            <a:endParaRPr kumimoji="1" lang="en-US" altLang="zh-CN" sz="2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https://3200105455.pages.zjusct.io/202</a:t>
            </a:r>
            <a:r>
              <a:rPr kumimoji="1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r>
              <a:rPr kumimoji="1"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_dd/</a:t>
            </a:r>
            <a:endParaRPr kumimoji="1" lang="zh-CN" altLang="en-US" sz="2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7" name="矩形 3"/>
          <p:cNvSpPr>
            <a:spLocks noChangeArrowheads="1"/>
          </p:cNvSpPr>
          <p:nvPr/>
        </p:nvSpPr>
        <p:spPr bwMode="auto">
          <a:xfrm>
            <a:off x="0" y="59531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u="none" dirty="0"/>
              <a:t>College of Computer Science, Zhejiang University</a:t>
            </a:r>
            <a:endParaRPr lang="en-US" altLang="zh-CN" sz="3600" u="none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230191" y="115890"/>
            <a:ext cx="7005637" cy="955675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Course Outline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844824"/>
            <a:ext cx="7772400" cy="431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一、实验目的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二、实验环境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三、实验目标及任务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0191" y="115890"/>
            <a:ext cx="7870825" cy="955675"/>
          </a:xfrm>
        </p:spPr>
        <p:txBody>
          <a:bodyPr/>
          <a:lstStyle/>
          <a:p>
            <a:pPr eaLnBrk="1" hangingPunct="1"/>
            <a:r>
              <a:rPr sz="4800">
                <a:ea typeface="黑体" panose="02010609060101010101" pitchFamily="49" charset="-122"/>
              </a:rPr>
              <a:t>实验目的</a:t>
            </a:r>
            <a:endParaRPr sz="4800">
              <a:ea typeface="黑体" panose="02010609060101010101" pitchFamily="49" charset="-122"/>
            </a:endParaRP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87375" y="1336679"/>
            <a:ext cx="8064500" cy="4752975"/>
          </a:xfrm>
        </p:spPr>
        <p:txBody>
          <a:bodyPr/>
          <a:lstStyle/>
          <a:p>
            <a:pPr marL="609600" indent="-60960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1.	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熟练掌握</a:t>
            </a:r>
            <a:r>
              <a:rPr lang="en-US" altLang="zh-CN" sz="280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EDA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开发工具和开发流程</a:t>
            </a:r>
            <a:endParaRPr lang="en-US" altLang="zh-CN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09600" indent="-60960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2.	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复习数字逻辑设计实现方法</a:t>
            </a:r>
            <a:endParaRPr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09600" indent="-60960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3.	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扩展优化逻辑实验基本模块</a:t>
            </a:r>
            <a:endParaRPr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09600" indent="-60960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4.	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优化计算机系统实现的辅助模块</a:t>
            </a:r>
            <a:endParaRPr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09600" indent="-60960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5.	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了解计算机硬件系统将中到的最基本模块</a:t>
            </a:r>
            <a:endParaRPr lang="en-US" altLang="zh-CN" sz="2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0191" y="115890"/>
            <a:ext cx="7870825" cy="955675"/>
          </a:xfrm>
        </p:spPr>
        <p:txBody>
          <a:bodyPr/>
          <a:lstStyle/>
          <a:p>
            <a:pPr eaLnBrk="1" hangingPunct="1"/>
            <a:r>
              <a:rPr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11562" y="1106990"/>
            <a:ext cx="7993063" cy="47513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spcBef>
                <a:spcPts val="0"/>
              </a:spcBef>
              <a:defRPr/>
            </a:pPr>
            <a:r>
              <a:rPr sz="2800" dirty="0">
                <a:solidFill>
                  <a:schemeClr val="tx1"/>
                </a:solidFill>
              </a:rPr>
              <a:t>实验设备</a:t>
            </a:r>
            <a:endParaRPr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sz="2400" dirty="0"/>
              <a:t>1. </a:t>
            </a:r>
            <a:r>
              <a:rPr sz="2400" dirty="0"/>
              <a:t>计算机（</a:t>
            </a:r>
            <a:r>
              <a:rPr lang="en-US" altLang="zh-CN" sz="2400" dirty="0"/>
              <a:t>Intel Core i5</a:t>
            </a:r>
            <a:r>
              <a:rPr sz="2400" dirty="0"/>
              <a:t>以上，</a:t>
            </a:r>
            <a:r>
              <a:rPr lang="en-US" altLang="zh-CN" sz="2400" dirty="0"/>
              <a:t>4GB</a:t>
            </a:r>
            <a:r>
              <a:rPr sz="2400" dirty="0"/>
              <a:t>内存以上）系统</a:t>
            </a:r>
            <a:r>
              <a:rPr lang="en-US" altLang="zh-CN" sz="2400" dirty="0"/>
              <a:t> </a:t>
            </a:r>
            <a:endParaRPr sz="2400" dirty="0"/>
          </a:p>
          <a:p>
            <a:pPr marL="457200" lvl="1" indent="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2. Sword2.0/Sword4.0</a:t>
            </a:r>
            <a:r>
              <a:rPr sz="2400" dirty="0"/>
              <a:t>开发板	</a:t>
            </a:r>
            <a:endParaRPr lang="en-US" altLang="zh-CN" sz="2400" dirty="0"/>
          </a:p>
          <a:p>
            <a:pPr marL="457200" lvl="1" indent="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3. Vivado 2017.4</a:t>
            </a:r>
            <a:r>
              <a:rPr sz="2400" dirty="0"/>
              <a:t>及以上开发工具</a:t>
            </a:r>
            <a:endParaRPr sz="2400" dirty="0"/>
          </a:p>
          <a:p>
            <a:pPr marL="457200" lvl="1" indent="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4.</a:t>
            </a:r>
            <a:r>
              <a:rPr lang="en-US" altLang="zh-CN" sz="2400">
                <a:sym typeface="+mn-ea"/>
              </a:rPr>
              <a:t>Vivado 2020.2</a:t>
            </a:r>
            <a:r>
              <a:rPr sz="2400">
                <a:sym typeface="+mn-ea"/>
              </a:rPr>
              <a:t>（最好）</a:t>
            </a:r>
            <a:endParaRPr sz="2400" dirty="0"/>
          </a:p>
          <a:p>
            <a:pPr eaLnBrk="1" hangingPunct="1">
              <a:lnSpc>
                <a:spcPct val="200000"/>
              </a:lnSpc>
              <a:spcBef>
                <a:spcPts val="0"/>
              </a:spcBef>
              <a:defRPr/>
            </a:pPr>
            <a:r>
              <a:rPr sz="2800" dirty="0">
                <a:solidFill>
                  <a:schemeClr val="tx1"/>
                </a:solidFill>
              </a:rPr>
              <a:t>材料</a:t>
            </a:r>
            <a:endParaRPr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	</a:t>
            </a:r>
            <a:r>
              <a:rPr sz="2400" dirty="0"/>
              <a:t>无</a:t>
            </a:r>
            <a:endParaRPr sz="2400" dirty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0191" y="115890"/>
            <a:ext cx="7870825" cy="955675"/>
          </a:xfrm>
        </p:spPr>
        <p:txBody>
          <a:bodyPr/>
          <a:lstStyle/>
          <a:p>
            <a:pPr eaLnBrk="1" hangingPunct="1"/>
            <a:r>
              <a:rPr lang="zh-CN" altLang="en-US" sz="4800" dirty="0">
                <a:ea typeface="黑体" panose="02010609060101010101" pitchFamily="49" charset="-122"/>
              </a:rPr>
              <a:t>实验目标及任务</a:t>
            </a:r>
            <a:endParaRPr sz="4800" dirty="0">
              <a:ea typeface="黑体" panose="02010609060101010101" pitchFamily="49" charset="-122"/>
            </a:endParaRPr>
          </a:p>
        </p:txBody>
      </p:sp>
      <p:sp>
        <p:nvSpPr>
          <p:cNvPr id="136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7" y="1196977"/>
            <a:ext cx="8353425" cy="4824413"/>
          </a:xfrm>
        </p:spPr>
        <p:txBody>
          <a:bodyPr/>
          <a:lstStyle/>
          <a:p>
            <a:pPr marL="0" indent="0">
              <a:spcBef>
                <a:spcPts val="120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1. VIVADO</a:t>
            </a:r>
            <a:r>
              <a:rPr lang="zh-CN" altLang="en-US" dirty="0">
                <a:solidFill>
                  <a:schemeClr val="tx1"/>
                </a:solidFill>
              </a:rPr>
              <a:t>工具学习</a:t>
            </a:r>
            <a:endParaRPr lang="en-US" altLang="zh-CN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目标</a:t>
            </a:r>
            <a:r>
              <a:rPr lang="zh-CN" altLang="en-US" sz="2400" dirty="0"/>
              <a:t>：熟悉</a:t>
            </a:r>
            <a:r>
              <a:rPr lang="en-US" altLang="zh-CN" sz="2400" dirty="0"/>
              <a:t>VIVADO</a:t>
            </a:r>
            <a:r>
              <a:rPr lang="zh-CN" altLang="en-US" sz="2400" dirty="0"/>
              <a:t>设计环境，掌握</a:t>
            </a:r>
            <a:r>
              <a:rPr lang="en-US" altLang="zh-CN" sz="2400" dirty="0"/>
              <a:t>EDA</a:t>
            </a:r>
            <a:r>
              <a:rPr lang="zh-CN" altLang="en-US" sz="2400" dirty="0"/>
              <a:t>工具</a:t>
            </a:r>
            <a:endParaRPr lang="zh-CN" altLang="en-US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任务</a:t>
            </a:r>
            <a:r>
              <a:rPr lang="zh-CN" altLang="en-US" sz="2400" dirty="0"/>
              <a:t>：利用</a:t>
            </a:r>
            <a:r>
              <a:rPr lang="en-US" altLang="zh-CN" sz="2400" dirty="0"/>
              <a:t>VIVADO</a:t>
            </a:r>
            <a:r>
              <a:rPr lang="zh-CN" altLang="en-US" sz="2400" dirty="0"/>
              <a:t>完成</a:t>
            </a:r>
            <a:r>
              <a:rPr lang="en-US" altLang="zh-CN" sz="2400" dirty="0" err="1"/>
              <a:t>water_LED</a:t>
            </a:r>
            <a:r>
              <a:rPr lang="zh-CN" altLang="en-US" sz="2400" dirty="0"/>
              <a:t>的全流程设计</a:t>
            </a:r>
            <a:endParaRPr lang="en-US" altLang="zh-CN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/>
          </a:p>
          <a:p>
            <a:pPr marL="0" indent="0">
              <a:spcBef>
                <a:spcPts val="120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自定义模块设计学习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目标</a:t>
            </a:r>
            <a:r>
              <a:rPr lang="zh-CN" altLang="en-US" sz="2400" dirty="0"/>
              <a:t>：自定义模块设计，熟悉模块化流程</a:t>
            </a:r>
            <a:endParaRPr lang="en-US" altLang="zh-CN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任务</a:t>
            </a:r>
            <a:r>
              <a:rPr lang="zh-CN" altLang="en-US" sz="2400" dirty="0"/>
              <a:t>：利用</a:t>
            </a:r>
            <a:r>
              <a:rPr lang="en-US" altLang="zh-CN" sz="2400" dirty="0"/>
              <a:t>VIVADO</a:t>
            </a:r>
            <a:r>
              <a:rPr lang="zh-CN" altLang="en-US" sz="2400" dirty="0"/>
              <a:t>完成多选器（</a:t>
            </a:r>
            <a:r>
              <a:rPr lang="en-US" altLang="zh-CN" sz="2400" dirty="0"/>
              <a:t>MUX</a:t>
            </a:r>
            <a:r>
              <a:rPr lang="zh-CN" altLang="en-US" sz="2400" dirty="0"/>
              <a:t>）</a:t>
            </a:r>
            <a:r>
              <a:rPr lang="en-US" altLang="zh-CN" sz="2400" dirty="0"/>
              <a:t>	</a:t>
            </a:r>
            <a:r>
              <a:rPr lang="zh-CN" altLang="en-US" sz="2400" dirty="0"/>
              <a:t>的设计和封装</a:t>
            </a:r>
            <a:endParaRPr lang="en-US" altLang="zh-CN" sz="2400" dirty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0191" y="115890"/>
            <a:ext cx="7870825" cy="955675"/>
          </a:xfrm>
        </p:spPr>
        <p:txBody>
          <a:bodyPr/>
          <a:lstStyle/>
          <a:p>
            <a:pPr eaLnBrk="1" hangingPunct="1"/>
            <a:r>
              <a:rPr lang="zh-CN" altLang="en-US" sz="4800" dirty="0">
                <a:ea typeface="黑体" panose="02010609060101010101" pitchFamily="49" charset="-122"/>
              </a:rPr>
              <a:t>实验目标及任务</a:t>
            </a:r>
            <a:endParaRPr sz="4800" dirty="0">
              <a:ea typeface="黑体" panose="02010609060101010101" pitchFamily="49" charset="-122"/>
            </a:endParaRPr>
          </a:p>
        </p:txBody>
      </p:sp>
      <p:sp>
        <p:nvSpPr>
          <p:cNvPr id="136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696" y="1528543"/>
            <a:ext cx="8498214" cy="4824413"/>
          </a:xfrm>
        </p:spPr>
        <p:txBody>
          <a:bodyPr/>
          <a:lstStyle/>
          <a:p>
            <a:pPr marL="0" indent="0">
              <a:spcBef>
                <a:spcPts val="120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3.  </a:t>
            </a:r>
            <a:r>
              <a:rPr lang="zh-CN" altLang="en-US" dirty="0">
                <a:solidFill>
                  <a:schemeClr val="tx1"/>
                </a:solidFill>
              </a:rPr>
              <a:t>基本逻辑模块的原理学习、</a:t>
            </a:r>
            <a:r>
              <a:rPr lang="en-US" altLang="zh-CN" dirty="0">
                <a:solidFill>
                  <a:schemeClr val="tx1"/>
                </a:solidFill>
              </a:rPr>
              <a:t>Xilinx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IP</a:t>
            </a:r>
            <a:r>
              <a:rPr lang="zh-CN" altLang="en-US" dirty="0">
                <a:solidFill>
                  <a:schemeClr val="tx1"/>
                </a:solidFill>
              </a:rPr>
              <a:t> 生成</a:t>
            </a:r>
            <a:endParaRPr lang="zh-CN" altLang="en-US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目标</a:t>
            </a:r>
            <a:r>
              <a:rPr lang="zh-CN" altLang="en-US" sz="2400" dirty="0"/>
              <a:t>：熟悉多选器、逻辑运算、数据扩展等模块的设计原理，掌握存储器的</a:t>
            </a:r>
            <a:r>
              <a:rPr lang="en-US" altLang="zh-CN" sz="2400" dirty="0"/>
              <a:t>IP</a:t>
            </a:r>
            <a:r>
              <a:rPr lang="zh-CN" altLang="en-US" sz="2400" dirty="0"/>
              <a:t>生成方法</a:t>
            </a:r>
            <a:endParaRPr lang="zh-CN" altLang="en-US" sz="2400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熟悉基本模块功能，在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VIVADO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环境中采用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verilog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进行基本模块的设计和仿真验证；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：学习利用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VIVADO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Xilinx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库中的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，以存储器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RAM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为例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，并完成其存储内容的初始化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0191" y="115890"/>
            <a:ext cx="7870825" cy="955675"/>
          </a:xfrm>
        </p:spPr>
        <p:txBody>
          <a:bodyPr/>
          <a:lstStyle/>
          <a:p>
            <a:pPr eaLnBrk="1" hangingPunct="1"/>
            <a:r>
              <a:rPr lang="zh-CN" altLang="en-US" sz="4800" dirty="0">
                <a:ea typeface="黑体" panose="02010609060101010101" pitchFamily="49" charset="-122"/>
              </a:rPr>
              <a:t>实验目标及任务</a:t>
            </a:r>
            <a:endParaRPr sz="4800" dirty="0">
              <a:ea typeface="黑体" panose="02010609060101010101" pitchFamily="49" charset="-122"/>
            </a:endParaRPr>
          </a:p>
        </p:txBody>
      </p:sp>
      <p:sp>
        <p:nvSpPr>
          <p:cNvPr id="136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2893" y="1531941"/>
            <a:ext cx="8498214" cy="3193203"/>
          </a:xfrm>
        </p:spPr>
        <p:txBody>
          <a:bodyPr/>
          <a:lstStyle/>
          <a:p>
            <a:pPr marL="0" indent="0">
              <a:spcBef>
                <a:spcPts val="120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利用自定义模块构建实验平台</a:t>
            </a:r>
            <a:endParaRPr lang="zh-CN" altLang="en-US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目标</a:t>
            </a:r>
            <a:r>
              <a:rPr lang="zh-CN" altLang="en-US" sz="2400" dirty="0"/>
              <a:t>：了解实验板的资源情况，熟悉</a:t>
            </a:r>
            <a:r>
              <a:rPr lang="en-US" altLang="zh-CN" sz="2400" dirty="0"/>
              <a:t>RTL TOP-DOWN</a:t>
            </a:r>
            <a:r>
              <a:rPr lang="zh-CN" altLang="en-US" sz="2400" dirty="0"/>
              <a:t>的设计流程，完成实验平台</a:t>
            </a:r>
            <a:r>
              <a:rPr lang="en-US" altLang="zh-CN" sz="2400" dirty="0" err="1"/>
              <a:t>muxctrl</a:t>
            </a:r>
            <a:r>
              <a:rPr lang="zh-CN" altLang="en-US" sz="2400" dirty="0"/>
              <a:t>的构建</a:t>
            </a:r>
            <a:endParaRPr lang="en-US" altLang="zh-CN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endParaRPr lang="zh-CN" altLang="en-US" sz="2400" dirty="0"/>
          </a:p>
          <a:p>
            <a:pPr lvl="1">
              <a:spcBef>
                <a:spcPts val="120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任务</a:t>
            </a:r>
            <a:r>
              <a:rPr lang="zh-CN" altLang="en-US" sz="2400" dirty="0"/>
              <a:t>：采用</a:t>
            </a:r>
            <a:r>
              <a:rPr lang="en-US" altLang="zh-CN" sz="2400" dirty="0" err="1"/>
              <a:t>verilog</a:t>
            </a:r>
            <a:r>
              <a:rPr lang="zh-CN" altLang="en-US" sz="2400" dirty="0"/>
              <a:t>编码的设计方法，完成多选器控制</a:t>
            </a:r>
            <a:r>
              <a:rPr lang="en-US" altLang="zh-CN" sz="2400" dirty="0"/>
              <a:t>LED</a:t>
            </a:r>
            <a:r>
              <a:rPr lang="zh-CN" altLang="en-US" sz="2400" dirty="0"/>
              <a:t>的设计并利用</a:t>
            </a:r>
            <a:r>
              <a:rPr lang="en-US" altLang="zh-CN" sz="2400" dirty="0"/>
              <a:t>SWORD</a:t>
            </a:r>
            <a:r>
              <a:rPr lang="zh-CN" altLang="en-US" sz="2400" dirty="0"/>
              <a:t>实验板进行硬件验证</a:t>
            </a:r>
            <a:endParaRPr lang="en-US" altLang="zh-CN" sz="2400" dirty="0"/>
          </a:p>
          <a:p>
            <a:pPr marL="0" indent="0">
              <a:spcBef>
                <a:spcPts val="1200"/>
              </a:spcBef>
              <a:buClr>
                <a:srgbClr val="4BACC6">
                  <a:lumMod val="75000"/>
                </a:srgbClr>
              </a:buClr>
              <a:buNone/>
            </a:pPr>
            <a:endParaRPr lang="en-US" altLang="zh-CN" dirty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596336" y="6356354"/>
            <a:ext cx="1224136" cy="3651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7504" y="1556792"/>
            <a:ext cx="8712968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1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VIVADO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工具学习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4279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目标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：熟悉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VIVADO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设计环境，掌握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任务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：利用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VIVADO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完成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water_LED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的全流程设计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210" y="264559"/>
            <a:ext cx="7869560" cy="792083"/>
          </a:xfrm>
        </p:spPr>
        <p:txBody>
          <a:bodyPr/>
          <a:lstStyle/>
          <a:p>
            <a:r>
              <a:rPr lang="en-US" altLang="zh-CN" dirty="0"/>
              <a:t>Vivado</a:t>
            </a:r>
            <a:r>
              <a:rPr lang="zh-CN" altLang="en-US" dirty="0"/>
              <a:t>工具简介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1250" y="1275959"/>
            <a:ext cx="8229600" cy="4968552"/>
          </a:xfrm>
        </p:spPr>
        <p:txBody>
          <a:bodyPr/>
          <a:lstStyle/>
          <a:p>
            <a:pPr algn="just"/>
            <a:r>
              <a:rPr lang="en-US" altLang="zh-CN" sz="1800" dirty="0">
                <a:solidFill>
                  <a:schemeClr val="tx1"/>
                </a:solidFill>
              </a:rPr>
              <a:t>Vivado</a:t>
            </a:r>
            <a:r>
              <a:rPr lang="zh-CN" altLang="en-US" sz="1800" dirty="0">
                <a:solidFill>
                  <a:schemeClr val="tx1"/>
                </a:solidFill>
              </a:rPr>
              <a:t>是 </a:t>
            </a:r>
            <a:r>
              <a:rPr lang="en-US" altLang="zh-CN" sz="1800" dirty="0">
                <a:solidFill>
                  <a:schemeClr val="tx1"/>
                </a:solidFill>
              </a:rPr>
              <a:t>Xilinx </a:t>
            </a:r>
            <a:r>
              <a:rPr lang="zh-CN" altLang="en-US" sz="1800" dirty="0">
                <a:solidFill>
                  <a:schemeClr val="tx1"/>
                </a:solidFill>
              </a:rPr>
              <a:t>公司于 </a:t>
            </a:r>
            <a:r>
              <a:rPr lang="en-US" altLang="zh-CN" sz="1800" dirty="0">
                <a:solidFill>
                  <a:schemeClr val="tx1"/>
                </a:solidFill>
              </a:rPr>
              <a:t>2012 </a:t>
            </a:r>
            <a:r>
              <a:rPr lang="zh-CN" altLang="en-US" sz="1800" dirty="0">
                <a:solidFill>
                  <a:schemeClr val="tx1"/>
                </a:solidFill>
              </a:rPr>
              <a:t>推出的新一代集成设计 环境， </a:t>
            </a:r>
            <a:r>
              <a:rPr lang="en-US" altLang="zh-CN" sz="1800" dirty="0">
                <a:solidFill>
                  <a:schemeClr val="tx1"/>
                </a:solidFill>
              </a:rPr>
              <a:t>Vivado</a:t>
            </a:r>
            <a:r>
              <a:rPr lang="zh-CN" altLang="en-US" sz="1800" dirty="0">
                <a:solidFill>
                  <a:schemeClr val="tx1"/>
                </a:solidFill>
              </a:rPr>
              <a:t>代表了未来 </a:t>
            </a:r>
            <a:r>
              <a:rPr lang="en-US" altLang="zh-CN" sz="1800" dirty="0">
                <a:solidFill>
                  <a:schemeClr val="tx1"/>
                </a:solidFill>
              </a:rPr>
              <a:t>Xilinx FPGA </a:t>
            </a:r>
            <a:r>
              <a:rPr lang="zh-CN" altLang="en-US" sz="1800" dirty="0">
                <a:solidFill>
                  <a:schemeClr val="tx1"/>
                </a:solidFill>
              </a:rPr>
              <a:t>开发环境的变化趋势。作为一个 </a:t>
            </a:r>
            <a:r>
              <a:rPr lang="en-US" altLang="zh-CN" sz="1800" dirty="0">
                <a:solidFill>
                  <a:schemeClr val="tx1"/>
                </a:solidFill>
              </a:rPr>
              <a:t>Xilinx FPGA </a:t>
            </a:r>
            <a:r>
              <a:rPr lang="zh-CN" altLang="en-US" sz="1800" dirty="0">
                <a:solidFill>
                  <a:schemeClr val="tx1"/>
                </a:solidFill>
              </a:rPr>
              <a:t>的开发使用者，学习掌握 </a:t>
            </a:r>
            <a:r>
              <a:rPr lang="en-US" altLang="zh-CN" sz="1800" dirty="0">
                <a:solidFill>
                  <a:schemeClr val="tx1"/>
                </a:solidFill>
              </a:rPr>
              <a:t>Vivado </a:t>
            </a:r>
            <a:r>
              <a:rPr lang="zh-CN" altLang="en-US" sz="1800" dirty="0">
                <a:solidFill>
                  <a:schemeClr val="tx1"/>
                </a:solidFill>
              </a:rPr>
              <a:t>是趋势。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r>
              <a:rPr lang="zh-CN" altLang="en-US" sz="1800" dirty="0">
                <a:solidFill>
                  <a:schemeClr val="tx1"/>
                </a:solidFill>
              </a:rPr>
              <a:t>随着 </a:t>
            </a:r>
            <a:r>
              <a:rPr lang="en-US" altLang="zh-CN" sz="1800" dirty="0">
                <a:solidFill>
                  <a:schemeClr val="tx1"/>
                </a:solidFill>
              </a:rPr>
              <a:t>FPGA </a:t>
            </a:r>
            <a:r>
              <a:rPr lang="zh-CN" altLang="en-US" sz="1800" dirty="0">
                <a:solidFill>
                  <a:schemeClr val="tx1"/>
                </a:solidFill>
              </a:rPr>
              <a:t>进入 </a:t>
            </a:r>
            <a:r>
              <a:rPr lang="en-US" altLang="zh-CN" sz="1800" dirty="0">
                <a:solidFill>
                  <a:schemeClr val="tx1"/>
                </a:solidFill>
              </a:rPr>
              <a:t>28nm </a:t>
            </a:r>
            <a:r>
              <a:rPr lang="zh-CN" altLang="en-US" sz="1800" dirty="0">
                <a:solidFill>
                  <a:schemeClr val="tx1"/>
                </a:solidFill>
              </a:rPr>
              <a:t>时代， </a:t>
            </a:r>
            <a:r>
              <a:rPr lang="en-US" altLang="zh-CN" sz="1800" dirty="0">
                <a:solidFill>
                  <a:schemeClr val="tx1"/>
                </a:solidFill>
              </a:rPr>
              <a:t>ISE </a:t>
            </a:r>
            <a:r>
              <a:rPr lang="zh-CN" altLang="en-US" sz="1800" dirty="0">
                <a:solidFill>
                  <a:schemeClr val="tx1"/>
                </a:solidFill>
              </a:rPr>
              <a:t>工具似乎就有些“不合时宜”了，硬件提升了，软件不提升的话，设计效率必然受影响，所以推出</a:t>
            </a:r>
            <a:r>
              <a:rPr lang="en-US" altLang="zh-CN" sz="1800" dirty="0">
                <a:solidFill>
                  <a:schemeClr val="tx1"/>
                </a:solidFill>
              </a:rPr>
              <a:t>Vivado </a:t>
            </a:r>
            <a:r>
              <a:rPr lang="zh-CN" altLang="en-US" sz="1800" dirty="0">
                <a:solidFill>
                  <a:schemeClr val="tx1"/>
                </a:solidFill>
              </a:rPr>
              <a:t>是为了提高设计者的效率，它能显著增加 </a:t>
            </a:r>
            <a:r>
              <a:rPr lang="en-US" altLang="zh-CN" sz="1800" dirty="0">
                <a:solidFill>
                  <a:schemeClr val="tx1"/>
                </a:solidFill>
              </a:rPr>
              <a:t>Xilinx </a:t>
            </a:r>
            <a:r>
              <a:rPr lang="zh-CN" altLang="en-US" sz="1800" dirty="0">
                <a:solidFill>
                  <a:schemeClr val="tx1"/>
                </a:solidFill>
              </a:rPr>
              <a:t>的 </a:t>
            </a:r>
            <a:r>
              <a:rPr lang="en-US" altLang="zh-CN" sz="1800" dirty="0">
                <a:solidFill>
                  <a:schemeClr val="tx1"/>
                </a:solidFill>
              </a:rPr>
              <a:t>28nm </a:t>
            </a:r>
            <a:r>
              <a:rPr lang="zh-CN" altLang="en-US" sz="1800" dirty="0">
                <a:solidFill>
                  <a:schemeClr val="tx1"/>
                </a:solidFill>
              </a:rPr>
              <a:t>工艺的可编程逻辑器件的设计、综合与 实现效率。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r>
              <a:rPr lang="zh-CN" altLang="en-US" sz="1800" dirty="0">
                <a:solidFill>
                  <a:schemeClr val="tx1"/>
                </a:solidFill>
              </a:rPr>
              <a:t>然而，</a:t>
            </a:r>
            <a:r>
              <a:rPr lang="en-US" altLang="zh-CN" sz="1800" dirty="0">
                <a:solidFill>
                  <a:schemeClr val="tx1"/>
                </a:solidFill>
              </a:rPr>
              <a:t>Vivado </a:t>
            </a:r>
            <a:r>
              <a:rPr lang="zh-CN" altLang="en-US" sz="1800" dirty="0">
                <a:solidFill>
                  <a:schemeClr val="tx1"/>
                </a:solidFill>
              </a:rPr>
              <a:t>并不是 </a:t>
            </a:r>
            <a:r>
              <a:rPr lang="en-US" altLang="zh-CN" sz="1800" dirty="0">
                <a:solidFill>
                  <a:schemeClr val="tx1"/>
                </a:solidFill>
              </a:rPr>
              <a:t>ISE </a:t>
            </a:r>
            <a:r>
              <a:rPr lang="zh-CN" altLang="en-US" sz="1800" dirty="0">
                <a:solidFill>
                  <a:schemeClr val="tx1"/>
                </a:solidFill>
              </a:rPr>
              <a:t>的升级版，它是全新的另一个 </a:t>
            </a:r>
            <a:r>
              <a:rPr lang="en-US" altLang="zh-CN" sz="1800" dirty="0">
                <a:solidFill>
                  <a:schemeClr val="tx1"/>
                </a:solidFill>
              </a:rPr>
              <a:t>Xilinx FPGA </a:t>
            </a:r>
            <a:r>
              <a:rPr lang="zh-CN" altLang="en-US" sz="1800" dirty="0">
                <a:solidFill>
                  <a:schemeClr val="tx1"/>
                </a:solidFill>
              </a:rPr>
              <a:t>的开发工具，以前在 </a:t>
            </a:r>
            <a:r>
              <a:rPr lang="en-US" altLang="zh-CN" sz="1800" dirty="0">
                <a:solidFill>
                  <a:schemeClr val="tx1"/>
                </a:solidFill>
              </a:rPr>
              <a:t>ISE </a:t>
            </a:r>
            <a:r>
              <a:rPr lang="zh-CN" altLang="en-US" sz="1800" dirty="0">
                <a:solidFill>
                  <a:schemeClr val="tx1"/>
                </a:solidFill>
              </a:rPr>
              <a:t>里面经常出现的像 </a:t>
            </a:r>
            <a:r>
              <a:rPr lang="en-US" altLang="zh-CN" sz="1800" dirty="0">
                <a:solidFill>
                  <a:schemeClr val="tx1"/>
                </a:solidFill>
              </a:rPr>
              <a:t>XST</a:t>
            </a:r>
            <a:r>
              <a:rPr lang="zh-CN" altLang="en-US" sz="1800" dirty="0">
                <a:solidFill>
                  <a:schemeClr val="tx1"/>
                </a:solidFill>
              </a:rPr>
              <a:t>、 </a:t>
            </a:r>
            <a:r>
              <a:rPr lang="en-US" altLang="zh-CN" sz="1800" dirty="0">
                <a:solidFill>
                  <a:schemeClr val="tx1"/>
                </a:solidFill>
              </a:rPr>
              <a:t>Core Generator </a:t>
            </a:r>
            <a:r>
              <a:rPr lang="zh-CN" altLang="en-US" sz="1800" dirty="0">
                <a:solidFill>
                  <a:schemeClr val="tx1"/>
                </a:solidFill>
              </a:rPr>
              <a:t>等工具在 </a:t>
            </a:r>
            <a:r>
              <a:rPr lang="en-US" altLang="zh-CN" sz="1800" dirty="0">
                <a:solidFill>
                  <a:schemeClr val="tx1"/>
                </a:solidFill>
              </a:rPr>
              <a:t>Vivado</a:t>
            </a:r>
            <a:r>
              <a:rPr lang="zh-CN" altLang="en-US" sz="1800" dirty="0">
                <a:solidFill>
                  <a:schemeClr val="tx1"/>
                </a:solidFill>
              </a:rPr>
              <a:t>里面已经不复存在，开发者可以将 </a:t>
            </a:r>
            <a:r>
              <a:rPr lang="en-US" altLang="zh-CN" sz="1800" dirty="0">
                <a:solidFill>
                  <a:schemeClr val="tx1"/>
                </a:solidFill>
              </a:rPr>
              <a:t>Vivado </a:t>
            </a:r>
            <a:r>
              <a:rPr lang="zh-CN" altLang="en-US" sz="1800" dirty="0">
                <a:solidFill>
                  <a:schemeClr val="tx1"/>
                </a:solidFill>
              </a:rPr>
              <a:t>理解为 </a:t>
            </a:r>
            <a:r>
              <a:rPr lang="en-US" altLang="zh-CN" sz="1800" dirty="0">
                <a:solidFill>
                  <a:schemeClr val="tx1"/>
                </a:solidFill>
              </a:rPr>
              <a:t>Xilinx </a:t>
            </a:r>
            <a:r>
              <a:rPr lang="zh-CN" altLang="en-US" sz="1800" dirty="0">
                <a:solidFill>
                  <a:schemeClr val="tx1"/>
                </a:solidFill>
              </a:rPr>
              <a:t>为高端 </a:t>
            </a:r>
            <a:r>
              <a:rPr lang="en-US" altLang="zh-CN" sz="1800" dirty="0">
                <a:solidFill>
                  <a:schemeClr val="tx1"/>
                </a:solidFill>
              </a:rPr>
              <a:t>FPGA </a:t>
            </a:r>
            <a:r>
              <a:rPr lang="zh-CN" altLang="en-US" sz="1800" dirty="0">
                <a:solidFill>
                  <a:schemeClr val="tx1"/>
                </a:solidFill>
              </a:rPr>
              <a:t>专门开发的一款开发工具。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endParaRPr lang="en-US" altLang="zh-CN" sz="1800" dirty="0">
              <a:solidFill>
                <a:schemeClr val="tx1"/>
              </a:solidFill>
            </a:endParaRPr>
          </a:p>
          <a:p>
            <a:pPr algn="just"/>
            <a:r>
              <a:rPr lang="en-US" altLang="zh-CN" sz="1800" dirty="0" err="1">
                <a:solidFill>
                  <a:schemeClr val="tx1"/>
                </a:solidFill>
              </a:rPr>
              <a:t>Vivado</a:t>
            </a:r>
            <a:r>
              <a:rPr lang="zh-CN" altLang="en-US" sz="1800" dirty="0">
                <a:solidFill>
                  <a:schemeClr val="tx1"/>
                </a:solidFill>
              </a:rPr>
              <a:t>目前支持</a:t>
            </a:r>
            <a:r>
              <a:rPr lang="en-US" altLang="zh-CN" sz="1800" dirty="0">
                <a:solidFill>
                  <a:schemeClr val="tx1"/>
                </a:solidFill>
              </a:rPr>
              <a:t>Xilinx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</a:rPr>
              <a:t>28nm</a:t>
            </a:r>
            <a:r>
              <a:rPr lang="zh-CN" altLang="en-US" sz="1800" dirty="0">
                <a:solidFill>
                  <a:schemeClr val="tx1"/>
                </a:solidFill>
              </a:rPr>
              <a:t>工艺的</a:t>
            </a:r>
            <a:r>
              <a:rPr lang="en-US" altLang="zh-CN" sz="1800" dirty="0">
                <a:solidFill>
                  <a:schemeClr val="tx1"/>
                </a:solidFill>
              </a:rPr>
              <a:t>7</a:t>
            </a:r>
            <a:r>
              <a:rPr lang="zh-CN" altLang="en-US" sz="1800" dirty="0">
                <a:solidFill>
                  <a:schemeClr val="tx1"/>
                </a:solidFill>
              </a:rPr>
              <a:t>系列</a:t>
            </a:r>
            <a:r>
              <a:rPr lang="en-US" altLang="zh-CN" sz="1800" dirty="0">
                <a:solidFill>
                  <a:schemeClr val="tx1"/>
                </a:solidFill>
              </a:rPr>
              <a:t>FPGA</a:t>
            </a:r>
            <a:r>
              <a:rPr lang="zh-CN" altLang="en-US" sz="1800" dirty="0">
                <a:solidFill>
                  <a:schemeClr val="tx1"/>
                </a:solidFill>
              </a:rPr>
              <a:t>，包括</a:t>
            </a:r>
            <a:r>
              <a:rPr lang="en-US" altLang="zh-CN" sz="1800" dirty="0">
                <a:solidFill>
                  <a:schemeClr val="tx1"/>
                </a:solidFill>
              </a:rPr>
              <a:t>ZYNQ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Virtex-7</a:t>
            </a:r>
            <a:r>
              <a:rPr lang="zh-CN" altLang="en-US" sz="1800" dirty="0">
                <a:solidFill>
                  <a:schemeClr val="tx1"/>
                </a:solidFill>
              </a:rPr>
              <a:t>系列、</a:t>
            </a:r>
            <a:r>
              <a:rPr lang="en-US" altLang="zh-CN" sz="1800" dirty="0">
                <a:solidFill>
                  <a:schemeClr val="tx1"/>
                </a:solidFill>
              </a:rPr>
              <a:t>Kintex-7</a:t>
            </a:r>
            <a:r>
              <a:rPr lang="zh-CN" altLang="en-US" sz="1800" dirty="0">
                <a:solidFill>
                  <a:schemeClr val="tx1"/>
                </a:solidFill>
              </a:rPr>
              <a:t>系列和 </a:t>
            </a:r>
            <a:r>
              <a:rPr lang="en-US" altLang="zh-CN" sz="1800" dirty="0">
                <a:solidFill>
                  <a:schemeClr val="tx1"/>
                </a:solidFill>
              </a:rPr>
              <a:t>Artix-7 </a:t>
            </a:r>
            <a:r>
              <a:rPr lang="zh-CN" altLang="en-US" sz="1800" dirty="0">
                <a:solidFill>
                  <a:schemeClr val="tx1"/>
                </a:solidFill>
              </a:rPr>
              <a:t>系列，不支持其它系列的 </a:t>
            </a:r>
            <a:r>
              <a:rPr lang="en-US" altLang="zh-CN" sz="1800" dirty="0">
                <a:solidFill>
                  <a:schemeClr val="tx1"/>
                </a:solidFill>
              </a:rPr>
              <a:t>FPGA</a:t>
            </a:r>
            <a:r>
              <a:rPr lang="zh-CN" altLang="en-US" sz="1800" dirty="0">
                <a:solidFill>
                  <a:schemeClr val="tx1"/>
                </a:solidFill>
              </a:rPr>
              <a:t>。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en-US" altLang="zh-CN" sz="1800" dirty="0">
              <a:solidFill>
                <a:schemeClr val="tx1"/>
              </a:solidFill>
            </a:endParaRPr>
          </a:p>
          <a:p>
            <a:endParaRPr lang="zh-CN" altLang="en-US" sz="1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618" y="498364"/>
            <a:ext cx="1628775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396850"/>
            <a:ext cx="1193800" cy="4476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6039"/>
            <a:ext cx="6396217" cy="591196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Vivado</a:t>
            </a:r>
            <a:r>
              <a:rPr lang="zh-CN" altLang="en-US" dirty="0"/>
              <a:t>工具简介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351006" y="1090880"/>
            <a:ext cx="2792994" cy="5767119"/>
          </a:xfrm>
        </p:spPr>
        <p:txBody>
          <a:bodyPr/>
          <a:lstStyle/>
          <a:p>
            <a:r>
              <a:rPr lang="en-US" altLang="zh-CN" sz="1800" dirty="0" err="1">
                <a:solidFill>
                  <a:schemeClr val="tx1"/>
                </a:solidFill>
              </a:rPr>
              <a:t>Vivado</a:t>
            </a:r>
            <a:r>
              <a:rPr lang="zh-CN" altLang="en-US" sz="1800" dirty="0">
                <a:solidFill>
                  <a:schemeClr val="tx1"/>
                </a:solidFill>
              </a:rPr>
              <a:t>开发流程主要分为三阶段：系统设计输入；实现；硬件编程和验证。每个阶段又有不同的方法和步骤。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系统设计输入：传统的</a:t>
            </a:r>
            <a:r>
              <a:rPr lang="en-US" altLang="zh-CN" sz="1800" dirty="0">
                <a:solidFill>
                  <a:schemeClr val="tx1"/>
                </a:solidFill>
              </a:rPr>
              <a:t>RTL</a:t>
            </a:r>
            <a:r>
              <a:rPr lang="zh-CN" altLang="en-US" sz="1800" dirty="0">
                <a:solidFill>
                  <a:schemeClr val="tx1"/>
                </a:solidFill>
              </a:rPr>
              <a:t>开发；</a:t>
            </a:r>
            <a:r>
              <a:rPr lang="en-US" altLang="zh-CN" sz="1800" dirty="0">
                <a:solidFill>
                  <a:schemeClr val="tx1"/>
                </a:solidFill>
              </a:rPr>
              <a:t>IP</a:t>
            </a:r>
            <a:r>
              <a:rPr lang="zh-CN" altLang="en-US" sz="1800" dirty="0">
                <a:solidFill>
                  <a:schemeClr val="tx1"/>
                </a:solidFill>
              </a:rPr>
              <a:t>集成器及第三方</a:t>
            </a:r>
            <a:r>
              <a:rPr lang="en-US" altLang="zh-CN" sz="1800" dirty="0">
                <a:solidFill>
                  <a:schemeClr val="tx1"/>
                </a:solidFill>
              </a:rPr>
              <a:t>IP</a:t>
            </a:r>
            <a:r>
              <a:rPr lang="zh-CN" altLang="en-US" sz="1800" dirty="0">
                <a:solidFill>
                  <a:schemeClr val="tx1"/>
                </a:solidFill>
              </a:rPr>
              <a:t>核；高层次综合</a:t>
            </a:r>
            <a:r>
              <a:rPr lang="en-US" altLang="zh-CN" sz="1800" dirty="0">
                <a:solidFill>
                  <a:schemeClr val="tx1"/>
                </a:solidFill>
              </a:rPr>
              <a:t>C/C++</a:t>
            </a:r>
            <a:r>
              <a:rPr lang="zh-CN" altLang="en-US" sz="1800" dirty="0">
                <a:solidFill>
                  <a:schemeClr val="tx1"/>
                </a:solidFill>
              </a:rPr>
              <a:t>语言设计输入，嵌入式集成开发</a:t>
            </a:r>
            <a:r>
              <a:rPr lang="en-US" altLang="zh-CN" sz="1800" dirty="0">
                <a:solidFill>
                  <a:schemeClr val="tx1"/>
                </a:solidFill>
              </a:rPr>
              <a:t>SDK</a:t>
            </a:r>
            <a:r>
              <a:rPr lang="zh-CN" altLang="en-US" sz="1800" dirty="0">
                <a:solidFill>
                  <a:schemeClr val="tx1"/>
                </a:solidFill>
              </a:rPr>
              <a:t>输入等。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实现：逻辑仿真；逻辑分配及物理约束；综合实现及时序分析等。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硬件编程和验证：生成比特流；</a:t>
            </a:r>
            <a:r>
              <a:rPr lang="en-US" altLang="zh-CN" sz="1800" dirty="0">
                <a:solidFill>
                  <a:schemeClr val="tx1"/>
                </a:solidFill>
              </a:rPr>
              <a:t>JTAG</a:t>
            </a:r>
            <a:r>
              <a:rPr lang="zh-CN" altLang="en-US" sz="1800" dirty="0">
                <a:solidFill>
                  <a:schemeClr val="tx1"/>
                </a:solidFill>
              </a:rPr>
              <a:t>调试测试；</a:t>
            </a:r>
            <a:r>
              <a:rPr lang="en-US" altLang="zh-CN" sz="1800" dirty="0">
                <a:solidFill>
                  <a:schemeClr val="tx1"/>
                </a:solidFill>
              </a:rPr>
              <a:t>SDK</a:t>
            </a:r>
            <a:r>
              <a:rPr lang="zh-CN" altLang="en-US" sz="1800" dirty="0">
                <a:solidFill>
                  <a:schemeClr val="tx1"/>
                </a:solidFill>
              </a:rPr>
              <a:t>导出及嵌入式</a:t>
            </a:r>
            <a:r>
              <a:rPr lang="en-US" altLang="zh-CN" sz="1800" dirty="0">
                <a:solidFill>
                  <a:schemeClr val="tx1"/>
                </a:solidFill>
              </a:rPr>
              <a:t>CPU</a:t>
            </a:r>
            <a:r>
              <a:rPr lang="zh-CN" altLang="en-US" sz="1800" dirty="0">
                <a:solidFill>
                  <a:schemeClr val="tx1"/>
                </a:solidFill>
              </a:rPr>
              <a:t>引导和测试</a:t>
            </a:r>
            <a:endParaRPr lang="zh-CN" altLang="en-US" sz="1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618" y="498364"/>
            <a:ext cx="1628775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96850"/>
            <a:ext cx="1193800" cy="447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240" y="1174763"/>
            <a:ext cx="144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系统设计输入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40" y="3420490"/>
            <a:ext cx="144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实现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6237312"/>
            <a:ext cx="169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硬件编程和验证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4646"/>
            <a:ext cx="7869560" cy="792083"/>
          </a:xfrm>
        </p:spPr>
        <p:txBody>
          <a:bodyPr/>
          <a:lstStyle/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软件启动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安装好Vivado之后，在Windows系统 Start &gt; All Programs &gt; Xilinx Design Tools &gt; Vivado&gt; Vivado ，或者桌面上找到如下图标，点击打开Vivado。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077072"/>
            <a:ext cx="1120360" cy="97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3" y="2132856"/>
            <a:ext cx="7193584" cy="39517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8844" y="282190"/>
            <a:ext cx="7869560" cy="792083"/>
          </a:xfrm>
        </p:spPr>
        <p:txBody>
          <a:bodyPr/>
          <a:lstStyle/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30833" y="1247452"/>
            <a:ext cx="8786074" cy="3816424"/>
          </a:xfrm>
        </p:spPr>
        <p:txBody>
          <a:bodyPr/>
          <a:lstStyle/>
          <a:p>
            <a:r>
              <a:rPr lang="zh-CN" altLang="en-US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启动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Vivado之后，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单击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Create New Project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127093" y="3047652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296399"/>
            <a:ext cx="4686300" cy="321945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6900"/>
            <a:ext cx="9144000" cy="49911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8844" y="271057"/>
            <a:ext cx="7869560" cy="792083"/>
          </a:xfrm>
        </p:spPr>
        <p:txBody>
          <a:bodyPr/>
          <a:lstStyle/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30833" y="1247452"/>
            <a:ext cx="8786074" cy="3816424"/>
          </a:xfrm>
        </p:spPr>
        <p:txBody>
          <a:bodyPr/>
          <a:lstStyle/>
          <a:p>
            <a:r>
              <a:rPr lang="zh-CN" altLang="en-US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单击 </a:t>
            </a:r>
            <a:r>
              <a:rPr lang="en-US" altLang="zh-CN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NEXT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4716016" y="5644229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59055" y="1557020"/>
          <a:ext cx="6301105" cy="525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6296025" imgH="5248275" progId="Paint.Picture">
                  <p:embed/>
                </p:oleObj>
              </mc:Choice>
              <mc:Fallback>
                <p:oleObj name="" r:id="rId1" imgW="6296025" imgH="524827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055" y="1557020"/>
                        <a:ext cx="6301105" cy="5252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677656" y="44348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指定工程所放路径与工程名字</a:t>
            </a:r>
            <a:endParaRPr lang="zh-CN" altLang="en-US" dirty="0"/>
          </a:p>
        </p:txBody>
      </p:sp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6588224" y="1675606"/>
            <a:ext cx="1907704" cy="422276"/>
          </a:xfrm>
          <a:prstGeom prst="wedgeRoundRectCallout">
            <a:avLst>
              <a:gd name="adj1" fmla="val -284219"/>
              <a:gd name="adj2" fmla="val 22463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工程名称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14"/>
          <p:cNvSpPr>
            <a:spLocks noChangeArrowheads="1"/>
          </p:cNvSpPr>
          <p:nvPr/>
        </p:nvSpPr>
        <p:spPr bwMode="auto">
          <a:xfrm>
            <a:off x="6732240" y="2839760"/>
            <a:ext cx="1907704" cy="422276"/>
          </a:xfrm>
          <a:prstGeom prst="wedgeRoundRectCallout">
            <a:avLst>
              <a:gd name="adj1" fmla="val -229826"/>
              <a:gd name="adj2" fmla="val 1531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工程存放位置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6732240" y="3810124"/>
            <a:ext cx="1907704" cy="626988"/>
          </a:xfrm>
          <a:prstGeom prst="wedgeRoundRectCallout">
            <a:avLst>
              <a:gd name="adj1" fmla="val -296916"/>
              <a:gd name="adj2" fmla="val -9544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是否建立与工程名称同名的子目录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58856" y="203079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4" name="内容占位符 3"/>
          <p:cNvSpPr>
            <a:spLocks noGrp="1"/>
          </p:cNvSpPr>
          <p:nvPr>
            <p:ph idx="1"/>
          </p:nvPr>
        </p:nvSpPr>
        <p:spPr>
          <a:xfrm>
            <a:off x="58856" y="1067403"/>
            <a:ext cx="8786074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创建名为 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Water_LED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的工程到对应的文件目录，之后单击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NEXT</a:t>
            </a:r>
            <a:endParaRPr lang="zh-CN" altLang="en-US" sz="2000" dirty="0"/>
          </a:p>
        </p:txBody>
      </p:sp>
      <p:sp>
        <p:nvSpPr>
          <p:cNvPr id="15" name="椭圆 14"/>
          <p:cNvSpPr/>
          <p:nvPr/>
        </p:nvSpPr>
        <p:spPr>
          <a:xfrm>
            <a:off x="3707904" y="6460120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6" y="1942219"/>
            <a:ext cx="5915025" cy="473392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74886" y="176127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4" name="内容占位符 3"/>
          <p:cNvSpPr>
            <a:spLocks noGrp="1"/>
          </p:cNvSpPr>
          <p:nvPr>
            <p:ph idx="1"/>
          </p:nvPr>
        </p:nvSpPr>
        <p:spPr>
          <a:xfrm>
            <a:off x="58856" y="1067403"/>
            <a:ext cx="8786074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选择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RTL Project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，此时把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Do not specify at this time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勾上，表示在新建工程时不去指定源文件。{RTL：寄存器转换级电路（Register Transfer Level）}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398625" y="6237312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6732240" y="2553339"/>
            <a:ext cx="1907704" cy="422276"/>
          </a:xfrm>
          <a:prstGeom prst="wedgeRoundRectCallout">
            <a:avLst>
              <a:gd name="adj1" fmla="val -228990"/>
              <a:gd name="adj2" fmla="val 12293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RTL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工程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6732240" y="3460110"/>
            <a:ext cx="1907704" cy="422276"/>
          </a:xfrm>
          <a:prstGeom prst="wedgeRoundRectCallout">
            <a:avLst>
              <a:gd name="adj1" fmla="val -222903"/>
              <a:gd name="adj2" fmla="val 7824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综合后工程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6732240" y="4461551"/>
            <a:ext cx="1907704" cy="422276"/>
          </a:xfrm>
          <a:prstGeom prst="wedgeRoundRectCallout">
            <a:avLst>
              <a:gd name="adj1" fmla="val -221357"/>
              <a:gd name="adj2" fmla="val 3170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引脚约束工程工程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6732240" y="5283508"/>
            <a:ext cx="1907704" cy="422276"/>
          </a:xfrm>
          <a:prstGeom prst="wedgeRoundRectCallout">
            <a:avLst>
              <a:gd name="adj1" fmla="val -245217"/>
              <a:gd name="adj2" fmla="val -323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导入现有工程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utoShape 14"/>
          <p:cNvSpPr>
            <a:spLocks noChangeArrowheads="1"/>
          </p:cNvSpPr>
          <p:nvPr/>
        </p:nvSpPr>
        <p:spPr bwMode="auto">
          <a:xfrm>
            <a:off x="6707869" y="5996838"/>
            <a:ext cx="1907704" cy="422276"/>
          </a:xfrm>
          <a:prstGeom prst="wedgeRoundRectCallout">
            <a:avLst>
              <a:gd name="adj1" fmla="val -239692"/>
              <a:gd name="adj2" fmla="val -9642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示例工程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381" y="1844824"/>
            <a:ext cx="7084049" cy="4995268"/>
          </a:xfrm>
          <a:prstGeom prst="rect">
            <a:avLst/>
          </a:prstGeom>
        </p:spPr>
      </p:pic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7243359" y="1988259"/>
            <a:ext cx="1820031" cy="422276"/>
          </a:xfrm>
          <a:prstGeom prst="wedgeRoundRectCallout">
            <a:avLst>
              <a:gd name="adj1" fmla="val -390964"/>
              <a:gd name="adj2" fmla="val 17987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FPGA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芯片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7142905" y="2627589"/>
            <a:ext cx="1907704" cy="422276"/>
          </a:xfrm>
          <a:prstGeom prst="wedgeRoundRectCallout">
            <a:avLst>
              <a:gd name="adj1" fmla="val -323173"/>
              <a:gd name="adj2" fmla="val 6948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FPGA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开发板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14"/>
          <p:cNvSpPr>
            <a:spLocks noChangeArrowheads="1"/>
          </p:cNvSpPr>
          <p:nvPr/>
        </p:nvSpPr>
        <p:spPr bwMode="auto">
          <a:xfrm>
            <a:off x="7155687" y="3373163"/>
            <a:ext cx="1907704" cy="597557"/>
          </a:xfrm>
          <a:prstGeom prst="wedgeRoundRectCallout">
            <a:avLst>
              <a:gd name="adj1" fmla="val -265266"/>
              <a:gd name="adj2" fmla="val 3261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FPGA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芯片筛选选项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7055493" y="4444139"/>
            <a:ext cx="1907704" cy="422276"/>
          </a:xfrm>
          <a:prstGeom prst="wedgeRoundRectCallout">
            <a:avLst>
              <a:gd name="adj1" fmla="val -286209"/>
              <a:gd name="adj2" fmla="val -1620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FPGA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芯片搜索栏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7096554" y="5377373"/>
            <a:ext cx="1907704" cy="422276"/>
          </a:xfrm>
          <a:prstGeom prst="wedgeRoundRectCallout">
            <a:avLst>
              <a:gd name="adj1" fmla="val -166608"/>
              <a:gd name="adj2" fmla="val -3089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FPGA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芯片选项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 bwMode="auto">
          <a:xfrm>
            <a:off x="25933" y="16651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8" name="内容占位符 3"/>
          <p:cNvSpPr>
            <a:spLocks noGrp="1"/>
          </p:cNvSpPr>
          <p:nvPr>
            <p:ph idx="1"/>
          </p:nvPr>
        </p:nvSpPr>
        <p:spPr>
          <a:xfrm>
            <a:off x="58856" y="1067403"/>
            <a:ext cx="8958222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选择器件或者板卡。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Parts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表示器件，当然如果是板卡就点击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Boards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。器件可以根据系列去选，也可以直接在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Search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栏搜索器件型号。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1379" y="5804025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Family: Kintex7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125231" y="5792193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Device: XC7K160T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177578" y="5804025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Package: FFG676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151398" y="5815857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Speed: </a:t>
            </a:r>
            <a:endParaRPr lang="en-US" altLang="zh-CN" dirty="0"/>
          </a:p>
          <a:p>
            <a:r>
              <a:rPr lang="en-US" altLang="zh-CN" dirty="0"/>
              <a:t>-2L</a:t>
            </a:r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4251983" y="6445443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76" y="1556792"/>
            <a:ext cx="9144000" cy="466640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79712" y="3624105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Family: Kintex7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816223" y="3622245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Device: XC7K160T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979711" y="4628194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Package: FFG676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792498" y="4628193"/>
            <a:ext cx="126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Speed: </a:t>
            </a:r>
            <a:endParaRPr lang="en-US" altLang="zh-CN" dirty="0"/>
          </a:p>
          <a:p>
            <a:r>
              <a:rPr lang="en-US" altLang="zh-CN" dirty="0"/>
              <a:t>-2L</a:t>
            </a:r>
            <a:endParaRPr lang="zh-CN" altLang="en-US" dirty="0"/>
          </a:p>
        </p:txBody>
      </p:sp>
      <p:sp>
        <p:nvSpPr>
          <p:cNvPr id="10" name="标题 1"/>
          <p:cNvSpPr txBox="1"/>
          <p:nvPr/>
        </p:nvSpPr>
        <p:spPr bwMode="auto">
          <a:xfrm>
            <a:off x="28876" y="15762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3" name="内容占位符 3"/>
          <p:cNvSpPr>
            <a:spLocks noGrp="1"/>
          </p:cNvSpPr>
          <p:nvPr>
            <p:ph idx="1"/>
          </p:nvPr>
        </p:nvSpPr>
        <p:spPr>
          <a:xfrm>
            <a:off x="170054" y="1134936"/>
            <a:ext cx="8958222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创建基于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XC7K160TFFG-2L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的工程，点击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Finish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结束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580112" y="5860799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" y="1484784"/>
            <a:ext cx="9144000" cy="4819650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31221" y="1892424"/>
            <a:ext cx="1132482" cy="439248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-46508" y="5786842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工作流窗口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206027" y="1880232"/>
            <a:ext cx="1800200" cy="15879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550589" y="3017025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源文件窗口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206027" y="3497272"/>
            <a:ext cx="1800200" cy="15879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61024" y="4326201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属性窗口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175203" y="1951337"/>
            <a:ext cx="5958408" cy="298895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336704" y="2276900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工作区窗口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252230" y="5112433"/>
            <a:ext cx="7902112" cy="93133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888432" y="5612821"/>
            <a:ext cx="144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脚本流程窗口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9" name="标题 1"/>
          <p:cNvSpPr txBox="1"/>
          <p:nvPr/>
        </p:nvSpPr>
        <p:spPr bwMode="auto">
          <a:xfrm>
            <a:off x="31221" y="16602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23" name="内容占位符 3"/>
          <p:cNvSpPr>
            <a:spLocks noGrp="1"/>
          </p:cNvSpPr>
          <p:nvPr>
            <p:ph idx="1"/>
          </p:nvPr>
        </p:nvSpPr>
        <p:spPr>
          <a:xfrm>
            <a:off x="75595" y="1119701"/>
            <a:ext cx="10182358" cy="3816424"/>
          </a:xfrm>
        </p:spPr>
        <p:txBody>
          <a:bodyPr/>
          <a:lstStyle/>
          <a:p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Vivado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操作界面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3466" y="2161484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工程设置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6814" y="2333257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添加代码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8805" y="2619732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800" b="0" i="0" dirty="0">
                <a:solidFill>
                  <a:srgbClr val="FF0000"/>
                </a:solidFill>
                <a:effectLst/>
                <a:latin typeface="-apple-system"/>
              </a:rPr>
              <a:t>IP</a:t>
            </a:r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核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8249" y="3068403"/>
            <a:ext cx="9292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创建硬件原理图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7048" y="3560931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仿真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08606" y="3932980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800" b="0" i="0" dirty="0">
                <a:solidFill>
                  <a:srgbClr val="FF0000"/>
                </a:solidFill>
                <a:effectLst/>
                <a:latin typeface="-apple-system"/>
              </a:rPr>
              <a:t>RTL</a:t>
            </a:r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分析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57454" y="4333606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综合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92750" y="4781028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实现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00499" y="5355106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生成比特流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8606" y="5674376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连接硬件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08334" y="2416616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设计文件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96000" y="2524125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约束文件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3666" y="2631847"/>
            <a:ext cx="694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800" b="0" i="0" dirty="0">
                <a:solidFill>
                  <a:srgbClr val="FF0000"/>
                </a:solidFill>
                <a:effectLst/>
                <a:latin typeface="-apple-system"/>
              </a:rPr>
              <a:t>仿真文件</a:t>
            </a:r>
            <a:endParaRPr lang="en-US" altLang="zh-CN" sz="8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33915" y="2484623"/>
            <a:ext cx="219945" cy="28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961359" y="2762079"/>
            <a:ext cx="219945" cy="28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838714" y="2609038"/>
            <a:ext cx="219945" cy="28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65388" y="1603792"/>
            <a:ext cx="5191196" cy="2473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863545" y="1553870"/>
            <a:ext cx="2154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菜单栏和快捷键窗口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6543"/>
            <a:ext cx="9144000" cy="481965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8735" y="2429924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954571" y="1576543"/>
            <a:ext cx="2878152" cy="804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/>
        </p:nvSpPr>
        <p:spPr>
          <a:xfrm>
            <a:off x="-5291" y="1984183"/>
            <a:ext cx="1132482" cy="439248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-69489" y="5466890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工作流窗口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169515" y="1971991"/>
            <a:ext cx="1800200" cy="15879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540868" y="2894760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源文件窗口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169515" y="3589031"/>
            <a:ext cx="1800200" cy="15879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24512" y="4417960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属性窗口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138691" y="2043096"/>
            <a:ext cx="5958408" cy="298895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300192" y="2368659"/>
            <a:ext cx="1237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工作区窗口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215718" y="5204192"/>
            <a:ext cx="7902112" cy="93133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779912" y="5514789"/>
            <a:ext cx="144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脚本流程窗口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9" name="标题 1"/>
          <p:cNvSpPr txBox="1"/>
          <p:nvPr/>
        </p:nvSpPr>
        <p:spPr bwMode="auto">
          <a:xfrm>
            <a:off x="8735" y="199047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23" name="内容占位符 3"/>
          <p:cNvSpPr>
            <a:spLocks noGrp="1"/>
          </p:cNvSpPr>
          <p:nvPr>
            <p:ph idx="1"/>
          </p:nvPr>
        </p:nvSpPr>
        <p:spPr>
          <a:xfrm>
            <a:off x="128893" y="1196752"/>
            <a:ext cx="10182358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新建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Verilog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文件：在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Flow Navigator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界下点击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Add Sources.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17" y="1413349"/>
            <a:ext cx="8039100" cy="545782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1690036" y="2835779"/>
            <a:ext cx="1998477" cy="2776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5560721" y="2413503"/>
            <a:ext cx="1907704" cy="422276"/>
          </a:xfrm>
          <a:prstGeom prst="wedgeRoundRectCallout">
            <a:avLst>
              <a:gd name="adj1" fmla="val -161824"/>
              <a:gd name="adj2" fmla="val 1838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创建约束文件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5560721" y="3704995"/>
            <a:ext cx="2125779" cy="422276"/>
          </a:xfrm>
          <a:prstGeom prst="wedgeRoundRectCallout">
            <a:avLst>
              <a:gd name="adj1" fmla="val -160045"/>
              <a:gd name="adj2" fmla="val -20031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创建设计源文件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14"/>
          <p:cNvSpPr>
            <a:spLocks noChangeArrowheads="1"/>
          </p:cNvSpPr>
          <p:nvPr/>
        </p:nvSpPr>
        <p:spPr bwMode="auto">
          <a:xfrm>
            <a:off x="331727" y="3751997"/>
            <a:ext cx="1651580" cy="582518"/>
          </a:xfrm>
          <a:prstGeom prst="wedgeRoundRectCallout">
            <a:avLst>
              <a:gd name="adj1" fmla="val 115336"/>
              <a:gd name="adj2" fmla="val -10593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创建仿真激励文件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/>
          <p:nvPr/>
        </p:nvSpPr>
        <p:spPr bwMode="auto">
          <a:xfrm>
            <a:off x="52617" y="18056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3" name="内容占位符 3"/>
          <p:cNvSpPr>
            <a:spLocks noGrp="1"/>
          </p:cNvSpPr>
          <p:nvPr>
            <p:ph idx="1"/>
          </p:nvPr>
        </p:nvSpPr>
        <p:spPr>
          <a:xfrm>
            <a:off x="52617" y="1052736"/>
            <a:ext cx="8191791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选择单击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Add or Create Design Sources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然后单击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NEXT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43796" y="6418917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0650"/>
            <a:ext cx="8048625" cy="546735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788024" y="4941168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42392" y="3584637"/>
            <a:ext cx="1907704" cy="422276"/>
          </a:xfrm>
          <a:prstGeom prst="wedgeRoundRectCallout">
            <a:avLst>
              <a:gd name="adj1" fmla="val 117851"/>
              <a:gd name="adj2" fmla="val 26007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添加已有文件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3364511" y="3299070"/>
            <a:ext cx="1907704" cy="422276"/>
          </a:xfrm>
          <a:prstGeom prst="wedgeRoundRectCallout">
            <a:avLst>
              <a:gd name="adj1" fmla="val -10531"/>
              <a:gd name="adj2" fmla="val 29696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添加已有工程目录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14"/>
          <p:cNvSpPr>
            <a:spLocks noChangeArrowheads="1"/>
          </p:cNvSpPr>
          <p:nvPr/>
        </p:nvSpPr>
        <p:spPr bwMode="auto">
          <a:xfrm>
            <a:off x="6752481" y="3702049"/>
            <a:ext cx="1907704" cy="422276"/>
          </a:xfrm>
          <a:prstGeom prst="wedgeRoundRectCallout">
            <a:avLst>
              <a:gd name="adj1" fmla="val -101038"/>
              <a:gd name="adj2" fmla="val 25285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/>
          <p:nvPr/>
        </p:nvSpPr>
        <p:spPr bwMode="auto">
          <a:xfrm>
            <a:off x="6438" y="17760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3" name="内容占位符 3"/>
          <p:cNvSpPr>
            <a:spLocks noGrp="1"/>
          </p:cNvSpPr>
          <p:nvPr>
            <p:ph idx="1"/>
          </p:nvPr>
        </p:nvSpPr>
        <p:spPr>
          <a:xfrm>
            <a:off x="50119" y="1068192"/>
            <a:ext cx="10182358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Create File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来创建文件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327150"/>
            <a:ext cx="8067675" cy="5394325"/>
          </a:xfrm>
          <a:prstGeom prst="rect">
            <a:avLst/>
          </a:prstGeom>
        </p:spPr>
      </p:pic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487039" y="3006724"/>
            <a:ext cx="1907704" cy="422276"/>
          </a:xfrm>
          <a:prstGeom prst="wedgeRoundRectCallout">
            <a:avLst>
              <a:gd name="adj1" fmla="val 121845"/>
              <a:gd name="adj2" fmla="val 15180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文件类型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14"/>
          <p:cNvSpPr>
            <a:spLocks noChangeArrowheads="1"/>
          </p:cNvSpPr>
          <p:nvPr/>
        </p:nvSpPr>
        <p:spPr bwMode="auto">
          <a:xfrm>
            <a:off x="6131396" y="3497788"/>
            <a:ext cx="1907704" cy="422276"/>
          </a:xfrm>
          <a:prstGeom prst="wedgeRoundRectCallout">
            <a:avLst>
              <a:gd name="adj1" fmla="val -128999"/>
              <a:gd name="adj2" fmla="val 12112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文件名称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67544" y="4869160"/>
            <a:ext cx="1907704" cy="422276"/>
          </a:xfrm>
          <a:prstGeom prst="wedgeRoundRectCallout">
            <a:avLst>
              <a:gd name="adj1" fmla="val 129834"/>
              <a:gd name="adj2" fmla="val -9180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文件保存路径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28876" y="179398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10182358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指定文件名与路径，文件类型（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File type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）选择为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Verilog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362075"/>
            <a:ext cx="8039100" cy="549592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94692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10182358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添加完成后如下图所示之后单击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finish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完成文件的创建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012160" y="6381328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1916832"/>
            <a:ext cx="5886450" cy="421005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0" y="17038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-111830" y="1124744"/>
            <a:ext cx="936766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继续弹出的对话空中，可以设置一些端口，但是我们现在直接单击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120055" y="5733256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67544" y="2821818"/>
            <a:ext cx="864096" cy="422276"/>
          </a:xfrm>
          <a:prstGeom prst="wedgeRoundRectCallout">
            <a:avLst>
              <a:gd name="adj1" fmla="val 273523"/>
              <a:gd name="adj2" fmla="val 14097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模块名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467544" y="3658582"/>
            <a:ext cx="864096" cy="422276"/>
          </a:xfrm>
          <a:prstGeom prst="wedgeRoundRectCallout">
            <a:avLst>
              <a:gd name="adj1" fmla="val 120111"/>
              <a:gd name="adj2" fmla="val 20419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端口名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469245" y="5102496"/>
            <a:ext cx="792088" cy="576063"/>
          </a:xfrm>
          <a:prstGeom prst="wedgeRoundRectCallout">
            <a:avLst>
              <a:gd name="adj1" fmla="val 206141"/>
              <a:gd name="adj2" fmla="val -822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端口方向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85" y="2637155"/>
            <a:ext cx="575310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988820"/>
            <a:ext cx="5753100" cy="415290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0" y="17038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-111830" y="1124744"/>
            <a:ext cx="936766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继续弹出的对话空中，可以设置一些端口，但是我们现在直接单击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120055" y="5733256"/>
            <a:ext cx="100811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67544" y="2821818"/>
            <a:ext cx="864096" cy="422276"/>
          </a:xfrm>
          <a:prstGeom prst="wedgeRoundRectCallout">
            <a:avLst>
              <a:gd name="adj1" fmla="val 273523"/>
              <a:gd name="adj2" fmla="val 14097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模块名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467544" y="3658582"/>
            <a:ext cx="864096" cy="422276"/>
          </a:xfrm>
          <a:prstGeom prst="wedgeRoundRectCallout">
            <a:avLst>
              <a:gd name="adj1" fmla="val 120111"/>
              <a:gd name="adj2" fmla="val 20419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端口名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469245" y="5102496"/>
            <a:ext cx="792088" cy="576063"/>
          </a:xfrm>
          <a:prstGeom prst="wedgeRoundRectCallout">
            <a:avLst>
              <a:gd name="adj1" fmla="val 206141"/>
              <a:gd name="adj2" fmla="val -822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端口方向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772285"/>
            <a:ext cx="8851900" cy="498729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68027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创建完成后可以看到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Design Sources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文件夹中有了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lamp_control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这个文件，这个文件就是我们可以编写 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verilog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程序的文件。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67360" y="2924810"/>
            <a:ext cx="1008380" cy="2012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139436" y="2204770"/>
            <a:ext cx="864096" cy="560413"/>
          </a:xfrm>
          <a:prstGeom prst="wedgeRoundRectCallout">
            <a:avLst>
              <a:gd name="adj1" fmla="val -313346"/>
              <a:gd name="adj2" fmla="val 10325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创建的源文件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870710"/>
            <a:ext cx="8851900" cy="498729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8085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双击刚刚创建的源文件，打开流水程序源码如下，可以看出这是一个空的工程，我们现在要添加代码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(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没有录入输入输出端口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是一个空白程序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)</a:t>
            </a:r>
            <a:br>
              <a:rPr lang="zh-CN" altLang="en-US" sz="1200" dirty="0"/>
            </a:b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39552" y="3068960"/>
            <a:ext cx="1008112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499992" y="4389215"/>
            <a:ext cx="864096" cy="560413"/>
          </a:xfrm>
          <a:prstGeom prst="wedgeRoundRectCallout">
            <a:avLst>
              <a:gd name="adj1" fmla="val -90679"/>
              <a:gd name="adj2" fmla="val 11004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创建的源文件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915795"/>
            <a:ext cx="8547100" cy="431609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8085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双击刚刚创建的源文件，打开流水程序源码如下，可以看出这是一个空的工程，我们现在要添加代码</a:t>
            </a:r>
            <a: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(录入输入输出端口，产生</a:t>
            </a:r>
            <a:r>
              <a:rPr lang="en-US" altLang="zh-CN" sz="20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verilog</a:t>
            </a:r>
            <a: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头文件</a:t>
            </a:r>
            <a: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)</a:t>
            </a:r>
            <a:b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</a:br>
            <a:br>
              <a:rPr lang="zh-CN" altLang="en-US" sz="1200" dirty="0"/>
            </a:b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39552" y="3068960"/>
            <a:ext cx="1008112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4499992" y="4389215"/>
            <a:ext cx="864096" cy="560413"/>
          </a:xfrm>
          <a:prstGeom prst="wedgeRoundRectCallout">
            <a:avLst>
              <a:gd name="adj1" fmla="val -90679"/>
              <a:gd name="adj2" fmla="val 11004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创建的源文件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772285"/>
            <a:ext cx="8416290" cy="485584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8329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Sources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窗口中有多个程序，如何将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lamp_control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设为顶层模块？右击</a:t>
            </a:r>
            <a:r>
              <a:rPr lang="en-US" altLang="zh-CN" sz="20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lamp_control</a:t>
            </a:r>
            <a: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，对话窗口中选择</a:t>
            </a:r>
            <a:r>
              <a:rPr lang="en-US" altLang="zh-CN" sz="20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“Set as Top” 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1550" y="5589270"/>
            <a:ext cx="1008380" cy="240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5652264" y="3716987"/>
            <a:ext cx="864096" cy="560413"/>
          </a:xfrm>
          <a:prstGeom prst="wedgeRoundRectCallout">
            <a:avLst>
              <a:gd name="adj1" fmla="val -90679"/>
              <a:gd name="adj2" fmla="val 11004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添加的源文件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779905"/>
            <a:ext cx="8568690" cy="494157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8329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工程创建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双击刚刚创建的源文件，打开流水程序源码如下，可以看出这是一个空的工程，我们现在要添加代码</a:t>
            </a:r>
            <a:br>
              <a:rPr lang="zh-CN" altLang="en-US" sz="1200" dirty="0"/>
            </a:b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39750" y="2709545"/>
            <a:ext cx="1008380" cy="187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5652264" y="3716987"/>
            <a:ext cx="864096" cy="560413"/>
          </a:xfrm>
          <a:prstGeom prst="wedgeRoundRectCallout">
            <a:avLst>
              <a:gd name="adj1" fmla="val -90679"/>
              <a:gd name="adj2" fmla="val 11004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添加的源文件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145" y="131445"/>
            <a:ext cx="7549515" cy="742950"/>
          </a:xfrm>
        </p:spPr>
        <p:txBody>
          <a:bodyPr/>
          <a:p>
            <a:r>
              <a:rPr lang="zh-CN" altLang="en-US">
                <a:sym typeface="+mn-ea"/>
              </a:rPr>
              <a:t>模拟代码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695" y="875030"/>
            <a:ext cx="4704080" cy="5982970"/>
          </a:xfrm>
        </p:spPr>
        <p:txBody>
          <a:bodyPr/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module lamp_control(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input clk,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input S1,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input S2,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input S3,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output F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);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en-US" altLang="zh-CN" sz="2000" b="0">
                <a:solidFill>
                  <a:schemeClr val="tx1"/>
                </a:solidFill>
                <a:latin typeface="+mn-lt"/>
                <a:ea typeface="+mn-ea"/>
              </a:rPr>
              <a:t>        </a:t>
            </a: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parameter C_NUM =</a:t>
            </a:r>
            <a:r>
              <a:rPr lang="zh-CN" altLang="en-US" sz="2000" b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 8;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parameter C_MAX =</a:t>
            </a:r>
            <a:r>
              <a:rPr lang="zh-CN" altLang="en-US" sz="2000" b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 8'hFF</a:t>
            </a: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;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reg [C_NUM-1:0] count;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wire [C_NUM-1:0] c_next;	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initial begin	//初始化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   	count = C_MAX;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end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assign w=S1^S2^S3; </a:t>
            </a:r>
            <a:endParaRPr lang="zh-CN" altLang="en-US" sz="2000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957445" y="1046480"/>
            <a:ext cx="3441700" cy="521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 sz="2400">
                <a:sym typeface="+mn-ea"/>
              </a:rPr>
              <a:t> </a:t>
            </a:r>
            <a:r>
              <a:rPr lang="zh-CN" altLang="en-US">
                <a:sym typeface="+mn-ea"/>
              </a:rPr>
              <a:t>assign F = ((count &lt; C_MAX) ? 1'b1 : 1'b0);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always@(posedge clk)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begin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	if(w == 1'b1)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		count = 0;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	else if(count &lt; C_MAX)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		count = c_next;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end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	assign c_next = count + 1'b1;	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algn="l" defTabSz="914400" eaLnBrk="1" fontAlgn="auto" hangingPunct="1">
              <a:buClrTx/>
              <a:buSzTx/>
              <a:buNone/>
            </a:pPr>
            <a:r>
              <a:rPr lang="zh-CN" altLang="en-US">
                <a:sym typeface="+mn-ea"/>
              </a:rPr>
              <a:t>endmodule</a:t>
            </a:r>
            <a:endParaRPr lang="zh-CN" altLang="en-US" b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        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51761" y="4452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sz="2800">
                <a:solidFill>
                  <a:srgbClr val="002060"/>
                </a:solidFill>
                <a:latin typeface="Arial" panose="020B0604020202020204" pitchFamily="34" charset="0"/>
                <a:ea typeface="-apple-system"/>
                <a:sym typeface="+mn-ea"/>
              </a:rPr>
              <a:t>下载</a:t>
            </a:r>
            <a:r>
              <a:rPr lang="en-US" altLang="zh-CN" sz="2800">
                <a:solidFill>
                  <a:srgbClr val="002060"/>
                </a:solidFill>
                <a:latin typeface="Arial" panose="020B0604020202020204" pitchFamily="34" charset="0"/>
                <a:ea typeface="-apple-system"/>
                <a:sym typeface="+mn-ea"/>
              </a:rPr>
              <a:t>Verilog</a:t>
            </a:r>
            <a:r>
              <a:rPr sz="280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</a:t>
            </a:r>
            <a:endParaRPr lang="zh-CN" altLang="en-US" sz="2800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575" y="1052830"/>
            <a:ext cx="5260340" cy="5680075"/>
          </a:xfrm>
        </p:spPr>
        <p:txBody>
          <a:bodyPr/>
          <a:lstStyle/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lamp_control(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clk,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S1,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S2,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S3,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output F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);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parameter C_NUM = </a:t>
            </a:r>
            <a:r>
              <a:rPr sz="2400" b="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28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parameter C_MAX = </a:t>
            </a:r>
            <a:r>
              <a:rPr sz="2400" b="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28'hFFFF_FFF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reg [C_NUM-1:0] count;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wire [C_NUM-1:0] c_next;	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initial begin	//初始化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	count = C_MAX;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end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18685" y="1236345"/>
            <a:ext cx="4354195" cy="505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assign w=S1^S2^S3; 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assign F = ((count &lt; C_MAX) ? 1'b1 : 1'b0);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always@(posedge clk)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begin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if(w == 1'b1)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	count = 0;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else if(count &lt; C_MAX)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	count = c_next;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end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assign c_next = count + 1'b1;	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endmodule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41402" y="1914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综合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1901798" y="1052736"/>
            <a:ext cx="7271078" cy="3816424"/>
          </a:xfrm>
        </p:spPr>
        <p:txBody>
          <a:bodyPr/>
          <a:lstStyle/>
          <a:p>
            <a:pPr algn="just"/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点击工作流窗口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SYNTHISIS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Run Synthesis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，弹出综合对象路径及运行线程数设置窗口，采用默认设置，直接点击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OK,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综合完成后弹出成功窗口，可以继续进行实现步骤，或者打开综合后的原理图设计以及查看综合报告，这里选择打开综合设计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" y="1801872"/>
            <a:ext cx="2286000" cy="104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3317746" cy="2667878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179512" y="2054957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971600" y="566547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r="4034"/>
          <a:stretch>
            <a:fillRect/>
          </a:stretch>
        </p:blipFill>
        <p:spPr>
          <a:xfrm>
            <a:off x="3438342" y="2999487"/>
            <a:ext cx="5611606" cy="3266382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6858076" y="422108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145" y="131445"/>
            <a:ext cx="7549515" cy="742950"/>
          </a:xfrm>
        </p:spPr>
        <p:txBody>
          <a:bodyPr/>
          <a:p>
            <a:r>
              <a:rPr lang="zh-CN" altLang="en-US">
                <a:sym typeface="+mn-ea"/>
              </a:rPr>
              <a:t>模拟下载时间说明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4510" y="1057910"/>
            <a:ext cx="6497955" cy="5340350"/>
          </a:xfrm>
        </p:spPr>
        <p:txBody>
          <a:bodyPr/>
          <a:p>
            <a:pPr marL="0" algn="l" defTabSz="914400" eaLnBrk="1" fontAlgn="auto" hangingPunct="1">
              <a:buClrTx/>
              <a:buSzTx/>
              <a:buNone/>
            </a:pPr>
            <a:r>
              <a:rPr lang="en-US" altLang="zh-CN" sz="2000" dirty="0">
                <a:sym typeface="+mn-ea"/>
              </a:rPr>
              <a:t>   3.</a:t>
            </a:r>
            <a:r>
              <a:rPr lang="zh-CN" altLang="en-US" sz="2000" dirty="0">
                <a:sym typeface="+mn-ea"/>
              </a:rPr>
              <a:t>下载延时时间</a:t>
            </a:r>
            <a:endParaRPr lang="en-US" altLang="zh-CN" sz="2000" dirty="0"/>
          </a:p>
          <a:p>
            <a:pPr marL="365760" lvl="1" indent="0">
              <a:lnSpc>
                <a:spcPct val="110000"/>
              </a:lnSpc>
              <a:buClrTx/>
              <a:buNone/>
            </a:pPr>
            <a:endParaRPr lang="en-US" altLang="zh-CN" sz="2000" dirty="0"/>
          </a:p>
          <a:p>
            <a:pPr marL="365760" lvl="1" indent="0">
              <a:lnSpc>
                <a:spcPct val="110000"/>
              </a:lnSpc>
              <a:buClrTx/>
              <a:buNone/>
            </a:pPr>
            <a:endParaRPr lang="zh-CN" altLang="en-US" sz="2000" dirty="0">
              <a:sym typeface="+mn-ea"/>
            </a:endParaRPr>
          </a:p>
          <a:p>
            <a:pPr marL="365760" lvl="1" indent="0">
              <a:lnSpc>
                <a:spcPct val="110000"/>
              </a:lnSpc>
              <a:buClrTx/>
              <a:buNone/>
            </a:pPr>
            <a:endParaRPr lang="zh-CN" altLang="en-US" sz="2000" dirty="0">
              <a:sym typeface="+mn-ea"/>
            </a:endParaRPr>
          </a:p>
          <a:p>
            <a:pPr marL="365760" lvl="1" indent="0">
              <a:lnSpc>
                <a:spcPct val="110000"/>
              </a:lnSpc>
              <a:buClrTx/>
              <a:buNone/>
            </a:pPr>
            <a:r>
              <a:rPr lang="en-US" altLang="zh-CN" sz="2000" b="1" dirty="0">
                <a:solidFill>
                  <a:srgbClr val="002060"/>
                </a:solidFill>
                <a:sym typeface="+mn-ea"/>
              </a:rPr>
              <a:t>4.</a:t>
            </a:r>
            <a:r>
              <a:rPr lang="zh-CN" altLang="en-US" sz="2000" b="1" dirty="0">
                <a:solidFill>
                  <a:srgbClr val="002060"/>
                </a:solidFill>
                <a:sym typeface="+mn-ea"/>
              </a:rPr>
              <a:t>仿真延时时间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pPr marL="365760" lvl="1" indent="0">
              <a:lnSpc>
                <a:spcPct val="110000"/>
              </a:lnSpc>
              <a:buClrTx/>
              <a:buNone/>
            </a:pPr>
            <a:r>
              <a:rPr lang="en-US" altLang="zh-CN" sz="2000" dirty="0">
                <a:sym typeface="+mn-ea"/>
              </a:rPr>
              <a:t> </a:t>
            </a:r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99716" y="1629089"/>
          <a:ext cx="4279598" cy="900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公式" r:id="rId1" imgW="46329600" imgH="9753600" progId="Equation.3">
                  <p:embed/>
                </p:oleObj>
              </mc:Choice>
              <mc:Fallback>
                <p:oleObj name="公式" r:id="rId1" imgW="46329600" imgH="9753600" progId="Equation.3">
                  <p:embed/>
                  <p:pic>
                    <p:nvPicPr>
                      <p:cNvPr id="0" name="图片 11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9716" y="1629089"/>
                        <a:ext cx="4279598" cy="900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99974" y="3356640"/>
          <a:ext cx="47863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公式" r:id="rId3" imgW="51816000" imgH="5486400" progId="Equation.3">
                  <p:embed/>
                </p:oleObj>
              </mc:Choice>
              <mc:Fallback>
                <p:oleObj name="公式" r:id="rId3" imgW="51816000" imgH="54864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974" y="3356640"/>
                        <a:ext cx="47863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412240"/>
            <a:ext cx="8136890" cy="5211445"/>
          </a:xfrm>
          <a:prstGeom prst="rect">
            <a:avLst/>
          </a:prstGeom>
        </p:spPr>
      </p:pic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5076056" y="1844824"/>
            <a:ext cx="1152128" cy="792088"/>
          </a:xfrm>
          <a:prstGeom prst="wedgeRoundRectCallout">
            <a:avLst>
              <a:gd name="adj1" fmla="val -182833"/>
              <a:gd name="adj2" fmla="val 14538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添加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创建仿真文件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28876" y="15951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7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Add Source,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添加仿真文件</a:t>
            </a:r>
            <a:br>
              <a:rPr lang="zh-CN" altLang="en-US" sz="1200" dirty="0"/>
            </a:b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8280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选择仿真文件保存路径，创建新文件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76" y="1373460"/>
            <a:ext cx="8001000" cy="5457825"/>
          </a:xfrm>
          <a:prstGeom prst="rect">
            <a:avLst/>
          </a:prstGeom>
        </p:spPr>
      </p:pic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4384852" y="2305322"/>
            <a:ext cx="1152128" cy="796330"/>
          </a:xfrm>
          <a:prstGeom prst="wedgeRoundRectCallout">
            <a:avLst>
              <a:gd name="adj1" fmla="val -204217"/>
              <a:gd name="adj2" fmla="val 248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仿真文件存储路径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14"/>
          <p:cNvSpPr>
            <a:spLocks noChangeArrowheads="1"/>
          </p:cNvSpPr>
          <p:nvPr/>
        </p:nvSpPr>
        <p:spPr bwMode="auto">
          <a:xfrm>
            <a:off x="6113044" y="3306012"/>
            <a:ext cx="1152128" cy="443712"/>
          </a:xfrm>
          <a:prstGeom prst="wedgeRoundRectCallout">
            <a:avLst>
              <a:gd name="adj1" fmla="val -121544"/>
              <a:gd name="adj2" fmla="val 25352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创建文件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412240"/>
            <a:ext cx="8150225" cy="534733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61490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创建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Water_LED_tb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新文件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6300192" y="2780928"/>
            <a:ext cx="1152128" cy="796330"/>
          </a:xfrm>
          <a:prstGeom prst="wedgeRoundRectCallout">
            <a:avLst>
              <a:gd name="adj1" fmla="val -189005"/>
              <a:gd name="adj2" fmla="val 14827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仿真激励文件名称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1045077" y="4167412"/>
            <a:ext cx="1152128" cy="796330"/>
          </a:xfrm>
          <a:prstGeom prst="wedgeRoundRectCallout">
            <a:avLst>
              <a:gd name="adj1" fmla="val 172277"/>
              <a:gd name="adj2" fmla="val 2148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仿真文件存储路径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14"/>
          <p:cNvSpPr>
            <a:spLocks noChangeArrowheads="1"/>
          </p:cNvSpPr>
          <p:nvPr/>
        </p:nvSpPr>
        <p:spPr bwMode="auto">
          <a:xfrm>
            <a:off x="1405117" y="2460899"/>
            <a:ext cx="1152128" cy="796330"/>
          </a:xfrm>
          <a:prstGeom prst="wedgeRoundRectCallout">
            <a:avLst>
              <a:gd name="adj1" fmla="val 132428"/>
              <a:gd name="adj2" fmla="val 14636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仿真文件类型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484630"/>
            <a:ext cx="8021320" cy="532257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73095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创建完成，点击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Finish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结束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4384852" y="2305322"/>
            <a:ext cx="1152128" cy="796330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28184" y="6381328"/>
            <a:ext cx="7200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484630"/>
            <a:ext cx="5734050" cy="429641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39553" y="181930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端口定义，点击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直接跳过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4882480" y="2780928"/>
            <a:ext cx="1152128" cy="796330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端口定义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00344" y="5301148"/>
            <a:ext cx="7200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27505"/>
            <a:ext cx="8912860" cy="502094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9029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在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Simulaion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 Source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下双击刚刚创建的仿真文件，这是一个空文件，我们需要添加代码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5867896" y="4292342"/>
            <a:ext cx="1152128" cy="796330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仿真文件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918" y="3789045"/>
            <a:ext cx="14206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029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在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Simulaion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 Source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下双击刚刚创建的仿真文件，这是一个空文件，我们需要添加代码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918" y="3789045"/>
            <a:ext cx="14206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700530"/>
            <a:ext cx="4972050" cy="49460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07990" y="1547495"/>
            <a:ext cx="3451860" cy="5260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module lamp_tb;</a:t>
            </a:r>
            <a:endParaRPr lang="zh-CN" altLang="en-US"/>
          </a:p>
          <a:p>
            <a:r>
              <a:rPr lang="zh-CN" altLang="en-US"/>
              <a:t> reg clk;reg S1;reg S2;reg S3;</a:t>
            </a:r>
            <a:endParaRPr lang="zh-CN" altLang="en-US"/>
          </a:p>
          <a:p>
            <a:r>
              <a:rPr lang="zh-CN" altLang="en-US"/>
              <a:t>    wire F;</a:t>
            </a:r>
            <a:endParaRPr lang="zh-CN" altLang="en-US"/>
          </a:p>
          <a:p>
            <a:r>
              <a:rPr lang="zh-CN" altLang="en-US"/>
              <a:t>       lamp_control  lamp1(clk,S1,S2,S3,F); </a:t>
            </a:r>
            <a:endParaRPr lang="zh-CN" altLang="en-US"/>
          </a:p>
          <a:p>
            <a:r>
              <a:rPr lang="zh-CN" altLang="en-US"/>
              <a:t>           </a:t>
            </a:r>
            <a:endParaRPr lang="zh-CN" altLang="en-US"/>
          </a:p>
          <a:p>
            <a:r>
              <a:rPr lang="zh-CN" altLang="en-US"/>
              <a:t>       initial begin</a:t>
            </a:r>
            <a:endParaRPr lang="zh-CN" altLang="en-US"/>
          </a:p>
          <a:p>
            <a:r>
              <a:rPr lang="zh-CN" altLang="en-US"/>
              <a:t>       clk=0;</a:t>
            </a:r>
            <a:endParaRPr lang="zh-CN" altLang="en-US"/>
          </a:p>
          <a:p>
            <a:r>
              <a:rPr lang="zh-CN" altLang="en-US"/>
              <a:t>       S1=0;S2=0;S3=0;#500;</a:t>
            </a:r>
            <a:endParaRPr lang="zh-CN" altLang="en-US"/>
          </a:p>
          <a:p>
            <a:r>
              <a:rPr lang="zh-CN" altLang="en-US"/>
              <a:t>       S1=1; #30; S1=0;  #5500;</a:t>
            </a:r>
            <a:endParaRPr lang="zh-CN" altLang="en-US"/>
          </a:p>
          <a:p>
            <a:r>
              <a:rPr lang="zh-CN" altLang="en-US"/>
              <a:t>       S2=1; #30; S2=0;  #5500;</a:t>
            </a:r>
            <a:endParaRPr lang="zh-CN" altLang="en-US"/>
          </a:p>
          <a:p>
            <a:r>
              <a:rPr lang="zh-CN" altLang="en-US"/>
              <a:t>       S3=1; #30; S3=0;  #5500;    </a:t>
            </a:r>
            <a:endParaRPr lang="zh-CN" altLang="en-US"/>
          </a:p>
          <a:p>
            <a:r>
              <a:rPr lang="zh-CN" altLang="en-US"/>
              <a:t>     end</a:t>
            </a:r>
            <a:endParaRPr lang="zh-CN" altLang="en-US"/>
          </a:p>
          <a:p>
            <a:r>
              <a:rPr lang="zh-CN" altLang="en-US"/>
              <a:t>     always begin</a:t>
            </a:r>
            <a:endParaRPr lang="zh-CN" altLang="en-US"/>
          </a:p>
          <a:p>
            <a:r>
              <a:rPr lang="zh-CN" altLang="en-US"/>
              <a:t>     # 10 clk=0;</a:t>
            </a:r>
            <a:endParaRPr lang="zh-CN" altLang="en-US"/>
          </a:p>
          <a:p>
            <a:r>
              <a:rPr lang="zh-CN" altLang="en-US"/>
              <a:t>     #10 clk=1;   </a:t>
            </a:r>
            <a:endParaRPr lang="zh-CN" altLang="en-US"/>
          </a:p>
          <a:p>
            <a:r>
              <a:rPr lang="zh-CN" altLang="en-US"/>
              <a:t>    end </a:t>
            </a:r>
            <a:endParaRPr lang="zh-CN" altLang="en-US"/>
          </a:p>
          <a:p>
            <a:r>
              <a:rPr lang="zh-CN" altLang="en-US"/>
              <a:t>endmodule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62" y="1474701"/>
            <a:ext cx="5353050" cy="483870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939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如图，仿真文件补充完整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4434458" y="2877083"/>
            <a:ext cx="1152128" cy="537059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模块例化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4434458" y="3717032"/>
            <a:ext cx="1152128" cy="537059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100mhz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时钟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05" y="1485265"/>
            <a:ext cx="8124190" cy="523621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4325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如图，选择流程窗口下的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SIMULATION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，行为仿真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3131711" y="1844695"/>
            <a:ext cx="864096" cy="504056"/>
          </a:xfrm>
          <a:prstGeom prst="wedgeRoundRectCallout">
            <a:avLst>
              <a:gd name="adj1" fmla="val -324369"/>
              <a:gd name="adj2" fmla="val 48315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点击仿真选项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14"/>
          <p:cNvSpPr>
            <a:spLocks noChangeArrowheads="1"/>
          </p:cNvSpPr>
          <p:nvPr/>
        </p:nvSpPr>
        <p:spPr bwMode="auto">
          <a:xfrm>
            <a:off x="4139431" y="2132407"/>
            <a:ext cx="864096" cy="504056"/>
          </a:xfrm>
          <a:prstGeom prst="wedgeRoundRectCallout">
            <a:avLst>
              <a:gd name="adj1" fmla="val -297913"/>
              <a:gd name="adj2" fmla="val 45972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选择行为仿真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21735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如图点击仿真复位键，然后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run all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3275856" y="1988840"/>
            <a:ext cx="864096" cy="504056"/>
          </a:xfrm>
          <a:prstGeom prst="wedgeRoundRectCallout">
            <a:avLst>
              <a:gd name="adj1" fmla="val -324369"/>
              <a:gd name="adj2" fmla="val 48315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点击仿真选项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14"/>
          <p:cNvSpPr>
            <a:spLocks noChangeArrowheads="1"/>
          </p:cNvSpPr>
          <p:nvPr/>
        </p:nvSpPr>
        <p:spPr bwMode="auto">
          <a:xfrm>
            <a:off x="4199756" y="2456892"/>
            <a:ext cx="864096" cy="504056"/>
          </a:xfrm>
          <a:prstGeom prst="wedgeRoundRectCallout">
            <a:avLst>
              <a:gd name="adj1" fmla="val -297913"/>
              <a:gd name="adj2" fmla="val 45972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选择行为仿真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76" y="1618361"/>
            <a:ext cx="9144000" cy="500323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559041" y="3136612"/>
            <a:ext cx="1030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模块层次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600" dirty="0">
                <a:solidFill>
                  <a:srgbClr val="FF0000"/>
                </a:solidFill>
                <a:latin typeface="-apple-system"/>
              </a:rPr>
              <a:t>结构窗口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147231" y="2288493"/>
            <a:ext cx="1800200" cy="1587949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3001372" y="2289605"/>
            <a:ext cx="1198384" cy="20755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71108" y="3139499"/>
            <a:ext cx="1030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被选模块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  <a:p>
            <a:pPr algn="l"/>
            <a:r>
              <a:rPr lang="zh-CN" altLang="en-US" sz="1600" dirty="0">
                <a:solidFill>
                  <a:srgbClr val="FF0000"/>
                </a:solidFill>
                <a:latin typeface="-apple-system"/>
              </a:rPr>
              <a:t>信号窗口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73545" y="2679282"/>
            <a:ext cx="1026468" cy="20755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271518" y="3622666"/>
            <a:ext cx="1030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信号名称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5357505" y="2708920"/>
            <a:ext cx="366623" cy="20755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309911" y="3372119"/>
            <a:ext cx="41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信号值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5818482" y="2923057"/>
            <a:ext cx="3146006" cy="1586063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34231" y="3577393"/>
            <a:ext cx="1030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波形窗口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3" name="AutoShape 14"/>
          <p:cNvSpPr>
            <a:spLocks noChangeArrowheads="1"/>
          </p:cNvSpPr>
          <p:nvPr/>
        </p:nvSpPr>
        <p:spPr bwMode="auto">
          <a:xfrm>
            <a:off x="7596336" y="1448780"/>
            <a:ext cx="864096" cy="504056"/>
          </a:xfrm>
          <a:prstGeom prst="wedgeRoundRectCallout">
            <a:avLst>
              <a:gd name="adj1" fmla="val -103907"/>
              <a:gd name="adj2" fmla="val 212179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显示时间刻度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4228632" y="2086109"/>
            <a:ext cx="3146006" cy="54691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096194" y="2088606"/>
            <a:ext cx="17380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显示控制快捷键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5511315" y="1133008"/>
            <a:ext cx="864096" cy="504056"/>
          </a:xfrm>
          <a:prstGeom prst="wedgeRoundRectCallout">
            <a:avLst>
              <a:gd name="adj1" fmla="val -209729"/>
              <a:gd name="adj2" fmla="val 113917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控制快捷键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187624" y="5597700"/>
            <a:ext cx="6840760" cy="108200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065673" y="5969427"/>
            <a:ext cx="1586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0" i="0" dirty="0">
                <a:solidFill>
                  <a:srgbClr val="FF0000"/>
                </a:solidFill>
                <a:effectLst/>
                <a:latin typeface="-apple-system"/>
              </a:rPr>
              <a:t>TCL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控制台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6491" y="1833785"/>
            <a:ext cx="4065138" cy="26306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2267744" y="1384180"/>
            <a:ext cx="144016" cy="556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2438517" y="1365045"/>
            <a:ext cx="1371975" cy="556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2693787" y="1403780"/>
            <a:ext cx="1371975" cy="556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271645" y="1035685"/>
            <a:ext cx="169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b="1">
                <a:solidFill>
                  <a:srgbClr val="FF0000"/>
                </a:solidFill>
              </a:rPr>
              <a:t>运行到</a:t>
            </a:r>
            <a:r>
              <a:rPr lang="en-US" altLang="zh-CN" b="1">
                <a:solidFill>
                  <a:srgbClr val="FF0000"/>
                </a:solidFill>
              </a:rPr>
              <a:t>10us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44672"/>
          <a:stretch>
            <a:fillRect/>
          </a:stretch>
        </p:blipFill>
        <p:spPr>
          <a:xfrm>
            <a:off x="0" y="2485234"/>
            <a:ext cx="9144000" cy="3431214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38532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如图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: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模拟图出来后，请点击</a:t>
            </a:r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sz="200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波形完全显示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”</a:t>
            </a:r>
            <a:r>
              <a:rPr sz="200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按钮</a:t>
            </a:r>
            <a:endParaRPr sz="2000" b="0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91299" y="3569390"/>
            <a:ext cx="1026468" cy="20755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9669" y="5614762"/>
            <a:ext cx="1030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信号名称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156440" y="3609819"/>
            <a:ext cx="366623" cy="20755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024298" y="5649063"/>
            <a:ext cx="819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信号值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23754" y="5516042"/>
            <a:ext cx="1030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波形窗口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3" name="AutoShape 14"/>
          <p:cNvSpPr>
            <a:spLocks noChangeArrowheads="1"/>
          </p:cNvSpPr>
          <p:nvPr/>
        </p:nvSpPr>
        <p:spPr bwMode="auto">
          <a:xfrm>
            <a:off x="7898436" y="1790861"/>
            <a:ext cx="864096" cy="504056"/>
          </a:xfrm>
          <a:prstGeom prst="wedgeRoundRectCallout">
            <a:avLst>
              <a:gd name="adj1" fmla="val -103907"/>
              <a:gd name="adj2" fmla="val 212179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显示时间刻度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8003" y="2741694"/>
            <a:ext cx="6116271" cy="54691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622811" y="2776824"/>
            <a:ext cx="17380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FF0000"/>
                </a:solidFill>
                <a:effectLst/>
                <a:latin typeface="-apple-system"/>
              </a:rPr>
              <a:t>显示控制快捷键</a:t>
            </a:r>
            <a:endParaRPr lang="en-US" altLang="zh-CN" sz="1600" b="0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1610323" y="1713936"/>
            <a:ext cx="664277" cy="504056"/>
          </a:xfrm>
          <a:prstGeom prst="wedgeRoundRectCallout">
            <a:avLst>
              <a:gd name="adj1" fmla="val -158215"/>
              <a:gd name="adj2" fmla="val 180055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波形放大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AutoShape 14"/>
          <p:cNvSpPr>
            <a:spLocks noChangeArrowheads="1"/>
          </p:cNvSpPr>
          <p:nvPr/>
        </p:nvSpPr>
        <p:spPr bwMode="auto">
          <a:xfrm>
            <a:off x="91299" y="1704092"/>
            <a:ext cx="664277" cy="504056"/>
          </a:xfrm>
          <a:prstGeom prst="wedgeRoundRectCallout">
            <a:avLst>
              <a:gd name="adj1" fmla="val -37769"/>
              <a:gd name="adj2" fmla="val 193283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查找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AutoShape 14"/>
          <p:cNvSpPr>
            <a:spLocks noChangeArrowheads="1"/>
          </p:cNvSpPr>
          <p:nvPr/>
        </p:nvSpPr>
        <p:spPr bwMode="auto">
          <a:xfrm>
            <a:off x="850811" y="1709620"/>
            <a:ext cx="664277" cy="504056"/>
          </a:xfrm>
          <a:prstGeom prst="wedgeRoundRectCallout">
            <a:avLst>
              <a:gd name="adj1" fmla="val -96558"/>
              <a:gd name="adj2" fmla="val 180055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保存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utoShape 14"/>
          <p:cNvSpPr>
            <a:spLocks noChangeArrowheads="1"/>
          </p:cNvSpPr>
          <p:nvPr/>
        </p:nvSpPr>
        <p:spPr bwMode="auto">
          <a:xfrm>
            <a:off x="2372595" y="1709620"/>
            <a:ext cx="664277" cy="504056"/>
          </a:xfrm>
          <a:prstGeom prst="wedgeRoundRectCallout">
            <a:avLst>
              <a:gd name="adj1" fmla="val -224174"/>
              <a:gd name="adj2" fmla="val 180055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波形缩小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utoShape 14"/>
          <p:cNvSpPr>
            <a:spLocks noChangeArrowheads="1"/>
          </p:cNvSpPr>
          <p:nvPr/>
        </p:nvSpPr>
        <p:spPr bwMode="auto">
          <a:xfrm>
            <a:off x="3129347" y="1556792"/>
            <a:ext cx="664277" cy="667282"/>
          </a:xfrm>
          <a:prstGeom prst="wedgeRoundRectCallout">
            <a:avLst>
              <a:gd name="adj1" fmla="val -288699"/>
              <a:gd name="adj2" fmla="val 143907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波形完全显示</a:t>
            </a:r>
            <a:endParaRPr lang="zh-CN" altLang="en-US" sz="1600" b="1" dirty="0">
              <a:solidFill>
                <a:srgbClr val="C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AutoShape 14"/>
          <p:cNvSpPr>
            <a:spLocks noChangeArrowheads="1"/>
          </p:cNvSpPr>
          <p:nvPr/>
        </p:nvSpPr>
        <p:spPr bwMode="auto">
          <a:xfrm>
            <a:off x="3865724" y="1537172"/>
            <a:ext cx="664277" cy="667282"/>
          </a:xfrm>
          <a:prstGeom prst="wedgeRoundRectCallout">
            <a:avLst>
              <a:gd name="adj1" fmla="val -350356"/>
              <a:gd name="adj2" fmla="val 146762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追踪到光标处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AutoShape 14"/>
          <p:cNvSpPr>
            <a:spLocks noChangeArrowheads="1"/>
          </p:cNvSpPr>
          <p:nvPr/>
        </p:nvSpPr>
        <p:spPr bwMode="auto">
          <a:xfrm>
            <a:off x="4726875" y="1556792"/>
            <a:ext cx="664277" cy="667282"/>
          </a:xfrm>
          <a:prstGeom prst="wedgeRoundRectCallout">
            <a:avLst>
              <a:gd name="adj1" fmla="val -430654"/>
              <a:gd name="adj2" fmla="val 148189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到初始时刻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AutoShape 14"/>
          <p:cNvSpPr>
            <a:spLocks noChangeArrowheads="1"/>
          </p:cNvSpPr>
          <p:nvPr/>
        </p:nvSpPr>
        <p:spPr bwMode="auto">
          <a:xfrm>
            <a:off x="5588026" y="1556792"/>
            <a:ext cx="664277" cy="662533"/>
          </a:xfrm>
          <a:prstGeom prst="wedgeRoundRectCallout">
            <a:avLst>
              <a:gd name="adj1" fmla="val -520989"/>
              <a:gd name="adj2" fmla="val 151044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到最后时刻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AutoShape 14"/>
          <p:cNvSpPr>
            <a:spLocks noChangeArrowheads="1"/>
          </p:cNvSpPr>
          <p:nvPr/>
        </p:nvSpPr>
        <p:spPr bwMode="auto">
          <a:xfrm>
            <a:off x="6411092" y="1536608"/>
            <a:ext cx="664277" cy="667282"/>
          </a:xfrm>
          <a:prstGeom prst="wedgeRoundRectCallout">
            <a:avLst>
              <a:gd name="adj1" fmla="val -589816"/>
              <a:gd name="adj2" fmla="val 158181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前一个波形跳变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utoShape 14"/>
          <p:cNvSpPr>
            <a:spLocks noChangeArrowheads="1"/>
          </p:cNvSpPr>
          <p:nvPr/>
        </p:nvSpPr>
        <p:spPr bwMode="auto">
          <a:xfrm>
            <a:off x="7157479" y="1533525"/>
            <a:ext cx="664277" cy="690549"/>
          </a:xfrm>
          <a:prstGeom prst="wedgeRoundRectCallout">
            <a:avLst>
              <a:gd name="adj1" fmla="val -658643"/>
              <a:gd name="adj2" fmla="val 158181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下一个波形跳变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2872683" y="3656572"/>
            <a:ext cx="6180018" cy="2198024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860" y="1022350"/>
            <a:ext cx="452755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62" y="1474701"/>
            <a:ext cx="5353050" cy="483870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939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sz="20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模拟运行时间长度设置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4434458" y="2877083"/>
            <a:ext cx="1152128" cy="537059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模块例化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4434458" y="3717032"/>
            <a:ext cx="1152128" cy="537059"/>
          </a:xfrm>
          <a:prstGeom prst="wedgeRoundRectCallout">
            <a:avLst>
              <a:gd name="adj1" fmla="val -246380"/>
              <a:gd name="adj2" fmla="val 1408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100mhz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时钟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412240"/>
            <a:ext cx="8841740" cy="51041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39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功能仿真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模拟运行时间长度设置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484630"/>
            <a:ext cx="7430770" cy="490664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6517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575" y="1052830"/>
            <a:ext cx="5260340" cy="5680075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下载时的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Verilog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代码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module lamp_control(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clk,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S1,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S2,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input S3,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output F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);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parameter C_NUM = </a:t>
            </a:r>
            <a:r>
              <a:rPr sz="2400" b="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28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parameter C_MAX = </a:t>
            </a:r>
            <a:r>
              <a:rPr sz="2400" b="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28'hFFFF_FFF</a:t>
            </a:r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reg [C_NUM-1:0] count;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wire [C_NUM-1:0] c_next;	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initial begin	//初始化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	count = C_MAX;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end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sz="2000" b="0"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sz="20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18685" y="1236345"/>
            <a:ext cx="4354195" cy="505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assign w=S1^S2^S3; 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assign F = ((count &lt; C_MAX) ? 1'b1 : 1'b0);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always@(posedge clk)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begin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if(w == 1'b1)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	count = 0;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else if(count &lt; C_MAX)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	count = c_next;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end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assign c_next = count + 1'b1;	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dirty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endmodule</a:t>
            </a:r>
            <a:endParaRPr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765935"/>
            <a:ext cx="8613140" cy="490220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6517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en-US" altLang="zh-CN" sz="2800" dirty="0"/>
              <a:t>RTL</a:t>
            </a:r>
            <a:r>
              <a:rPr lang="zh-CN" altLang="en-US" sz="2800" dirty="0"/>
              <a:t>分析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如图，完成仿真后，可以点击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RTL Analysis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Schematic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，打开下图所示的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RTL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级电路原理图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1340768"/>
            <a:ext cx="2305050" cy="198120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548799" y="2821162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41402" y="1914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综合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1901798" y="1052736"/>
            <a:ext cx="7271078" cy="3816424"/>
          </a:xfrm>
        </p:spPr>
        <p:txBody>
          <a:bodyPr/>
          <a:lstStyle/>
          <a:p>
            <a:pPr algn="just"/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点击工作流窗口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SYNTHISIS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Run Synthesis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，弹出综合对象路径及运行线程数设置窗口，采用默认设置，直接点击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OK,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综合完成后弹出成功窗口，可以继续进行实现步骤，或者打开综合后的原理图设计以及查看综合报告，这里选择打开综合设计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" y="1801872"/>
            <a:ext cx="2286000" cy="104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3317746" cy="2667878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179512" y="2054957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971600" y="566547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r="4034"/>
          <a:stretch>
            <a:fillRect/>
          </a:stretch>
        </p:blipFill>
        <p:spPr>
          <a:xfrm>
            <a:off x="3438342" y="2999487"/>
            <a:ext cx="5611606" cy="3266382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6858076" y="422108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41402" y="19146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综合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1901798" y="1052736"/>
            <a:ext cx="7271078" cy="3816424"/>
          </a:xfrm>
        </p:spPr>
        <p:txBody>
          <a:bodyPr/>
          <a:lstStyle/>
          <a:p>
            <a:pPr algn="just"/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点击工作流窗口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SYNTHISIS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Run Synthesis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，弹出综合对象路径及运行线程数设置窗口，采用默认设置，直接点击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OK,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综合完成后弹出成功窗口，可以继续进行实现步骤，或者打开综合后的原理图设计以及查看综合报告，这里选择打开综合设计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" y="1801872"/>
            <a:ext cx="2286000" cy="104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3317746" cy="2667878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179512" y="2054957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971600" y="566547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r="4034"/>
          <a:stretch>
            <a:fillRect/>
          </a:stretch>
        </p:blipFill>
        <p:spPr>
          <a:xfrm>
            <a:off x="3438342" y="2999487"/>
            <a:ext cx="5611606" cy="3266382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6858076" y="4221088"/>
            <a:ext cx="158417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0" y="146867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综合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78628" y="1101227"/>
            <a:ext cx="9065372" cy="3816424"/>
          </a:xfrm>
        </p:spPr>
        <p:txBody>
          <a:bodyPr/>
          <a:lstStyle/>
          <a:p>
            <a:pPr algn="just"/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综合后的设计如图所示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44824"/>
            <a:ext cx="9144000" cy="45905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" y="1649730"/>
            <a:ext cx="8954135" cy="51028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0" y="146867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综合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78628" y="1101227"/>
            <a:ext cx="9065372" cy="3816424"/>
          </a:xfrm>
        </p:spPr>
        <p:txBody>
          <a:bodyPr/>
          <a:lstStyle/>
          <a:p>
            <a:pPr algn="just"/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综合后的设计如图所示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44824"/>
            <a:ext cx="9144000" cy="45905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" y="1649730"/>
            <a:ext cx="8954135" cy="51028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44824"/>
            <a:ext cx="9144000" cy="459051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3652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方法一  工具直接约束法  综合完成后，点击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I/O Ports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459600" y="2060848"/>
            <a:ext cx="50405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4067944" y="1366723"/>
            <a:ext cx="1584176" cy="694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37981" y="13652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方法一  工具直接约束法  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I/O Ports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Find Results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中进行管脚配置；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Package Pin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对应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FPGA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中的管脚，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I/O Std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对应电平标准。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配置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clk 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信号连接到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AC18 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管脚，电平标准是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LVCMOS18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，在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Package Pin 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中选择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AC18 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管脚，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I/O Std 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选择 </a:t>
            </a:r>
            <a:r>
              <a:rPr lang="en-US" altLang="zh-CN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LVCMOS18</a:t>
            </a:r>
            <a:r>
              <a:rPr lang="zh-CN" altLang="en-US" sz="2000" b="0" dirty="0">
                <a:solidFill>
                  <a:srgbClr val="FF0000"/>
                </a:solidFill>
                <a:latin typeface="Arial" panose="020B0604020202020204" pitchFamily="34" charset="0"/>
                <a:ea typeface="-apple-system"/>
              </a:rPr>
              <a:t>。其他按图示配置。</a:t>
            </a:r>
            <a:endParaRPr lang="zh-CN" altLang="en-US" sz="2000" b="0" dirty="0">
              <a:solidFill>
                <a:srgbClr val="FF0000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051720" y="2525364"/>
            <a:ext cx="576064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780665"/>
            <a:ext cx="8531860" cy="222059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1043940" y="1556385"/>
          <a:ext cx="6494145" cy="488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543550" imgH="4724400" progId="Paint.Picture">
                  <p:embed/>
                </p:oleObj>
              </mc:Choice>
              <mc:Fallback>
                <p:oleObj name="" r:id="rId1" imgW="5543550" imgH="47244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3940" y="1556385"/>
                        <a:ext cx="6494145" cy="488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标题 1"/>
          <p:cNvSpPr txBox="1"/>
          <p:nvPr/>
        </p:nvSpPr>
        <p:spPr bwMode="auto">
          <a:xfrm>
            <a:off x="28876" y="206388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方法一  工具直接约束法  约束完成点击保存并命名，点击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；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403871" y="1844442"/>
            <a:ext cx="50405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076190" y="5876925"/>
            <a:ext cx="833755" cy="31559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1" y="1772815"/>
            <a:ext cx="8048625" cy="510728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154798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方法二  脚本约束法  在综合前，点击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Add Source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添加约束文件，之后点击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Next, Finish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763688" y="2821162"/>
            <a:ext cx="194421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3843785" y="2145769"/>
            <a:ext cx="1584176" cy="694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844675"/>
            <a:ext cx="8834755" cy="451675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 bwMode="auto">
          <a:xfrm>
            <a:off x="28876" y="20263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方法二  脚本约束法  在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Consraintsxai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下，双击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Lampxdc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.xdc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约束文件并填入如下的约束文件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40063" y="4076775"/>
            <a:ext cx="194421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2340263" y="3382585"/>
            <a:ext cx="1584176" cy="694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80285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引脚约束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引脚约束，是将所设计的功能模块的端口与实际物理芯片的引脚进行绑定，从而实现输入和输出与实际信号量连系的有效性；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工具约束和脚本约束都可行，推荐脚本约束；可以直接使用提供的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xdc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文件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22" y="2117601"/>
            <a:ext cx="3093017" cy="31093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117601"/>
            <a:ext cx="3086224" cy="30196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91" y="2160438"/>
            <a:ext cx="3285819" cy="443691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" y="4797935"/>
            <a:ext cx="3171284" cy="201465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174" y="4161229"/>
            <a:ext cx="2885669" cy="2620021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366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实现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如综合前，脚本约束引脚，则综合后直接进行实现步骤；若综合后，工具约束引脚，则需再次进行综合，再进行实现步骤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</a:t>
            </a:r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-apple-system"/>
              </a:rPr>
              <a:t>IMPLEMENTATION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Run Implementation,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在弹窗中直接点击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，开始实现步骤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实现完成，可以打开实现的设计，或者生成比特流，或者观察实现报告；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3140968"/>
            <a:ext cx="1990725" cy="914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6" y="4293096"/>
            <a:ext cx="3125220" cy="2501475"/>
          </a:xfrm>
          <a:prstGeom prst="rect">
            <a:avLst/>
          </a:prstGeom>
        </p:spPr>
      </p:pic>
      <p:sp>
        <p:nvSpPr>
          <p:cNvPr id="13" name="矩形: 圆角 12"/>
          <p:cNvSpPr/>
          <p:nvPr/>
        </p:nvSpPr>
        <p:spPr>
          <a:xfrm>
            <a:off x="390625" y="3428603"/>
            <a:ext cx="194421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1979712" y="6431235"/>
            <a:ext cx="648072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298" y="2768201"/>
            <a:ext cx="5322665" cy="39528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784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实现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，可以打开实现的设计；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700530"/>
            <a:ext cx="8856980" cy="452056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73793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实现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放大实现的设计图，可以清楚观察到底层的逻辑单元（多路选择器、异或门、触发器等）；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847850"/>
            <a:ext cx="8942070" cy="4873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1340485"/>
            <a:ext cx="675005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99454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生成比特流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PROGRAM AND DEBUG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下的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Generate Bitstream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，再随后弹窗点击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，右上角为生成比特文件的过程图，最后比特流成功生成；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1806352"/>
            <a:ext cx="2047875" cy="1009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" y="2852936"/>
            <a:ext cx="4619625" cy="3733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394210"/>
            <a:ext cx="3876675" cy="11334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455" y="3729236"/>
            <a:ext cx="2895600" cy="2857500"/>
          </a:xfrm>
          <a:prstGeom prst="rect">
            <a:avLst/>
          </a:prstGeom>
        </p:spPr>
      </p:pic>
      <p:sp>
        <p:nvSpPr>
          <p:cNvPr id="13" name="矩形: 圆角 12"/>
          <p:cNvSpPr/>
          <p:nvPr/>
        </p:nvSpPr>
        <p:spPr>
          <a:xfrm>
            <a:off x="827584" y="2171391"/>
            <a:ext cx="1944216" cy="279572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79825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下载程序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876" y="1052736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给开发板通电，并且连接下载器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点击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PROGRAM AND DEBUG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下的</a:t>
            </a:r>
            <a:r>
              <a:rPr lang="en-US" altLang="zh-CN" sz="2000" b="0" dirty="0" err="1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OpenTarget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然后单击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Auto Connect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；</a:t>
            </a:r>
            <a:endParaRPr lang="en-US" altLang="zh-CN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单击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Program Device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，选择器件和比特文件，进行下载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36" y="2285362"/>
            <a:ext cx="2524125" cy="1752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2251456"/>
            <a:ext cx="2486025" cy="183832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15591" y="4009313"/>
            <a:ext cx="4681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连接成功弹出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7475" y="5323773"/>
            <a:ext cx="468153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bit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文件路径选择图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在哪个目录？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69609" r="81500"/>
          <a:stretch>
            <a:fillRect/>
          </a:stretch>
        </p:blipFill>
        <p:spPr>
          <a:xfrm>
            <a:off x="7052596" y="2380470"/>
            <a:ext cx="1691680" cy="1562383"/>
          </a:xfrm>
          <a:prstGeom prst="rect">
            <a:avLst/>
          </a:prstGeom>
        </p:spPr>
      </p:pic>
      <p:sp>
        <p:nvSpPr>
          <p:cNvPr id="11" name="箭头: 右 10"/>
          <p:cNvSpPr/>
          <p:nvPr/>
        </p:nvSpPr>
        <p:spPr>
          <a:xfrm>
            <a:off x="2856658" y="3098610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/>
          <p:cNvSpPr/>
          <p:nvPr/>
        </p:nvSpPr>
        <p:spPr>
          <a:xfrm>
            <a:off x="6252593" y="3089653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弧形 12"/>
          <p:cNvSpPr/>
          <p:nvPr/>
        </p:nvSpPr>
        <p:spPr>
          <a:xfrm>
            <a:off x="8641055" y="4196228"/>
            <a:ext cx="339527" cy="43629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4100830"/>
            <a:ext cx="5386705" cy="275717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18209" y="16038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Vivado</a:t>
            </a:r>
            <a:r>
              <a:rPr lang="zh-CN" altLang="en-US" dirty="0"/>
              <a:t>设计流程</a:t>
            </a:r>
            <a:r>
              <a:rPr lang="en-US" altLang="zh-CN" dirty="0"/>
              <a:t>-</a:t>
            </a:r>
            <a:r>
              <a:rPr lang="zh-CN" altLang="en-US" sz="2800" dirty="0"/>
              <a:t>实验结果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125572" y="1600539"/>
            <a:ext cx="9144000" cy="3816424"/>
          </a:xfrm>
        </p:spPr>
        <p:txBody>
          <a:bodyPr/>
          <a:lstStyle/>
          <a:p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下载过程下载完成后 </a:t>
            </a:r>
            <a:r>
              <a:rPr lang="en-US" altLang="zh-CN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LED </a:t>
            </a:r>
            <a:r>
              <a:rPr lang="zh-CN" altLang="en-US" sz="20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流水灯就运行起来了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5616" y="4891155"/>
            <a:ext cx="4681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下载过程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3574067"/>
            <a:ext cx="4057639" cy="114672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925511ed417364ff8e5cd515eb0ad2aa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28184" y="1690609"/>
            <a:ext cx="2389766" cy="4248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8876" y="136521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Logisim</a:t>
            </a:r>
            <a:endParaRPr sz="2800" dirty="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850" y="1268730"/>
            <a:ext cx="8642985" cy="465518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绘图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7054" y="2589125"/>
            <a:ext cx="5379638" cy="31347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650" y="1873546"/>
            <a:ext cx="52501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在绘图区的上方有功能按键和常用的几个门</a:t>
            </a:r>
            <a:endParaRPr kumimoji="1" lang="en-US" altLang="zh-CN" sz="2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1"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在绘图区的左边为所有可直接添加的模块</a:t>
            </a:r>
            <a:endParaRPr kumimoji="1" lang="zh-CN" altLang="en-US" sz="2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35861" y="101596"/>
            <a:ext cx="7869560" cy="95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000" b="1" kern="1200" baseline="0" dirty="0">
                <a:solidFill>
                  <a:srgbClr val="3E3EFC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Logisim</a:t>
            </a:r>
            <a:r>
              <a:rPr dirty="0"/>
              <a:t>绘图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8575" y="1052830"/>
            <a:ext cx="4583430" cy="3103245"/>
          </a:xfrm>
        </p:spPr>
        <p:txBody>
          <a:bodyPr/>
          <a:lstStyle/>
          <a:p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Ctrl+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1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Change values within circuit</a:t>
            </a:r>
            <a:endParaRPr lang="en-US" altLang="zh-CN" sz="12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Ctrl+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2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Edit selection and add wires</a:t>
            </a:r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Ctrl+3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Add wire to circuit</a:t>
            </a:r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Ctrl+4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Edit text in circuit</a:t>
            </a:r>
            <a:endParaRPr lang="zh-CN" altLang="en-US" sz="24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Ctrl+5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Add Pin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input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）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endParaRPr lang="en-US" altLang="zh-CN" sz="2400" b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en-US" altLang="zh-CN" sz="2400" b="0" dirty="0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24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Ctrl+</a:t>
            </a:r>
            <a:r>
              <a:rPr lang="en-US" altLang="zh-CN" sz="2400" b="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6: 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Add Pin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output</a:t>
            </a:r>
            <a:r>
              <a:rPr sz="2400" b="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2000" b="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0" y="1092200"/>
            <a:ext cx="3299460" cy="647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190" y="5157470"/>
            <a:ext cx="3524250" cy="657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90" y="6021705"/>
            <a:ext cx="3524250" cy="609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45" y="2061210"/>
            <a:ext cx="3467100" cy="6762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245" y="3195955"/>
            <a:ext cx="3495675" cy="6381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245" y="4147185"/>
            <a:ext cx="35242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Logisim</a:t>
            </a:r>
            <a:r>
              <a:rPr>
                <a:sym typeface="+mn-ea"/>
              </a:rPr>
              <a:t>绘图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r>
              <a:rPr lang="en-US" altLang="zh-CN" dirty="0"/>
              <a:t>Chapter 1   </a:t>
            </a:r>
            <a:fld id="{5EFF9C44-2717-445B-8E50-0551D6089AAB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438150" y="1268730"/>
            <a:ext cx="8248650" cy="5452110"/>
          </a:xfrm>
        </p:spPr>
        <p:txBody>
          <a:bodyPr/>
          <a:p>
            <a:r>
              <a:rPr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</a:t>
            </a:r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+</a:t>
            </a:r>
            <a:r>
              <a:rPr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7</a:t>
            </a:r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:Add NOT Gate</a:t>
            </a:r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r>
              <a:rPr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</a:t>
            </a:r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+8:Add AND Gate</a:t>
            </a:r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r>
              <a:rPr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</a:t>
            </a:r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+9:Add OR Gate</a:t>
            </a:r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endParaRPr lang="en-US" altLang="zh-CN"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r>
              <a:rPr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Ctrl</a:t>
            </a:r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+0:Add XOR Gate </a:t>
            </a:r>
            <a:endParaRPr b="0">
              <a:solidFill>
                <a:srgbClr val="4D4D4D"/>
              </a:solidFill>
              <a:latin typeface="Arial" panose="020B0604020202020204" pitchFamily="34" charset="0"/>
              <a:ea typeface="-apple-system"/>
              <a:sym typeface="+mn-ea"/>
            </a:endParaRPr>
          </a:p>
          <a:p>
            <a:endParaRPr lang="zh-CN" altLang="en-US"/>
          </a:p>
          <a:p>
            <a:r>
              <a:rPr lang="en-US" altLang="zh-CN" b="0">
                <a:solidFill>
                  <a:srgbClr val="4D4D4D"/>
                </a:solidFill>
                <a:latin typeface="Arial" panose="020B0604020202020204" pitchFamily="34" charset="0"/>
                <a:ea typeface="-apple-system"/>
                <a:sym typeface="+mn-ea"/>
              </a:rPr>
              <a:t>Add XOR Gate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190" y="1196975"/>
            <a:ext cx="3419475" cy="676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45" y="2277110"/>
            <a:ext cx="3705225" cy="628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945" y="3501390"/>
            <a:ext cx="3762375" cy="676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825" y="4581525"/>
            <a:ext cx="4067175" cy="609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120" y="5877560"/>
            <a:ext cx="38290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绘图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Ctrl+5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 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或鼠标点击对应按钮，可添加输入端口入电路原理图中</a:t>
            </a:r>
            <a:endParaRPr lang="en-US" altLang="zh-CN" b="0" i="0" dirty="0">
              <a:effectLst/>
              <a:latin typeface="Roboto" panose="02000000000000000000" pitchFamily="2" charset="0"/>
            </a:endParaRPr>
          </a:p>
          <a:p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Ctrl+7/8/9/0 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或用鼠标点击对应按钮，可以分别向电路原理图中添加非门、与门、或门、异或门。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Ctrl+6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 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或用鼠标点击对应按钮，可以向电路原理图中添加输出端口。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Ctrl+3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 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或用鼠标点击对应按钮后，可以在电路原理图中画线，找到连线的一端并按住鼠标拖动即可</a:t>
            </a:r>
            <a:endParaRPr lang="en-US" altLang="zh-CN" b="0" i="0" dirty="0">
              <a:effectLst/>
              <a:latin typeface="Roboto" panose="02000000000000000000" pitchFamily="2" charset="0"/>
            </a:endParaRPr>
          </a:p>
          <a:p>
            <a:r>
              <a:rPr kumimoji="1" lang="zh-CN" altLang="en-US" dirty="0">
                <a:latin typeface="Roboto" panose="02000000000000000000" pitchFamily="2" charset="0"/>
              </a:rPr>
              <a:t>点击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-&gt; Save</a:t>
            </a:r>
            <a:r>
              <a:rPr kumimoji="1" lang="zh-CN" altLang="en-US" dirty="0">
                <a:latin typeface="Roboto" panose="02000000000000000000" pitchFamily="2" charset="0"/>
              </a:rPr>
              <a:t>或用</a:t>
            </a:r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Ctrl+S</a:t>
            </a:r>
            <a:r>
              <a:rPr kumimoji="1" lang="zh-CN" altLang="en-US" dirty="0">
                <a:latin typeface="Roboto" panose="02000000000000000000" pitchFamily="2" charset="0"/>
              </a:rPr>
              <a:t>保存电路图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绘图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7051" y="2128562"/>
            <a:ext cx="5975841" cy="336141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绘图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30929" y="2764109"/>
            <a:ext cx="4682142" cy="2545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650" y="2125266"/>
            <a:ext cx="8412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连线正确时候线路应为绿色；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红色和蓝色都是异常状态，可能因为图的逻辑有问题或者线没有接在元器件引脚上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仿真检查电路功能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画好电路原理图之后，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Ctrl+1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后即可通过</a:t>
            </a: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点击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输入端口来改变输入端口的输入值，从而可以通过遍历所有输入值来检查电路功能是否正常。其中，深绿色表示低电平，亮绿色表示高电平。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911" y="3429000"/>
            <a:ext cx="3160790" cy="15046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62" y="3374182"/>
            <a:ext cx="3530639" cy="155942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为输入输出端口命名，以便转为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Ctrl+2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或鼠标点击对应图标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或双击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后，双击输入输出端口，即可为其命名。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只有将输入、输出端口命名，才可将其正常地转为 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25" y="3259160"/>
            <a:ext cx="2726589" cy="17978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103" y="3201641"/>
            <a:ext cx="4378247" cy="185532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选择上方状态栏的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 &gt; Synthesize &amp; Download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在弹出的窗口中，选择目标板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(Target board)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FPGA4U</a:t>
            </a:r>
            <a:endParaRPr lang="en-US" altLang="zh-CN" b="0" i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10" y="3118242"/>
            <a:ext cx="4310876" cy="18517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92" y="3070931"/>
            <a:ext cx="4092498" cy="217487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点击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Settings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按钮，并且将弹出窗口中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 Commander Settings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选项下的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Hardware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discription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language used for FPGA commander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选项更改为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并更改保存地址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随后可关闭弹出窗口。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626" y="3215462"/>
            <a:ext cx="5284749" cy="237571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导出为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Verilog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3530" y="1268730"/>
            <a:ext cx="8541385" cy="4968240"/>
          </a:xfrm>
        </p:spPr>
        <p:txBody>
          <a:bodyPr/>
          <a:lstStyle/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点击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Execute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，随后点击弹出窗口中的 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Done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即可完成。你可以忽略这一步给出的 </a:t>
            </a:r>
            <a:r>
              <a:rPr lang="en-US" altLang="zh-CN" b="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 is not completely mapped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的警告。</a:t>
            </a:r>
            <a:endParaRPr lang="zh-CN" altLang="en-US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此时即可在工作目录下的 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子目录中看到生成的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 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文件，如果你不知道文件保存到了哪里，请查看弹窗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Info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中的信息确定你的工作目录以及导出文件的位置。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4941570"/>
            <a:ext cx="5195570" cy="190373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2548" y="2996952"/>
            <a:ext cx="7571460" cy="69181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zh-CN" altLang="en-US" sz="4800" dirty="0"/>
              <a:t>板资源介绍</a:t>
            </a:r>
            <a:endParaRPr lang="zh-CN" altLang="en-US" sz="4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3" y="116635"/>
            <a:ext cx="7571460" cy="69181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实验平台</a:t>
            </a:r>
            <a:r>
              <a:rPr lang="zh-CN" altLang="en-US" sz="4800" dirty="0"/>
              <a:t>板级资源</a:t>
            </a:r>
            <a:endParaRPr lang="zh-CN" altLang="en-US" sz="4800" dirty="0"/>
          </a:p>
        </p:txBody>
      </p:sp>
      <p:sp>
        <p:nvSpPr>
          <p:cNvPr id="45" name="文本框 44"/>
          <p:cNvSpPr txBox="1"/>
          <p:nvPr/>
        </p:nvSpPr>
        <p:spPr>
          <a:xfrm>
            <a:off x="230833" y="1268760"/>
            <a:ext cx="51138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SWORD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是一款面向系统能力的计算机系统课程贯通教学实验平台。 结合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Kintex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™-7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系列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FPGA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丰富的逻辑资源、板载层次完整的存储结构（包括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DRAM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以及丰富多样的接口（包括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 音频、视频、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SATA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、网络、光纤、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Pmod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™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270644"/>
            <a:ext cx="3881239" cy="2315321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097" name="图片 2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9" y="764705"/>
            <a:ext cx="8424936" cy="605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椭圆 23"/>
          <p:cNvSpPr/>
          <p:nvPr/>
        </p:nvSpPr>
        <p:spPr>
          <a:xfrm>
            <a:off x="7909006" y="1988841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100" name="组合 4099"/>
          <p:cNvGrpSpPr/>
          <p:nvPr/>
        </p:nvGrpSpPr>
        <p:grpSpPr>
          <a:xfrm>
            <a:off x="6420923" y="4112928"/>
            <a:ext cx="336551" cy="334645"/>
            <a:chOff x="6420922" y="4112925"/>
            <a:chExt cx="336550" cy="334645"/>
          </a:xfrm>
        </p:grpSpPr>
        <p:sp>
          <p:nvSpPr>
            <p:cNvPr id="61" name="椭圆 60"/>
            <p:cNvSpPr/>
            <p:nvPr/>
          </p:nvSpPr>
          <p:spPr>
            <a:xfrm>
              <a:off x="6420922" y="4112925"/>
              <a:ext cx="334010" cy="33401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en-US" sz="2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en-US" sz="11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80"/>
            <p:cNvSpPr txBox="1"/>
            <p:nvPr/>
          </p:nvSpPr>
          <p:spPr>
            <a:xfrm>
              <a:off x="6422827" y="4112925"/>
              <a:ext cx="334645" cy="33464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sz="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RB450G</a:t>
              </a:r>
              <a:endParaRPr lang="zh-CN" altLang="en-US" sz="11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099" name="圆角矩形 4098"/>
          <p:cNvSpPr/>
          <p:nvPr/>
        </p:nvSpPr>
        <p:spPr>
          <a:xfrm>
            <a:off x="7655998" y="1052739"/>
            <a:ext cx="668020" cy="18038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4641192" y="3978652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4139952" y="3585090"/>
            <a:ext cx="1336488" cy="12268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1326318" y="5205548"/>
            <a:ext cx="5765963" cy="15079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5724129" y="3624188"/>
            <a:ext cx="465788" cy="10607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5788462" y="3959086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3398958" y="4009970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3300721" y="3789040"/>
            <a:ext cx="497019" cy="7920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4641192" y="3094990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4039872" y="2948088"/>
            <a:ext cx="1506459" cy="552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1691680" y="1052736"/>
            <a:ext cx="1224136" cy="552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2076253" y="1167076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3107904" y="1307769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3706411" y="1130874"/>
            <a:ext cx="1849764" cy="4796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4474186" y="1188870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5915268" y="1307769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6898850" y="1307769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8028385" y="2996953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8028385" y="4823182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7663173" y="5517235"/>
            <a:ext cx="660845" cy="6660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7802293" y="5661249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416760" y="2276874"/>
            <a:ext cx="497019" cy="34435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509930" y="3689381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6831675" y="3528732"/>
            <a:ext cx="1907856" cy="10523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7635288" y="3924000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椭圆 104"/>
          <p:cNvSpPr/>
          <p:nvPr/>
        </p:nvSpPr>
        <p:spPr>
          <a:xfrm>
            <a:off x="526340" y="5896114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575377" y="1690834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070370" y="1167076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5724131" y="3140968"/>
            <a:ext cx="525149" cy="4441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5822166" y="3191292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6889570" y="4820142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3" y="116635"/>
            <a:ext cx="7571460" cy="69181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实验平台</a:t>
            </a:r>
            <a:r>
              <a:rPr lang="zh-CN" altLang="en-US" sz="4800" dirty="0"/>
              <a:t>板级资源</a:t>
            </a:r>
            <a:endParaRPr lang="zh-CN" altLang="en-US" sz="4800" dirty="0"/>
          </a:p>
        </p:txBody>
      </p:sp>
      <p:sp>
        <p:nvSpPr>
          <p:cNvPr id="112" name="矩形 111"/>
          <p:cNvSpPr/>
          <p:nvPr/>
        </p:nvSpPr>
        <p:spPr>
          <a:xfrm>
            <a:off x="1283931" y="5313529"/>
            <a:ext cx="4364376" cy="677108"/>
          </a:xfrm>
          <a:prstGeom prst="rect">
            <a:avLst/>
          </a:prstGeom>
          <a:effectLst>
            <a:softEdge rad="12700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800" b="1" dirty="0">
                <a:ln w="18000">
                  <a:solidFill>
                    <a:srgbClr val="3366FF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FFFF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3800" b="1" dirty="0">
                <a:ln w="18000">
                  <a:solidFill>
                    <a:srgbClr val="3366FF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FFFF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个简单外设：</a:t>
            </a:r>
            <a:r>
              <a:rPr kumimoji="1" lang="en-US" altLang="zh-CN" sz="3800" b="1" dirty="0">
                <a:ln w="18000">
                  <a:solidFill>
                    <a:srgbClr val="3366FF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FFFF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GPIO</a:t>
            </a:r>
            <a:endParaRPr kumimoji="1" lang="zh-CN" altLang="en-US" sz="3800" b="1" dirty="0">
              <a:ln w="18000">
                <a:solidFill>
                  <a:srgbClr val="3366FF">
                    <a:satMod val="140000"/>
                  </a:srgbClr>
                </a:solidFill>
                <a:prstDash val="solid"/>
                <a:miter lim="800000"/>
              </a:ln>
              <a:solidFill>
                <a:srgbClr val="FFFF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987981" y="2856592"/>
            <a:ext cx="2065051" cy="196355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Arduino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4209300" y="5316038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椭圆 113"/>
          <p:cNvSpPr/>
          <p:nvPr/>
        </p:nvSpPr>
        <p:spPr>
          <a:xfrm>
            <a:off x="1774997" y="3334004"/>
            <a:ext cx="334011" cy="334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116632"/>
            <a:ext cx="7437512" cy="95436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dirty="0"/>
              <a:t>平台板级资源说明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467546" y="1052736"/>
          <a:ext cx="7920881" cy="3474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387"/>
                <a:gridCol w="3138557"/>
                <a:gridCol w="821380"/>
                <a:gridCol w="3138557"/>
              </a:tblGrid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dirty="0">
                          <a:effectLst/>
                        </a:rPr>
                        <a:t>编号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>
                          <a:effectLst/>
                        </a:rPr>
                        <a:t>功能区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>
                          <a:effectLst/>
                        </a:rPr>
                        <a:t>编号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>
                          <a:effectLst/>
                        </a:rPr>
                        <a:t>功能区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XC7K160T-1FFG676C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10M/100M/1000M</a:t>
                      </a:r>
                      <a:r>
                        <a:rPr lang="zh-CN" sz="1900">
                          <a:effectLst/>
                        </a:rPr>
                        <a:t>以太网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2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900" dirty="0">
                          <a:effectLst/>
                        </a:rPr>
                        <a:t>电源输入及开关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11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12</a:t>
                      </a:r>
                      <a:r>
                        <a:rPr lang="zh-CN" sz="1900">
                          <a:effectLst/>
                        </a:rPr>
                        <a:t>位色</a:t>
                      </a:r>
                      <a:r>
                        <a:rPr lang="en-US" sz="1900">
                          <a:effectLst/>
                        </a:rPr>
                        <a:t>VGA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68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3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GPIO</a:t>
                      </a:r>
                      <a:r>
                        <a:rPr lang="zh-CN" sz="1900" dirty="0">
                          <a:effectLst/>
                        </a:rPr>
                        <a:t>（包括按键、拨码开关、</a:t>
                      </a:r>
                      <a:r>
                        <a:rPr lang="en-US" sz="1900" dirty="0">
                          <a:effectLst/>
                        </a:rPr>
                        <a:t>LED</a:t>
                      </a:r>
                      <a:r>
                        <a:rPr lang="zh-CN" sz="1900" dirty="0">
                          <a:effectLst/>
                        </a:rPr>
                        <a:t>和</a:t>
                      </a:r>
                      <a:r>
                        <a:rPr lang="en-US" sz="1900" dirty="0">
                          <a:effectLst/>
                        </a:rPr>
                        <a:t>7</a:t>
                      </a:r>
                      <a:r>
                        <a:rPr lang="zh-CN" sz="1900" dirty="0">
                          <a:effectLst/>
                        </a:rPr>
                        <a:t>段数码管）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12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HDMI</a:t>
                      </a:r>
                      <a:r>
                        <a:rPr lang="zh-CN" sz="1900" dirty="0">
                          <a:effectLst/>
                        </a:rPr>
                        <a:t>输入（上）</a:t>
                      </a:r>
                      <a:endParaRPr lang="zh-CN" sz="19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HDMI</a:t>
                      </a:r>
                      <a:r>
                        <a:rPr lang="zh-CN" sz="1900" dirty="0">
                          <a:effectLst/>
                        </a:rPr>
                        <a:t>输出（下）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4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SRAM</a:t>
                      </a:r>
                      <a:r>
                        <a:rPr lang="zh-CN" sz="1900" dirty="0">
                          <a:effectLst/>
                        </a:rPr>
                        <a:t>静态存储器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13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FPGA</a:t>
                      </a:r>
                      <a:r>
                        <a:rPr lang="zh-CN" sz="1900">
                          <a:effectLst/>
                        </a:rPr>
                        <a:t>配置（</a:t>
                      </a:r>
                      <a:r>
                        <a:rPr lang="en-US" sz="1900">
                          <a:effectLst/>
                        </a:rPr>
                        <a:t>USB-JTAG</a:t>
                      </a:r>
                      <a:r>
                        <a:rPr lang="zh-CN" sz="1900">
                          <a:effectLst/>
                        </a:rPr>
                        <a:t>）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5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DDR3 SDRAM</a:t>
                      </a:r>
                      <a:r>
                        <a:rPr lang="zh-CN" sz="1900" dirty="0">
                          <a:effectLst/>
                        </a:rPr>
                        <a:t>动态存储器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14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Pmod™</a:t>
                      </a:r>
                      <a:r>
                        <a:rPr lang="zh-CN" sz="1900">
                          <a:effectLst/>
                        </a:rPr>
                        <a:t>扩展口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6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NOR </a:t>
                      </a:r>
                      <a:r>
                        <a:rPr lang="zh-CN" sz="1900">
                          <a:effectLst/>
                        </a:rPr>
                        <a:t>型并行闪存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15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SFP+</a:t>
                      </a:r>
                      <a:r>
                        <a:rPr lang="zh-CN" sz="1900" dirty="0">
                          <a:effectLst/>
                        </a:rPr>
                        <a:t>光模块接口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7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RS232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16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SATA</a:t>
                      </a:r>
                      <a:r>
                        <a:rPr lang="zh-CN" sz="1900" dirty="0">
                          <a:effectLst/>
                        </a:rPr>
                        <a:t>接口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68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8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MicroSD</a:t>
                      </a:r>
                      <a:r>
                        <a:rPr lang="zh-CN" sz="1900">
                          <a:effectLst/>
                        </a:rPr>
                        <a:t>卡槽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17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900" dirty="0">
                          <a:effectLst/>
                        </a:rPr>
                        <a:t>麦克风输入和单声道耳机接口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9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USB-OTG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USB-HID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18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SPI</a:t>
                      </a:r>
                      <a:r>
                        <a:rPr lang="zh-CN" sz="1900" dirty="0">
                          <a:effectLst/>
                        </a:rPr>
                        <a:t>闪存（</a:t>
                      </a:r>
                      <a:r>
                        <a:rPr lang="en-US" sz="1900" dirty="0">
                          <a:effectLst/>
                        </a:rPr>
                        <a:t>FPGA</a:t>
                      </a:r>
                      <a:r>
                        <a:rPr lang="zh-CN" sz="1900" dirty="0">
                          <a:effectLst/>
                        </a:rPr>
                        <a:t>配置用）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67544" y="4114760"/>
          <a:ext cx="7920881" cy="2316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0935"/>
                <a:gridCol w="1160147"/>
                <a:gridCol w="2249463"/>
                <a:gridCol w="2130336"/>
              </a:tblGrid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900" dirty="0">
                          <a:effectLst/>
                        </a:rPr>
                        <a:t>FPGA</a:t>
                      </a:r>
                      <a:r>
                        <a:rPr lang="en-US" sz="1900" dirty="0">
                          <a:effectLst/>
                        </a:rPr>
                        <a:t> 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XC7K70T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XC7K160T (SWORD)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XC7K325T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Logic Cells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65,600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162,240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326,080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BlockRAM</a:t>
                      </a:r>
                      <a:r>
                        <a:rPr lang="en-US" sz="1900" dirty="0">
                          <a:effectLst/>
                        </a:rPr>
                        <a:t> (Kb)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4,860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11,700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16,020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DSP Slices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240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600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840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PCIe</a:t>
                      </a:r>
                      <a:r>
                        <a:rPr lang="en-US" sz="1900" dirty="0">
                          <a:effectLst/>
                        </a:rPr>
                        <a:t>® Gen2 Blocks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1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GTX Transceivers</a:t>
                      </a:r>
                      <a:br>
                        <a:rPr lang="en-US" sz="1900" dirty="0">
                          <a:effectLst/>
                        </a:rPr>
                      </a:br>
                      <a:r>
                        <a:rPr lang="en-US" sz="1900" dirty="0">
                          <a:effectLst/>
                        </a:rPr>
                        <a:t>(12.5 Gb/s Max Rate)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8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8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16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4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I/O Pins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300</a:t>
                      </a:r>
                      <a:endParaRPr lang="zh-CN" sz="19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</a:rPr>
                        <a:t>400</a:t>
                      </a:r>
                      <a:endParaRPr lang="zh-CN" sz="19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500</a:t>
                      </a:r>
                      <a:endParaRPr lang="zh-CN" sz="19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3949588" y="4114760"/>
            <a:ext cx="2376264" cy="23164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3" y="116635"/>
            <a:ext cx="7571460" cy="69181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实验平台</a:t>
            </a:r>
            <a:r>
              <a:rPr lang="zh-CN" altLang="en-US" sz="4800" dirty="0"/>
              <a:t>板级资源</a:t>
            </a:r>
            <a:endParaRPr lang="zh-CN" altLang="en-US" sz="4800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1052736"/>
            <a:ext cx="51845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SWORD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平台具体硬件功能包括：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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主芯片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Kintex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™-7 XC7K160T-1FFG676 FPGA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162,240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个逻辑单元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11,700Kb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容量的片内存储器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DSP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快速乘法器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PCIe® 2.0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硬核控制器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12.5Gbps GTX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高速串行收发器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80112" y="1145068"/>
            <a:ext cx="4595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配置方式：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USB-JTAG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SPI Flash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8201" y="3429000"/>
            <a:ext cx="5110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512M Byte DDR3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存储器（数据位宽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32bit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32M Byte NOR FLASH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存储器（数据位宽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32bit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6M Byte SRAM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存储器（数据位宽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48bit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984" y="2047875"/>
            <a:ext cx="1390650" cy="138112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3" y="116635"/>
            <a:ext cx="7571460" cy="691815"/>
          </a:xfrm>
        </p:spPr>
        <p:txBody>
          <a:bodyPr>
            <a:no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Sword</a:t>
            </a:r>
            <a:r>
              <a: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实验平台</a:t>
            </a:r>
            <a:r>
              <a:rPr lang="zh-CN" altLang="en-US" sz="4800" dirty="0"/>
              <a:t>板级资源</a:t>
            </a:r>
            <a:endParaRPr lang="zh-CN" altLang="en-US" sz="4800" dirty="0"/>
          </a:p>
        </p:txBody>
      </p:sp>
      <p:sp>
        <p:nvSpPr>
          <p:cNvPr id="9" name="文本框 8"/>
          <p:cNvSpPr txBox="1"/>
          <p:nvPr/>
        </p:nvSpPr>
        <p:spPr>
          <a:xfrm>
            <a:off x="204936" y="1196752"/>
            <a:ext cx="87595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主要接口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10M/100M/1000M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网口（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RJ45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UART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VGA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RGB656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USB-OTG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接口（可接电脑，鼠标，键盘）</a:t>
            </a:r>
            <a:endParaRPr lang="en-US" altLang="zh-CN" sz="18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PS2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接口（可接鼠标，键盘）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卡插槽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HDMI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输入接口（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1080P/30fps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HDMI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输出接口（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1080P/30fps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Pmod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接口（其中一个接到内部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转换器）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Arduino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JTAG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接口（烧录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FPGA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程序和调试用）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580112" y="1233433"/>
            <a:ext cx="45958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个单色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（串行）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个拨码开关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个按键开关</a:t>
            </a:r>
            <a:endParaRPr lang="en-US" altLang="zh-CN" sz="18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个自定义按键开关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个复位）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个七段数码显示管（串行）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个三色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个三轴加速度计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个温度传感器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个扬声器放大器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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个数字麦克风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30833" y="4843904"/>
            <a:ext cx="554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另外，配件中兼容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Arduino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扩展接口的扩展板型号为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SWORD-002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，可以直接插在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SWORD4.0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主板上使用。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30833" y="5555372"/>
            <a:ext cx="554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包括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4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个七段数码显示管（并行）、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8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个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LED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（并行）、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个彩色按键、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Helvetica Neue"/>
              </a:rPr>
              <a:t>个蜂鸣器</a:t>
            </a:r>
            <a:endParaRPr lang="zh-CN" altLang="en-US" dirty="0"/>
          </a:p>
        </p:txBody>
      </p:sp>
      <p:pic>
        <p:nvPicPr>
          <p:cNvPr id="14" name="图片 1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228" y="4816470"/>
            <a:ext cx="28575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547665" y="2852939"/>
            <a:ext cx="6020916" cy="2526159"/>
          </a:xfrm>
        </p:spPr>
        <p:txBody>
          <a:bodyPr/>
          <a:lstStyle/>
          <a:p>
            <a:pPr algn="ctr">
              <a:buClr>
                <a:srgbClr val="FF3300"/>
              </a:buClr>
              <a:buSzPct val="95000"/>
              <a:buFont typeface="Wingdings" panose="05000000000000000000" pitchFamily="2" charset="2"/>
              <a:buChar char="¤"/>
            </a:pPr>
            <a:r>
              <a:rPr lang="en-US" altLang="zh-CN" sz="8800" dirty="0">
                <a:solidFill>
                  <a:srgbClr val="000000"/>
                </a:solidFill>
                <a:latin typeface="Algerian" panose="04020705040A02060702" pitchFamily="82" charset="0"/>
                <a:ea typeface="+mn-ea"/>
              </a:rPr>
              <a:t>END</a:t>
            </a:r>
            <a:endParaRPr lang="zh-CN" altLang="en-US" sz="8800" dirty="0">
              <a:solidFill>
                <a:srgbClr val="000000"/>
              </a:solidFill>
              <a:latin typeface="Algerian" panose="04020705040A02060702" pitchFamily="82" charset="0"/>
              <a:ea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63237b8-96b3-400f-9371-80da43ba0832"/>
  <p:tag name="COMMONDATA" val="eyJoZGlkIjoiNmU2NTc5OGIwNmM0MmMxNzIwM2U0NDA3MGM1NGY1ZTkifQ=="/>
  <p:tag name="commondata" val="eyJoZGlkIjoiYzQ2ODMxNGM3ZGNiNTdhYjNhZjZhN2YwNjhkY2YwZW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10981</Words>
  <Application>WPS 演示</Application>
  <PresentationFormat>全屏显示(4:3)</PresentationFormat>
  <Paragraphs>1098</Paragraphs>
  <Slides>84</Slides>
  <Notes>15</Notes>
  <HiddenSlides>0</HiddenSlides>
  <MMClips>1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84</vt:i4>
      </vt:variant>
    </vt:vector>
  </HeadingPairs>
  <TitlesOfParts>
    <vt:vector size="105" baseType="lpstr">
      <vt:lpstr>Arial</vt:lpstr>
      <vt:lpstr>宋体</vt:lpstr>
      <vt:lpstr>Wingdings</vt:lpstr>
      <vt:lpstr>Calibri</vt:lpstr>
      <vt:lpstr>Calibri</vt:lpstr>
      <vt:lpstr>微软雅黑</vt:lpstr>
      <vt:lpstr>黑体</vt:lpstr>
      <vt:lpstr>Times New Roman</vt:lpstr>
      <vt:lpstr>Cambria</vt:lpstr>
      <vt:lpstr>-apple-system</vt:lpstr>
      <vt:lpstr>Segoe Print</vt:lpstr>
      <vt:lpstr>Arial Unicode MS</vt:lpstr>
      <vt:lpstr>Roboto</vt:lpstr>
      <vt:lpstr>Helvetica Neue</vt:lpstr>
      <vt:lpstr>Algerian</vt:lpstr>
      <vt:lpstr>KSOFF8957A5C</vt:lpstr>
      <vt:lpstr>Office 主题</vt:lpstr>
      <vt:lpstr>Paint.Picture</vt:lpstr>
      <vt:lpstr>Equation.3</vt:lpstr>
      <vt:lpstr>Equation.3</vt:lpstr>
      <vt:lpstr>Paint.Picture</vt:lpstr>
      <vt:lpstr>计算机逻辑设计实验 Lab4 VIVADO介绍&amp;模块封装  </vt:lpstr>
      <vt:lpstr>Course Outline</vt:lpstr>
      <vt:lpstr>实验目的</vt:lpstr>
      <vt:lpstr>实验环境</vt:lpstr>
      <vt:lpstr>实验目标及任务</vt:lpstr>
      <vt:lpstr>实验目标及任务</vt:lpstr>
      <vt:lpstr>实验目标及任务</vt:lpstr>
      <vt:lpstr>PowerPoint 演示文稿</vt:lpstr>
      <vt:lpstr>Vivado工具简介</vt:lpstr>
      <vt:lpstr>Vivado工具简介</vt:lpstr>
      <vt:lpstr>Vivado设计流程-软件启动</vt:lpstr>
      <vt:lpstr>Vivado设计流程-工程创建</vt:lpstr>
      <vt:lpstr>Vivado设计流程-工程创建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模拟代码</vt:lpstr>
      <vt:lpstr>PowerPoint 演示文稿</vt:lpstr>
      <vt:lpstr>PowerPoint 演示文稿</vt:lpstr>
      <vt:lpstr>模拟下载时间说明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绘图</vt:lpstr>
      <vt:lpstr>PowerPoint 演示文稿</vt:lpstr>
      <vt:lpstr>Logisim绘图</vt:lpstr>
      <vt:lpstr>绘图</vt:lpstr>
      <vt:lpstr>绘图</vt:lpstr>
      <vt:lpstr>绘图</vt:lpstr>
      <vt:lpstr>仿真检查电路功能</vt:lpstr>
      <vt:lpstr>为输入输出端口命名，以便转为 Verilog</vt:lpstr>
      <vt:lpstr>导出为Verilog</vt:lpstr>
      <vt:lpstr>导出为Verilog</vt:lpstr>
      <vt:lpstr>导出为Verilog</vt:lpstr>
      <vt:lpstr>Sword实验板资源介绍</vt:lpstr>
      <vt:lpstr>Sword实验平台板级资源</vt:lpstr>
      <vt:lpstr>Sword实验平台板级资源</vt:lpstr>
      <vt:lpstr>Sword平台板级资源说明</vt:lpstr>
      <vt:lpstr>Sword实验平台板级资源</vt:lpstr>
      <vt:lpstr>Sword实验平台板级资源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　　</dc:title>
  <dc:creator>made</dc:creator>
  <cp:lastModifiedBy>夏沫夜色</cp:lastModifiedBy>
  <cp:revision>888</cp:revision>
  <dcterms:created xsi:type="dcterms:W3CDTF">2013-04-10T02:56:00Z</dcterms:created>
  <dcterms:modified xsi:type="dcterms:W3CDTF">2026-03-12T08:57:47Z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28329E1C865F48529663206D97017AF1_13</vt:lpwstr>
  </property>
</Properties>
</file>