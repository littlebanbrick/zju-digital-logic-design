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</p:sldMasterIdLst>
  <p:notesMasterIdLst>
    <p:notesMasterId r:id="rId46"/>
  </p:notesMasterIdLst>
  <p:sldIdLst>
    <p:sldId id="256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303" r:id="rId16"/>
    <p:sldId id="304" r:id="rId17"/>
    <p:sldId id="281" r:id="rId18"/>
    <p:sldId id="282" r:id="rId19"/>
    <p:sldId id="302" r:id="rId20"/>
    <p:sldId id="326" r:id="rId21"/>
    <p:sldId id="305" r:id="rId22"/>
    <p:sldId id="283" r:id="rId23"/>
    <p:sldId id="284" r:id="rId24"/>
    <p:sldId id="344" r:id="rId25"/>
    <p:sldId id="363" r:id="rId26"/>
    <p:sldId id="364" r:id="rId27"/>
    <p:sldId id="365" r:id="rId28"/>
    <p:sldId id="366" r:id="rId29"/>
    <p:sldId id="285" r:id="rId30"/>
    <p:sldId id="286" r:id="rId31"/>
    <p:sldId id="345" r:id="rId32"/>
    <p:sldId id="287" r:id="rId33"/>
    <p:sldId id="325" r:id="rId34"/>
    <p:sldId id="293" r:id="rId35"/>
    <p:sldId id="294" r:id="rId36"/>
    <p:sldId id="288" r:id="rId37"/>
    <p:sldId id="289" r:id="rId38"/>
    <p:sldId id="290" r:id="rId39"/>
    <p:sldId id="291" r:id="rId40"/>
    <p:sldId id="300" r:id="rId41"/>
    <p:sldId id="383" r:id="rId42"/>
    <p:sldId id="384" r:id="rId43"/>
    <p:sldId id="360" r:id="rId44"/>
    <p:sldId id="269" r:id="rId45"/>
  </p:sldIdLst>
  <p:sldSz cx="9144000" cy="6858000" type="screen4x3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303"/>
            <p14:sldId id="304"/>
            <p14:sldId id="281"/>
            <p14:sldId id="282"/>
            <p14:sldId id="302"/>
            <p14:sldId id="326"/>
            <p14:sldId id="305"/>
            <p14:sldId id="283"/>
            <p14:sldId id="284"/>
            <p14:sldId id="344"/>
            <p14:sldId id="363"/>
            <p14:sldId id="364"/>
            <p14:sldId id="365"/>
            <p14:sldId id="366"/>
            <p14:sldId id="285"/>
            <p14:sldId id="286"/>
            <p14:sldId id="345"/>
            <p14:sldId id="287"/>
            <p14:sldId id="325"/>
            <p14:sldId id="293"/>
            <p14:sldId id="294"/>
            <p14:sldId id="288"/>
            <p14:sldId id="289"/>
            <p14:sldId id="290"/>
            <p14:sldId id="291"/>
            <p14:sldId id="300"/>
            <p14:sldId id="383"/>
            <p14:sldId id="384"/>
            <p14:sldId id="360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2" autoAdjust="0"/>
    <p:restoredTop sz="82100" autoAdjust="0"/>
  </p:normalViewPr>
  <p:slideViewPr>
    <p:cSldViewPr showGuides="1">
      <p:cViewPr varScale="1">
        <p:scale>
          <a:sx n="132" d="100"/>
          <a:sy n="132" d="100"/>
        </p:scale>
        <p:origin x="5166" y="126"/>
      </p:cViewPr>
      <p:guideLst>
        <p:guide orient="horz" pos="2160"/>
        <p:guide pos="2954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2026/3/11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anose="05000000000000000000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p"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 sz="1800" b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anose="05000000000000000000" pitchFamily="2" charset="2"/>
              <a:buChar char="n"/>
              <a:defRPr sz="1600"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400"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p"/>
        <a:defRPr sz="22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p"/>
        <a:defRPr sz="22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817251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baike.baidu.com/view/3314.ht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21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9.wmf"/><Relationship Id="rId2" Type="http://schemas.openxmlformats.org/officeDocument/2006/relationships/tags" Target="../tags/tag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8.png"/><Relationship Id="rId4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41.wmf"/><Relationship Id="rId2" Type="http://schemas.openxmlformats.org/officeDocument/2006/relationships/tags" Target="../tags/tag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4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9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27851" y="786671"/>
            <a:ext cx="8134672" cy="172819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宋体" panose="02010600030101010101" pitchFamily="2" charset="-122"/>
              </a:rPr>
              <a:t>数字逻辑设计实验</a:t>
            </a:r>
            <a:endParaRPr lang="zh-CN" altLang="en-US" sz="40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11910" y="2919730"/>
            <a:ext cx="7149465" cy="30448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洪奇军</a:t>
            </a:r>
          </a:p>
          <a:p>
            <a:pPr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redflag@zju.edu.cn</a:t>
            </a:r>
          </a:p>
          <a:p>
            <a:pPr>
              <a:spcBef>
                <a:spcPct val="0"/>
              </a:spcBef>
            </a:pPr>
            <a:r>
              <a:rPr lang="en-US" altLang="zh-CN" sz="3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ftp://10.78.18.205</a:t>
            </a:r>
            <a:endParaRPr lang="en-US" altLang="zh-CN" sz="30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2026</a:t>
            </a:r>
            <a:r>
              <a:rPr lang="zh-CN" altLang="en-US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月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日</a:t>
            </a:r>
          </a:p>
          <a:p>
            <a:pPr>
              <a:lnSpc>
                <a:spcPct val="120000"/>
              </a:lnSpc>
            </a:pPr>
            <a:endParaRPr lang="zh-CN" altLang="en-US" b="1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571" y="2194873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实验</a:t>
            </a:r>
            <a:r>
              <a:rPr lang="en-US" altLang="zh-CN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2</a:t>
            </a:r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、基本开关电路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  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r>
              <a:rPr lang="zh-CN" altLang="en-US" dirty="0"/>
              <a:t>实验设备与材料</a:t>
            </a:r>
            <a:endParaRPr lang="en-US" altLang="zh-CN" dirty="0"/>
          </a:p>
          <a:p>
            <a:r>
              <a:rPr lang="zh-CN" altLang="en-US" dirty="0"/>
              <a:t>实验任务</a:t>
            </a:r>
            <a:endParaRPr lang="en-US" altLang="zh-CN" dirty="0"/>
          </a:p>
          <a:p>
            <a:r>
              <a:rPr lang="zh-CN" altLang="en-US" dirty="0"/>
              <a:t>实验原理</a:t>
            </a:r>
            <a:endParaRPr lang="en-US" altLang="zh-CN" dirty="0"/>
          </a:p>
          <a:p>
            <a:r>
              <a:rPr lang="zh-CN" altLang="en-US" dirty="0"/>
              <a:t>实验内容与步骤</a:t>
            </a:r>
          </a:p>
        </p:txBody>
      </p:sp>
      <p:graphicFrame>
        <p:nvGraphicFramePr>
          <p:cNvPr id="6" name="对象 5"/>
          <p:cNvGraphicFramePr/>
          <p:nvPr/>
        </p:nvGraphicFramePr>
        <p:xfrm>
          <a:off x="701040" y="3121025"/>
          <a:ext cx="7543165" cy="3005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r:id="rId3" imgW="9267825" imgH="2686050" progId="Paint.Picture">
                  <p:embed/>
                </p:oleObj>
              </mc:Choice>
              <mc:Fallback>
                <p:oleObj r:id="rId3" imgW="9267825" imgH="268605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1040" y="3121025"/>
                        <a:ext cx="7543165" cy="3005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866390" y="2672080"/>
            <a:ext cx="43700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ftp://stu:stu@10.78.18.201</a:t>
            </a:r>
            <a:br>
              <a:rPr lang="zh-CN" altLang="en-US" sz="2400">
                <a:solidFill>
                  <a:srgbClr val="FF0000"/>
                </a:solidFill>
              </a:rPr>
            </a:br>
            <a:r>
              <a:rPr lang="en-US" altLang="zh-CN" sz="2400">
                <a:solidFill>
                  <a:srgbClr val="FF0000"/>
                </a:solidFill>
              </a:rPr>
              <a:t>ftp://10.78.18.201</a:t>
            </a:r>
          </a:p>
          <a:p>
            <a:r>
              <a:rPr lang="en-US" altLang="zh-CN" sz="2400">
                <a:solidFill>
                  <a:srgbClr val="FF0000"/>
                </a:solidFill>
              </a:rPr>
              <a:t>ftp://10.78.18.205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507288" cy="5184576"/>
          </a:xfrm>
        </p:spPr>
        <p:txBody>
          <a:bodyPr>
            <a:normAutofit/>
          </a:bodyPr>
          <a:lstStyle/>
          <a:p>
            <a:r>
              <a:rPr lang="zh-CN" altLang="en-US" dirty="0"/>
              <a:t>掌握逻辑开关电路的基本结构</a:t>
            </a:r>
          </a:p>
          <a:p>
            <a:r>
              <a:rPr lang="zh-CN" altLang="en-US" dirty="0"/>
              <a:t>掌握二极管导通和截止的概念</a:t>
            </a:r>
          </a:p>
          <a:p>
            <a:r>
              <a:rPr lang="zh-CN" altLang="en-US" dirty="0"/>
              <a:t>用二极管、三极管构成简单逻辑门电路</a:t>
            </a:r>
          </a:p>
          <a:p>
            <a:r>
              <a:rPr lang="zh-CN" altLang="en-US" dirty="0"/>
              <a:t>掌握最简单的逻辑门电路构成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实验设备与材料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实验设备</a:t>
            </a:r>
          </a:p>
          <a:p>
            <a:pPr lvl="1"/>
            <a:r>
              <a:rPr lang="zh-CN" altLang="en-US" dirty="0"/>
              <a:t>数字示波器</a:t>
            </a:r>
            <a:r>
              <a:rPr lang="en-US" altLang="zh-CN" dirty="0"/>
              <a:t>RIGOL-DS162	1</a:t>
            </a:r>
            <a:r>
              <a:rPr lang="zh-CN" altLang="en-US" dirty="0"/>
              <a:t>台</a:t>
            </a:r>
          </a:p>
          <a:p>
            <a:pPr lvl="1"/>
            <a:r>
              <a:rPr lang="zh-CN" altLang="en-US" dirty="0"/>
              <a:t>函数发生器</a:t>
            </a:r>
            <a:r>
              <a:rPr lang="en-US" altLang="zh-CN" dirty="0"/>
              <a:t>YB1638		1</a:t>
            </a:r>
            <a:r>
              <a:rPr lang="zh-CN" altLang="en-US" dirty="0"/>
              <a:t>台</a:t>
            </a:r>
          </a:p>
          <a:p>
            <a:pPr lvl="1"/>
            <a:r>
              <a:rPr lang="zh-CN" altLang="en-US" dirty="0"/>
              <a:t>数字万用表			</a:t>
            </a:r>
            <a:r>
              <a:rPr lang="en-US" altLang="zh-CN" dirty="0"/>
              <a:t>1</a:t>
            </a:r>
            <a:r>
              <a:rPr lang="zh-CN" altLang="en-US" dirty="0"/>
              <a:t>只</a:t>
            </a:r>
          </a:p>
          <a:p>
            <a:pPr lvl="1"/>
            <a:r>
              <a:rPr lang="zh-CN" altLang="en-US" dirty="0"/>
              <a:t>电路设计实验箱	</a:t>
            </a:r>
            <a:r>
              <a:rPr lang="en-US" altLang="zh-CN" dirty="0"/>
              <a:t>	</a:t>
            </a:r>
            <a:r>
              <a:rPr lang="zh-CN" altLang="en-US" dirty="0"/>
              <a:t>	</a:t>
            </a:r>
            <a:r>
              <a:rPr lang="en-US" altLang="zh-CN" dirty="0"/>
              <a:t>1</a:t>
            </a:r>
            <a:r>
              <a:rPr lang="zh-CN" altLang="en-US" dirty="0"/>
              <a:t>台</a:t>
            </a:r>
          </a:p>
          <a:p>
            <a:r>
              <a:rPr lang="zh-CN" altLang="en-US" dirty="0"/>
              <a:t>实验材料</a:t>
            </a:r>
          </a:p>
          <a:p>
            <a:pPr lvl="1"/>
            <a:r>
              <a:rPr lang="zh-CN" altLang="en-US" dirty="0"/>
              <a:t>二极管</a:t>
            </a:r>
            <a:r>
              <a:rPr lang="en-US" altLang="zh-CN" dirty="0"/>
              <a:t>IN4001		3</a:t>
            </a:r>
            <a:r>
              <a:rPr lang="zh-CN" altLang="en-US" dirty="0"/>
              <a:t>只</a:t>
            </a:r>
          </a:p>
          <a:p>
            <a:pPr lvl="1"/>
            <a:r>
              <a:rPr lang="zh-CN" altLang="en-US" dirty="0"/>
              <a:t>三极管</a:t>
            </a:r>
            <a:r>
              <a:rPr lang="en-US" altLang="zh-CN" dirty="0"/>
              <a:t>9013		1</a:t>
            </a:r>
            <a:r>
              <a:rPr lang="zh-CN" altLang="en-US" dirty="0"/>
              <a:t>只</a:t>
            </a:r>
          </a:p>
          <a:p>
            <a:pPr lvl="1"/>
            <a:r>
              <a:rPr lang="zh-CN" altLang="en-US" dirty="0"/>
              <a:t>发光二极管		</a:t>
            </a:r>
            <a:r>
              <a:rPr lang="en-US" altLang="zh-CN" dirty="0"/>
              <a:t>1</a:t>
            </a:r>
            <a:r>
              <a:rPr lang="zh-CN" altLang="en-US" dirty="0"/>
              <a:t>只</a:t>
            </a:r>
          </a:p>
          <a:p>
            <a:pPr lvl="1"/>
            <a:r>
              <a:rPr lang="zh-CN" altLang="en-US" dirty="0"/>
              <a:t>电阻</a:t>
            </a:r>
          </a:p>
          <a:p>
            <a:pPr lvl="2"/>
            <a:r>
              <a:rPr lang="en-US" altLang="zh-CN" dirty="0"/>
              <a:t>10KΩ  		5</a:t>
            </a:r>
            <a:r>
              <a:rPr lang="zh-CN" altLang="en-US" dirty="0"/>
              <a:t>只</a:t>
            </a:r>
          </a:p>
          <a:p>
            <a:pPr lvl="2"/>
            <a:r>
              <a:rPr lang="en-US" altLang="zh-CN" dirty="0"/>
              <a:t>5.1KΩ 		3</a:t>
            </a:r>
            <a:r>
              <a:rPr lang="zh-CN" altLang="en-US" dirty="0"/>
              <a:t>只</a:t>
            </a:r>
          </a:p>
          <a:p>
            <a:pPr lvl="2"/>
            <a:r>
              <a:rPr lang="en-US" altLang="zh-CN" dirty="0"/>
              <a:t>1KΩ			5</a:t>
            </a:r>
            <a:r>
              <a:rPr lang="zh-CN" altLang="en-US" dirty="0"/>
              <a:t>只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用二极管实现正逻辑</a:t>
            </a:r>
            <a:r>
              <a:rPr lang="zh-CN" altLang="en-US" dirty="0">
                <a:solidFill>
                  <a:srgbClr val="FF0000"/>
                </a:solidFill>
              </a:rPr>
              <a:t>与门</a:t>
            </a:r>
            <a:r>
              <a:rPr lang="zh-CN" altLang="en-US" dirty="0"/>
              <a:t>，并测量输入输出电压参数，分析其逻辑功能</a:t>
            </a:r>
          </a:p>
          <a:p>
            <a:r>
              <a:rPr lang="zh-CN" altLang="en-US" dirty="0"/>
              <a:t>用二极管实现正逻辑</a:t>
            </a:r>
            <a:r>
              <a:rPr lang="zh-CN" altLang="en-US" dirty="0">
                <a:solidFill>
                  <a:srgbClr val="FF0000"/>
                </a:solidFill>
              </a:rPr>
              <a:t>或门</a:t>
            </a:r>
            <a:r>
              <a:rPr lang="zh-CN" altLang="en-US" dirty="0"/>
              <a:t>，并测量输入输出电压参数，分析其逻辑功能</a:t>
            </a:r>
          </a:p>
          <a:p>
            <a:r>
              <a:rPr lang="zh-CN" altLang="en-US" dirty="0"/>
              <a:t>用三极管反向特性实现正逻辑</a:t>
            </a:r>
            <a:r>
              <a:rPr lang="zh-CN" altLang="en-US" dirty="0">
                <a:solidFill>
                  <a:srgbClr val="FF0000"/>
                </a:solidFill>
              </a:rPr>
              <a:t>非门</a:t>
            </a:r>
            <a:r>
              <a:rPr lang="zh-CN" altLang="en-US" dirty="0"/>
              <a:t>，测量输入输出电压参数，分析其逻辑功能</a:t>
            </a:r>
          </a:p>
          <a:p>
            <a:r>
              <a:rPr lang="zh-CN" altLang="en-US" dirty="0"/>
              <a:t>采用前面的与门和非门实现</a:t>
            </a:r>
            <a:r>
              <a:rPr lang="zh-CN" altLang="en-US" dirty="0">
                <a:solidFill>
                  <a:srgbClr val="FF0000"/>
                </a:solidFill>
              </a:rPr>
              <a:t>与非门</a:t>
            </a:r>
            <a:r>
              <a:rPr lang="zh-CN" altLang="en-US" dirty="0"/>
              <a:t>，测量输入输出电压参数，分析其逻辑功能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873" y="1196752"/>
            <a:ext cx="8229600" cy="4597971"/>
          </a:xfrm>
        </p:spPr>
        <p:txBody>
          <a:bodyPr/>
          <a:lstStyle/>
          <a:p>
            <a:r>
              <a:rPr lang="zh-CN" altLang="en-US" dirty="0"/>
              <a:t>常用逻辑电平标准</a:t>
            </a:r>
          </a:p>
        </p:txBody>
      </p:sp>
      <p:graphicFrame>
        <p:nvGraphicFramePr>
          <p:cNvPr id="6" name="表格"/>
          <p:cNvGraphicFramePr>
            <a:graphicFrameLocks noGrp="1"/>
          </p:cNvGraphicFramePr>
          <p:nvPr/>
        </p:nvGraphicFramePr>
        <p:xfrm>
          <a:off x="611560" y="1772816"/>
          <a:ext cx="8215313" cy="392906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85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4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2815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0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逻辑电平</a:t>
                      </a: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i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kumimoji="0" lang="en-US" altLang="zh-CN" sz="2000" b="1" i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CC</a:t>
                      </a:r>
                      <a:r>
                        <a:rPr kumimoji="0" lang="en-US" altLang="zh-CN" sz="2000" b="1" i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 / V</a:t>
                      </a:r>
                      <a:endParaRPr kumimoji="0" lang="zh-CN" altLang="en-US" sz="2000" b="1" i="1" kern="1200" baseline="-250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i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kumimoji="0" lang="en-US" altLang="zh-CN" sz="2000" b="1" i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OH</a:t>
                      </a:r>
                      <a:r>
                        <a:rPr kumimoji="0" lang="en-US" altLang="zh-CN" sz="2000" b="1" i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 / V</a:t>
                      </a:r>
                      <a:endParaRPr kumimoji="0" lang="zh-CN" altLang="en-US" sz="2000" b="1" i="1" kern="1200" baseline="-250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i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kumimoji="0" lang="en-US" altLang="zh-CN" sz="2000" b="1" i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OL</a:t>
                      </a:r>
                      <a:r>
                        <a:rPr kumimoji="0" lang="en-US" altLang="zh-CN" sz="2000" b="1" i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 / V</a:t>
                      </a:r>
                      <a:endParaRPr kumimoji="0" lang="zh-CN" altLang="en-US" sz="2000" b="1" i="1" kern="1200" baseline="-250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i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kumimoji="0" lang="en-US" altLang="zh-CN" sz="2000" b="1" i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IH</a:t>
                      </a:r>
                      <a:r>
                        <a:rPr kumimoji="0" lang="en-US" altLang="zh-CN" sz="2000" b="1" i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 / V</a:t>
                      </a:r>
                      <a:endParaRPr kumimoji="0" lang="zh-CN" altLang="en-US" sz="2000" b="1" i="1" kern="1200" baseline="-250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i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kumimoji="0" lang="en-US" altLang="zh-CN" sz="2000" b="1" i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IL</a:t>
                      </a:r>
                      <a:r>
                        <a:rPr kumimoji="0" lang="en-US" altLang="zh-CN" sz="2000" b="1" i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 / V</a:t>
                      </a:r>
                      <a:endParaRPr kumimoji="0" lang="zh-CN" altLang="en-US" sz="2000" b="1" i="1" kern="1200" baseline="-250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说明</a:t>
                      </a: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93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TTL</a:t>
                      </a:r>
                      <a:endParaRPr kumimoji="0" lang="zh-CN" altLang="en-US" sz="20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5.0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2.4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0.4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2.0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0.8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输入脚悬空时默认为高电平</a:t>
                      </a: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LVTTL</a:t>
                      </a:r>
                      <a:endParaRPr kumimoji="0" lang="zh-CN" altLang="en-US" sz="20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3.3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2.4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0.4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2.0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0.8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LVTTL</a:t>
                      </a:r>
                      <a:endParaRPr kumimoji="0" lang="zh-CN" altLang="en-US" sz="20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2.5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2.0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0.2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1.7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0.7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CMOS</a:t>
                      </a:r>
                      <a:endParaRPr kumimoji="0" lang="zh-CN" altLang="en-US" sz="20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5.0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4.45</a:t>
                      </a:r>
                      <a:endParaRPr kumimoji="0" lang="zh-CN" altLang="en-US" sz="22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0.5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3.5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1.5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zh-CN" altLang="en-US" sz="20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输入阻抗非常之大</a:t>
                      </a:r>
                      <a:endParaRPr kumimoji="0" lang="zh-CN" altLang="en-US" sz="20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LVCMOS</a:t>
                      </a:r>
                      <a:endParaRPr kumimoji="0" lang="zh-CN" altLang="en-US" sz="20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3.3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3.2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0.1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2.0V</a:t>
                      </a:r>
                      <a:endParaRPr kumimoji="0" lang="zh-CN" altLang="en-US" sz="22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0.7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LVCMOS</a:t>
                      </a:r>
                      <a:endParaRPr kumimoji="0" lang="zh-CN" altLang="en-US" sz="20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2.5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2.0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0.1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≥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1.7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zh-CN" altLang="en-US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≤ </a:t>
                      </a:r>
                      <a:r>
                        <a:rPr kumimoji="0" lang="en-US" altLang="zh-CN" sz="22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0.7</a:t>
                      </a:r>
                      <a:endParaRPr kumimoji="0" lang="zh-CN" altLang="en-US" sz="22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893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RS232</a:t>
                      </a:r>
                      <a:endParaRPr kumimoji="0" lang="zh-CN" altLang="en-US" sz="20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±12~15</a:t>
                      </a:r>
                      <a:endParaRPr kumimoji="0" lang="zh-CN" altLang="en-US" sz="20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/>
                          <a:ea typeface="新宋体" panose="02010609030101010101" charset="-122"/>
                          <a:cs typeface="Times New Roman" panose="02020603050405020304"/>
                        </a:rPr>
                        <a:t>−</a:t>
                      </a:r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3 ~ </a:t>
                      </a:r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/>
                          <a:ea typeface="新宋体" panose="02010609030101010101" charset="-122"/>
                          <a:cs typeface="Times New Roman" panose="02020603050405020304"/>
                        </a:rPr>
                        <a:t>−</a:t>
                      </a:r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15</a:t>
                      </a:r>
                      <a:endParaRPr kumimoji="0" lang="zh-CN" altLang="en-US" sz="20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3 ~ 15</a:t>
                      </a:r>
                      <a:endParaRPr kumimoji="0" lang="zh-CN" altLang="en-US" sz="20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/>
                          <a:ea typeface="新宋体" panose="02010609030101010101" charset="-122"/>
                          <a:cs typeface="Times New Roman" panose="02020603050405020304"/>
                        </a:rPr>
                        <a:t>−</a:t>
                      </a:r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3 ~ </a:t>
                      </a:r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/>
                          <a:ea typeface="新宋体" panose="02010609030101010101" charset="-122"/>
                          <a:cs typeface="Times New Roman" panose="02020603050405020304"/>
                        </a:rPr>
                        <a:t>−</a:t>
                      </a:r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15</a:t>
                      </a:r>
                      <a:endParaRPr kumimoji="0" lang="zh-CN" altLang="en-US" sz="20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sz="20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3 ~ 15</a:t>
                      </a:r>
                      <a:endParaRPr kumimoji="0" lang="zh-CN" altLang="en-US" sz="20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zh-CN" altLang="en-US" sz="20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负逻辑</a:t>
                      </a: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7544" y="5798633"/>
            <a:ext cx="8458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TTL</a:t>
            </a:r>
            <a:r>
              <a:rPr lang="zh-CN" altLang="en-US" sz="1600" dirty="0"/>
              <a:t>：</a:t>
            </a:r>
            <a:r>
              <a:rPr lang="en-US" altLang="zh-CN" sz="1600" dirty="0"/>
              <a:t>Transistor-Transistor Logic</a:t>
            </a:r>
            <a:r>
              <a:rPr lang="zh-CN" altLang="en-US" sz="1600" dirty="0"/>
              <a:t>晶体管</a:t>
            </a:r>
            <a:r>
              <a:rPr lang="en-US" altLang="zh-CN" sz="1600" dirty="0"/>
              <a:t>-</a:t>
            </a:r>
            <a:r>
              <a:rPr lang="zh-CN" altLang="en-US" sz="1600" dirty="0"/>
              <a:t>晶体管逻辑（电路）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LVTTL:Low</a:t>
            </a:r>
            <a:r>
              <a:rPr lang="en-US" altLang="zh-CN" sz="1600" dirty="0"/>
              <a:t> voltage transistor </a:t>
            </a:r>
            <a:r>
              <a:rPr lang="en-US" altLang="zh-CN" sz="1600" dirty="0" err="1"/>
              <a:t>transistor</a:t>
            </a:r>
            <a:r>
              <a:rPr lang="en-US" altLang="zh-CN" sz="1600" dirty="0"/>
              <a:t> logic</a:t>
            </a:r>
            <a:r>
              <a:rPr lang="zh-CN" altLang="en-US" sz="1600" dirty="0"/>
              <a:t>低电压晶体管晶体管逻辑</a:t>
            </a:r>
            <a:r>
              <a:rPr lang="en-US" altLang="zh-CN" sz="1600" dirty="0"/>
              <a:t>.</a:t>
            </a:r>
            <a:r>
              <a:rPr lang="en-US" altLang="zh-CN" sz="1600" b="1" dirty="0"/>
              <a:t> Complementary Metal Oxide Semiconductor </a:t>
            </a:r>
            <a:r>
              <a:rPr lang="zh-CN" altLang="en-US" sz="1600" b="1" dirty="0"/>
              <a:t>互补金属氧化物半导体</a:t>
            </a:r>
            <a:r>
              <a:rPr lang="en-US" altLang="zh-CN" sz="1600" b="1" dirty="0"/>
              <a:t>.RS232:</a:t>
            </a:r>
            <a:r>
              <a:rPr lang="zh-CN" altLang="en-US" sz="1600" dirty="0">
                <a:hlinkClick r:id="rId3" action="ppaction://hlinkfile"/>
              </a:rPr>
              <a:t>异步传输</a:t>
            </a:r>
            <a:r>
              <a:rPr lang="zh-CN" altLang="en-US" sz="1600" dirty="0"/>
              <a:t>标准接口</a:t>
            </a:r>
            <a:r>
              <a:rPr lang="en-US" altLang="zh-CN" sz="1600" dirty="0"/>
              <a:t>,</a:t>
            </a:r>
            <a:r>
              <a:rPr lang="zh-CN" altLang="en-US" sz="1600" dirty="0"/>
              <a:t>个人</a:t>
            </a:r>
            <a:r>
              <a:rPr lang="zh-CN" altLang="en-US" sz="1600" dirty="0">
                <a:hlinkClick r:id="rId4" action="ppaction://hlinkfile"/>
              </a:rPr>
              <a:t>计算机</a:t>
            </a:r>
            <a:r>
              <a:rPr lang="zh-CN" altLang="en-US" sz="1600" dirty="0"/>
              <a:t>上会有两组 </a:t>
            </a:r>
            <a:r>
              <a:rPr lang="en-US" altLang="zh-CN" sz="1600" dirty="0"/>
              <a:t>RS-232 </a:t>
            </a:r>
            <a:r>
              <a:rPr lang="zh-CN" altLang="en-US" sz="1600" dirty="0"/>
              <a:t>接口，</a:t>
            </a:r>
            <a:r>
              <a:rPr lang="en-US" altLang="zh-CN" sz="1600" dirty="0"/>
              <a:t>COM1 </a:t>
            </a:r>
            <a:r>
              <a:rPr lang="zh-CN" altLang="en-US" sz="1600" dirty="0"/>
              <a:t>和 </a:t>
            </a:r>
            <a:r>
              <a:rPr lang="en-US" altLang="zh-CN" sz="1600" dirty="0"/>
              <a:t>COM2</a:t>
            </a:r>
            <a:r>
              <a:rPr lang="zh-CN" altLang="en-US" sz="1600" dirty="0"/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86A6AB-EF69-4210-AB68-C792C3FB11D5}" type="slidenum">
              <a:rPr lang="zh-CN" altLang="en-US"/>
              <a:t>7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95536" y="39813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二极管构成“与”门电路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内容占位符 3"/>
          <p:cNvSpPr txBox="1"/>
          <p:nvPr/>
        </p:nvSpPr>
        <p:spPr>
          <a:xfrm>
            <a:off x="457200" y="1196752"/>
            <a:ext cx="8229600" cy="15716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4320" indent="-27432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SzPct val="95000"/>
              <a:buFont typeface="Wingdings 2" panose="05020102010507070707"/>
              <a:buChar char=""/>
              <a:defRPr/>
            </a:pP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按正逻辑将表中电平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H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和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L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分别替换成逻辑值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和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0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，得 </a:t>
            </a:r>
            <a:r>
              <a:rPr lang="en-US" altLang="zh-CN" sz="28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与 </a:t>
            </a:r>
            <a:r>
              <a:rPr lang="en-US" altLang="zh-CN" sz="28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的关系为 </a:t>
            </a:r>
            <a:r>
              <a:rPr lang="en-US" altLang="zh-CN" sz="28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en-US" altLang="zh-CN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=</a:t>
            </a:r>
            <a:r>
              <a:rPr lang="en-US" altLang="zh-CN" sz="28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ABC</a:t>
            </a:r>
            <a:endParaRPr lang="zh-CN" altLang="en-US" sz="2800" b="1" i="1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457200" y="1196752"/>
            <a:ext cx="8229600" cy="13573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74320" indent="-27432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SzPct val="95000"/>
              <a:buFont typeface="Wingdings 2" panose="05020102010507070707"/>
              <a:buChar char=""/>
              <a:defRPr/>
            </a:pP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当输入 </a:t>
            </a:r>
            <a:r>
              <a:rPr lang="en-US" altLang="zh-CN" sz="28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 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输入均为高电平时，二极管均截止，输出</a:t>
            </a:r>
            <a:r>
              <a:rPr lang="en-US" altLang="zh-CN" sz="28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为高电平，逻辑关系如下表</a:t>
            </a:r>
            <a:endParaRPr lang="zh-CN" altLang="en-US" sz="2800" b="1" i="1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sp>
        <p:nvSpPr>
          <p:cNvPr id="9" name="内容占位符 1"/>
          <p:cNvSpPr txBox="1"/>
          <p:nvPr/>
        </p:nvSpPr>
        <p:spPr>
          <a:xfrm>
            <a:off x="457200" y="1196752"/>
            <a:ext cx="8229600" cy="1357312"/>
          </a:xfrm>
          <a:prstGeom prst="rect">
            <a:avLst/>
          </a:prstGeom>
        </p:spPr>
        <p:txBody>
          <a:bodyPr>
            <a:noAutofit/>
          </a:bodyPr>
          <a:lstStyle/>
          <a:p>
            <a:pPr marL="274320" indent="-27432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SzPct val="95000"/>
              <a:buFont typeface="Wingdings 2" panose="05020102010507070707"/>
              <a:buChar char=""/>
              <a:defRPr/>
            </a:pP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 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都接地时</a:t>
            </a:r>
            <a:r>
              <a:rPr lang="en-US" altLang="zh-CN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3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个二极管正向导通，输出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为低电平；只要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中存在接地，输出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为低电平</a:t>
            </a:r>
            <a:endParaRPr lang="zh-CN" altLang="en-US" sz="2800" b="1" i="1" dirty="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graphicFrame>
        <p:nvGraphicFramePr>
          <p:cNvPr id="10" name="表格"/>
          <p:cNvGraphicFramePr>
            <a:graphicFrameLocks noGrp="1"/>
          </p:cNvGraphicFramePr>
          <p:nvPr/>
        </p:nvGraphicFramePr>
        <p:xfrm>
          <a:off x="4959423" y="2796430"/>
          <a:ext cx="3429001" cy="356569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000" b="1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000" b="1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b="1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694" marB="456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4397" name="Object 5"/>
          <p:cNvGraphicFramePr>
            <a:graphicFrameLocks noChangeAspect="1"/>
          </p:cNvGraphicFramePr>
          <p:nvPr/>
        </p:nvGraphicFramePr>
        <p:xfrm>
          <a:off x="410592" y="2652414"/>
          <a:ext cx="4089400" cy="394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Visio" r:id="rId3" imgW="1245870" imgH="1201420" progId="">
                  <p:embed/>
                </p:oleObj>
              </mc:Choice>
              <mc:Fallback>
                <p:oleObj name="Visio" r:id="rId3" imgW="1245870" imgH="1201420" progId="">
                  <p:embed/>
                  <p:pic>
                    <p:nvPicPr>
                      <p:cNvPr id="0" name="图片 2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92" y="2652414"/>
                        <a:ext cx="4089400" cy="394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8" grpId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95536" y="40466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二极管构成“或”门电路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5143500" y="2814463"/>
          <a:ext cx="3286124" cy="36274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21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400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400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400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400" i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内容占位符 2"/>
          <p:cNvSpPr txBox="1"/>
          <p:nvPr/>
        </p:nvSpPr>
        <p:spPr>
          <a:xfrm>
            <a:off x="457200" y="1279600"/>
            <a:ext cx="8229600" cy="13573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输入输出逻辑关系如下表，按正逻辑原则，可得输出</a:t>
            </a:r>
            <a:r>
              <a:rPr lang="en-US" altLang="zh-CN" sz="28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与</a:t>
            </a:r>
            <a:r>
              <a:rPr lang="en-US" altLang="zh-CN" sz="28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en-US" alt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8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B,C </a:t>
            </a: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的逻辑关系为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+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+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C</a:t>
            </a:r>
            <a:endParaRPr lang="zh-CN" alt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sp>
        <p:nvSpPr>
          <p:cNvPr id="10" name="内容占位符 1"/>
          <p:cNvSpPr txBox="1"/>
          <p:nvPr/>
        </p:nvSpPr>
        <p:spPr>
          <a:xfrm>
            <a:off x="457200" y="1279600"/>
            <a:ext cx="8258175" cy="1357312"/>
          </a:xfrm>
          <a:prstGeom prst="rect">
            <a:avLst/>
          </a:prstGeom>
        </p:spPr>
        <p:txBody>
          <a:bodyPr/>
          <a:lstStyle/>
          <a:p>
            <a:pPr marL="274320" indent="-27432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SzPct val="95000"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当输入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都接地时，输出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为低电平；只要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A,B,C 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中有接高电平，输出</a:t>
            </a:r>
            <a:r>
              <a:rPr lang="en-US" altLang="zh-CN" sz="2800" b="1" i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为高电平</a:t>
            </a:r>
          </a:p>
        </p:txBody>
      </p:sp>
      <p:pic>
        <p:nvPicPr>
          <p:cNvPr id="1542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598728"/>
            <a:ext cx="451485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40466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三极管组成“非”门电路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1547664" y="4311427"/>
          <a:ext cx="2800350" cy="149383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0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1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000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i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2000" b="1" baseline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2000" b="1" baseline="0" dirty="0"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T="45730" marB="4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内容占位符 1"/>
          <p:cNvSpPr txBox="1"/>
          <p:nvPr/>
        </p:nvSpPr>
        <p:spPr>
          <a:xfrm>
            <a:off x="457200" y="1268760"/>
            <a:ext cx="8229600" cy="2500312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点接高电平时，三极管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T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处于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饱和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状态，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V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CE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新宋体" panose="02010609030101010101" charset="-122"/>
                <a:cs typeface="Times New Roman" panose="02020603050405020304"/>
              </a:rPr>
              <a:t>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0.3V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，输出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为低电平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饱和 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.</a:t>
            </a:r>
            <a:endParaRPr lang="zh-CN" altLang="en-US" sz="2400" b="1" dirty="0"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点接低电平时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=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R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上几乎没有电压降，三极管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T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处于截止状态，输出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电压接近</a:t>
            </a:r>
            <a:r>
              <a:rPr lang="en-US" altLang="zh-CN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V</a:t>
            </a:r>
            <a:r>
              <a:rPr lang="en-US" altLang="zh-CN" sz="24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 为高电平</a:t>
            </a:r>
          </a:p>
        </p:txBody>
      </p:sp>
      <p:pic>
        <p:nvPicPr>
          <p:cNvPr id="16405" name="Picture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597" y="3546301"/>
            <a:ext cx="3952875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812" y="404664"/>
            <a:ext cx="8429652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二极管和三极管组成“与非”门电路</a:t>
            </a:r>
            <a:endParaRPr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6000750" y="2667720"/>
          <a:ext cx="2643188" cy="385762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60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2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C</a:t>
                      </a:r>
                      <a:endParaRPr lang="zh-CN" altLang="en-US" sz="2000" i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B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A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F</a:t>
                      </a:r>
                      <a:endParaRPr lang="zh-CN" altLang="en-US" sz="2000" i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H</a:t>
                      </a:r>
                      <a:endParaRPr lang="zh-CN" altLang="en-US" sz="1800" b="1" baseline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</a:rPr>
                        <a:t>L</a:t>
                      </a:r>
                      <a:endParaRPr lang="zh-CN" altLang="en-US" sz="1800" b="1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8" name="直接连接符 3"/>
          <p:cNvCxnSpPr/>
          <p:nvPr/>
        </p:nvCxnSpPr>
        <p:spPr>
          <a:xfrm>
            <a:off x="4143375" y="1923802"/>
            <a:ext cx="75565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3"/>
          <p:cNvSpPr txBox="1"/>
          <p:nvPr/>
        </p:nvSpPr>
        <p:spPr>
          <a:xfrm>
            <a:off x="457200" y="1212602"/>
            <a:ext cx="8229600" cy="1712913"/>
          </a:xfrm>
          <a:prstGeom prst="rect">
            <a:avLst/>
          </a:prstGeom>
        </p:spPr>
        <p:txBody>
          <a:bodyPr/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将表中输入输出按正逻辑代入</a:t>
            </a:r>
            <a:r>
              <a:rPr lang="en-US" altLang="zh-CN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和</a:t>
            </a:r>
            <a:r>
              <a:rPr lang="en-US" altLang="zh-CN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0</a:t>
            </a:r>
            <a:r>
              <a:rPr lang="zh-CN" altLang="en-US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，可得</a:t>
            </a:r>
            <a:r>
              <a:rPr lang="en-US" altLang="zh-CN" sz="24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与</a:t>
            </a:r>
            <a:r>
              <a:rPr lang="en-US" altLang="zh-CN" sz="24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en-US" altLang="zh-CN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en-US" altLang="zh-CN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 </a:t>
            </a:r>
            <a:r>
              <a:rPr lang="zh-CN" altLang="en-US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的逻辑关系是“与非”：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= 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ABC</a:t>
            </a:r>
            <a:endParaRPr lang="zh-CN" altLang="en-US" sz="2400" b="1" i="1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457200" y="1212602"/>
            <a:ext cx="8229600" cy="1784350"/>
          </a:xfrm>
          <a:prstGeom prst="rect">
            <a:avLst/>
          </a:prstGeom>
        </p:spPr>
        <p:txBody>
          <a:bodyPr/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当输入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 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均接高电平时，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</a:t>
            </a:r>
            <a:r>
              <a:rPr lang="en-US" altLang="zh-CN" sz="2400" b="1" baseline="-25000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为高电平，三极管 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T</a:t>
            </a:r>
            <a:r>
              <a:rPr lang="en-US" altLang="zh-CN" sz="2400" b="1" baseline="-25000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1 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进入饱和导通状态。输入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 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和输出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的电平关系如右表</a:t>
            </a:r>
            <a:endParaRPr lang="zh-CN" altLang="en-US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sp>
        <p:nvSpPr>
          <p:cNvPr id="11" name="内容占位符 1"/>
          <p:cNvSpPr txBox="1"/>
          <p:nvPr/>
        </p:nvSpPr>
        <p:spPr>
          <a:xfrm>
            <a:off x="457200" y="1211015"/>
            <a:ext cx="8229600" cy="1412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将</a:t>
            </a: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与门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和</a:t>
            </a: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非门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按下图连接，构成</a:t>
            </a: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与非门</a:t>
            </a:r>
          </a:p>
        </p:txBody>
      </p:sp>
      <p:graphicFrame>
        <p:nvGraphicFramePr>
          <p:cNvPr id="17470" name="Object 5"/>
          <p:cNvGraphicFramePr>
            <a:graphicFrameLocks noChangeAspect="1"/>
          </p:cNvGraphicFramePr>
          <p:nvPr/>
        </p:nvGraphicFramePr>
        <p:xfrm>
          <a:off x="285750" y="2699469"/>
          <a:ext cx="5665788" cy="382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Visio" r:id="rId3" imgW="2151380" imgH="1245870" progId="">
                  <p:embed/>
                </p:oleObj>
              </mc:Choice>
              <mc:Fallback>
                <p:oleObj name="Visio" r:id="rId3" imgW="2151380" imgH="1245870" progId="">
                  <p:embed/>
                  <p:pic>
                    <p:nvPicPr>
                      <p:cNvPr id="0" name="图片 30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2699469"/>
                        <a:ext cx="5665788" cy="382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0" grpId="1"/>
      <p:bldP spid="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278459"/>
            <a:ext cx="8229600" cy="1214437"/>
          </a:xfrm>
        </p:spPr>
        <p:txBody>
          <a:bodyPr/>
          <a:lstStyle/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Font typeface="+mj-lt"/>
              <a:buNone/>
              <a:defRPr/>
            </a:pPr>
            <a:r>
              <a:rPr lang="zh-CN" altLang="en-US" sz="2400" dirty="0"/>
              <a:t>在实验箱中，用二极管、三极管及电阻等分别构成如下电路并测试，同时记录有关数据。</a:t>
            </a:r>
            <a:endParaRPr lang="en-US" altLang="zh-CN" sz="2400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95536" y="470142"/>
            <a:ext cx="8001056" cy="582594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dirty="0" err="1"/>
              <a:t>实验内容与测试步骤</a:t>
            </a:r>
            <a:endParaRPr dirty="0"/>
          </a:p>
        </p:txBody>
      </p:sp>
      <p:sp>
        <p:nvSpPr>
          <p:cNvPr id="7" name="矩形 6"/>
          <p:cNvSpPr/>
          <p:nvPr/>
        </p:nvSpPr>
        <p:spPr>
          <a:xfrm>
            <a:off x="457200" y="2500313"/>
            <a:ext cx="8143875" cy="30876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用二极管实现正逻辑“与门”</a:t>
            </a:r>
          </a:p>
          <a:p>
            <a:pPr marL="514350" indent="-51435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用二极管实现正逻辑“或门”</a:t>
            </a:r>
            <a:endParaRPr lang="en-US" altLang="zh-CN" sz="2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514350" indent="-51435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用二极管实现正逻辑“非门”</a:t>
            </a:r>
            <a:endParaRPr lang="en-US" altLang="zh-CN" sz="2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514350" indent="-51435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用晶体管实现正逻辑“与非门”</a:t>
            </a:r>
            <a:endParaRPr lang="en-US" altLang="zh-CN" sz="2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514350" indent="-51435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三极管极性测量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1520" y="1214438"/>
            <a:ext cx="4746947" cy="5643562"/>
          </a:xfrm>
        </p:spPr>
        <p:txBody>
          <a:bodyPr>
            <a:normAutofit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200" dirty="0">
                <a:latin typeface="+mn-ea"/>
                <a:ea typeface="+mn-ea"/>
              </a:rPr>
              <a:t>根据右图在实验箱中通过导线连接电路，检查二极管、电源电压和极性、电阻值等是否连接正确 </a:t>
            </a:r>
            <a:endParaRPr lang="en-US" altLang="zh-CN" sz="2200" dirty="0">
              <a:latin typeface="+mn-ea"/>
              <a:ea typeface="+mn-ea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200" dirty="0" err="1">
                <a:latin typeface="+mn-ea"/>
                <a:ea typeface="+mn-ea"/>
              </a:rPr>
              <a:t>Vcc</a:t>
            </a:r>
            <a:r>
              <a:rPr lang="zh-CN" altLang="en-US" sz="2200" dirty="0">
                <a:latin typeface="+mn-ea"/>
                <a:ea typeface="+mn-ea"/>
              </a:rPr>
              <a:t>接实验箱中</a:t>
            </a:r>
            <a:r>
              <a:rPr lang="en-US" altLang="zh-CN" sz="2200" dirty="0">
                <a:latin typeface="+mn-ea"/>
                <a:ea typeface="+mn-ea"/>
              </a:rPr>
              <a:t>+5V</a:t>
            </a:r>
            <a:r>
              <a:rPr lang="zh-CN" altLang="en-US" sz="2200" dirty="0">
                <a:latin typeface="+mn-ea"/>
                <a:ea typeface="+mn-ea"/>
              </a:rPr>
              <a:t>直流电源。</a:t>
            </a:r>
          </a:p>
          <a:p>
            <a:pPr>
              <a:defRPr/>
            </a:pPr>
            <a:r>
              <a:rPr lang="zh-CN" altLang="en-US" sz="2200" dirty="0">
                <a:latin typeface="+mn-ea"/>
                <a:ea typeface="+mn-ea"/>
              </a:rPr>
              <a:t>输入高低电平通过</a:t>
            </a:r>
            <a:r>
              <a:rPr lang="zh-CN" altLang="en-US" sz="2400" dirty="0">
                <a:latin typeface="+mn-ea"/>
                <a:ea typeface="+mn-ea"/>
              </a:rPr>
              <a:t>开关</a:t>
            </a:r>
            <a:r>
              <a:rPr lang="en-US" altLang="zh-CN" sz="2400" dirty="0">
                <a:latin typeface="+mn-ea"/>
              </a:rPr>
              <a:t>S1/S2/S3/S4/S5/S6</a:t>
            </a:r>
            <a:r>
              <a:rPr lang="zh-CN" altLang="en-US" sz="2200" dirty="0">
                <a:latin typeface="+mn-ea"/>
                <a:ea typeface="+mn-ea"/>
              </a:rPr>
              <a:t>产生。输入</a:t>
            </a:r>
            <a:r>
              <a:rPr lang="en-US" altLang="zh-CN" sz="2200" i="1" dirty="0">
                <a:latin typeface="+mn-ea"/>
                <a:ea typeface="+mn-ea"/>
              </a:rPr>
              <a:t>A,B</a:t>
            </a:r>
            <a:r>
              <a:rPr lang="zh-CN" altLang="en-US" sz="2200" dirty="0">
                <a:latin typeface="+mn-ea"/>
                <a:ea typeface="+mn-ea"/>
              </a:rPr>
              <a:t>的不同电平组合，用万用表或实验箱中的直流电压表测量</a:t>
            </a:r>
            <a:r>
              <a:rPr lang="en-US" altLang="zh-CN" sz="2200" i="1" dirty="0">
                <a:latin typeface="+mn-ea"/>
                <a:ea typeface="+mn-ea"/>
              </a:rPr>
              <a:t>A,B</a:t>
            </a:r>
            <a:r>
              <a:rPr lang="zh-CN" altLang="en-US" sz="2200" dirty="0">
                <a:latin typeface="+mn-ea"/>
                <a:ea typeface="+mn-ea"/>
              </a:rPr>
              <a:t>及对应输出</a:t>
            </a:r>
            <a:r>
              <a:rPr lang="en-US" altLang="zh-CN" sz="2200" i="1" dirty="0">
                <a:latin typeface="+mn-ea"/>
                <a:ea typeface="+mn-ea"/>
              </a:rPr>
              <a:t>F</a:t>
            </a:r>
            <a:r>
              <a:rPr lang="en-US" altLang="zh-CN" sz="2200" dirty="0">
                <a:latin typeface="+mn-ea"/>
                <a:ea typeface="+mn-ea"/>
              </a:rPr>
              <a:t> </a:t>
            </a:r>
            <a:r>
              <a:rPr lang="zh-CN" altLang="en-US" sz="2200" dirty="0">
                <a:latin typeface="+mn-ea"/>
                <a:ea typeface="+mn-ea"/>
              </a:rPr>
              <a:t>的电压值。最后判断逻辑关系是否满足 </a:t>
            </a:r>
            <a:r>
              <a:rPr lang="en-US" altLang="zh-CN" sz="2200" i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Y</a:t>
            </a:r>
            <a:r>
              <a:rPr lang="en-US" altLang="zh-CN" sz="2200" dirty="0">
                <a:solidFill>
                  <a:srgbClr val="FF0000"/>
                </a:solidFill>
                <a:effectLst/>
                <a:latin typeface="+mn-ea"/>
                <a:ea typeface="+mn-ea"/>
              </a:rPr>
              <a:t> = </a:t>
            </a:r>
            <a:r>
              <a:rPr lang="en-US" altLang="zh-CN" sz="2200" i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A B</a:t>
            </a:r>
            <a:endParaRPr lang="zh-CN" altLang="en-US" sz="2200" i="1" dirty="0">
              <a:solidFill>
                <a:srgbClr val="FF0000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40466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用二极管实现正逻辑“与门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”</a:t>
            </a: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5148064" y="4071942"/>
          <a:ext cx="3861115" cy="22786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38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27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A</a:t>
                      </a:r>
                      <a:r>
                        <a:rPr lang="en-US" altLang="zh-CN" sz="2100" b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B</a:t>
                      </a:r>
                      <a:r>
                        <a:rPr lang="en-US" altLang="zh-CN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</a:t>
                      </a:r>
                      <a:r>
                        <a:rPr lang="en-US" altLang="zh-CN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 </a:t>
                      </a:r>
                      <a:r>
                        <a:rPr lang="zh-CN" altLang="en-US" sz="2100" b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逻辑值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61"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61"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461"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461"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i="0" dirty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线形标注 1 7"/>
          <p:cNvSpPr/>
          <p:nvPr/>
        </p:nvSpPr>
        <p:spPr>
          <a:xfrm>
            <a:off x="6659563" y="1763713"/>
            <a:ext cx="1225550" cy="360362"/>
          </a:xfrm>
          <a:prstGeom prst="borderCallout1">
            <a:avLst>
              <a:gd name="adj1" fmla="val 18750"/>
              <a:gd name="adj2" fmla="val -8333"/>
              <a:gd name="adj3" fmla="val 79940"/>
              <a:gd name="adj4" fmla="val -353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S1—S2</a:t>
            </a:r>
            <a:endParaRPr lang="zh-CN" altLang="en-US" dirty="0"/>
          </a:p>
        </p:txBody>
      </p:sp>
      <p:graphicFrame>
        <p:nvGraphicFramePr>
          <p:cNvPr id="2" name="对象 1"/>
          <p:cNvGraphicFramePr/>
          <p:nvPr/>
        </p:nvGraphicFramePr>
        <p:xfrm>
          <a:off x="5147945" y="1183640"/>
          <a:ext cx="3898900" cy="2691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r:id="rId3" imgW="3895725" imgH="2886075" progId="Paint.Picture">
                  <p:embed/>
                </p:oleObj>
              </mc:Choice>
              <mc:Fallback>
                <p:oleObj r:id="rId3" imgW="3895725" imgH="28860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7945" y="1183640"/>
                        <a:ext cx="3898900" cy="2691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>
                <a:sym typeface="+mn-ea"/>
              </a:rPr>
              <a:t>正逻辑“与门</a:t>
            </a:r>
            <a:r>
              <a:rPr dirty="0">
                <a:sym typeface="+mn-ea"/>
              </a:rPr>
              <a:t>”</a:t>
            </a:r>
            <a:r>
              <a:rPr lang="zh-CN" dirty="0">
                <a:sym typeface="+mn-ea"/>
              </a:rPr>
              <a:t>接线图</a:t>
            </a:r>
            <a:br>
              <a:rPr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pic>
        <p:nvPicPr>
          <p:cNvPr id="4" name="图片 3" descr="AND1_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96975"/>
            <a:ext cx="3807460" cy="5239385"/>
          </a:xfrm>
          <a:prstGeom prst="rect">
            <a:avLst/>
          </a:prstGeom>
        </p:spPr>
      </p:pic>
      <p:pic>
        <p:nvPicPr>
          <p:cNvPr id="5" name="图片 4" descr="AND3_副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195" y="1231900"/>
            <a:ext cx="3951605" cy="5262880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864735" y="29845"/>
          <a:ext cx="2713990" cy="1967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r:id="rId5" imgW="3305175" imgH="3209925" progId="Paint.Picture">
                  <p:embed/>
                </p:oleObj>
              </mc:Choice>
              <mc:Fallback>
                <p:oleObj r:id="rId5" imgW="3305175" imgH="32099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4735" y="29845"/>
                        <a:ext cx="2713990" cy="1967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60648"/>
            <a:ext cx="7005464" cy="72008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电路设计实验箱说明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4" y="1260247"/>
            <a:ext cx="9062680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 descr="实验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10" y="4001135"/>
            <a:ext cx="6714490" cy="26847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产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生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高低电平</a:t>
            </a:r>
          </a:p>
        </p:txBody>
      </p:sp>
      <p:sp>
        <p:nvSpPr>
          <p:cNvPr id="20487" name="矩形 8"/>
          <p:cNvSpPr>
            <a:spLocks noChangeArrowheads="1"/>
          </p:cNvSpPr>
          <p:nvPr/>
        </p:nvSpPr>
        <p:spPr bwMode="auto">
          <a:xfrm>
            <a:off x="539552" y="1268760"/>
            <a:ext cx="7962651" cy="2030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+mn-ea"/>
                <a:ea typeface="+mn-ea"/>
              </a:rPr>
              <a:t>产</a:t>
            </a:r>
            <a:r>
              <a:rPr lang="zh-CN" altLang="en-US" sz="2800" b="1" dirty="0">
                <a:latin typeface="+mn-ea"/>
                <a:ea typeface="+mn-ea"/>
                <a:sym typeface="+mn-ea"/>
              </a:rPr>
              <a:t>生</a:t>
            </a:r>
            <a:r>
              <a:rPr lang="zh-CN" altLang="en-US" sz="2800" b="1" dirty="0">
                <a:latin typeface="+mn-ea"/>
                <a:ea typeface="+mn-ea"/>
              </a:rPr>
              <a:t>高低电平的电路图，实验板内部给你接好的，不需要你自己接线，通过拨位开关，插孔</a:t>
            </a:r>
            <a:r>
              <a:rPr lang="en-US" altLang="zh-CN" sz="2800" b="1" dirty="0">
                <a:latin typeface="+mn-ea"/>
                <a:ea typeface="+mn-ea"/>
              </a:rPr>
              <a:t>S1/S2/S3/S4/S5/S6</a:t>
            </a:r>
            <a:r>
              <a:rPr lang="zh-CN" altLang="en-US" sz="2800" b="1" dirty="0">
                <a:latin typeface="+mn-ea"/>
                <a:ea typeface="+mn-ea"/>
              </a:rPr>
              <a:t>能直接输出高电平和低电平。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53" y="4077072"/>
            <a:ext cx="3564684" cy="1644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内容占位符 4"/>
          <p:cNvGraphicFramePr>
            <a:graphicFrameLocks noGrp="1" noChangeAspect="1"/>
          </p:cNvGraphicFramePr>
          <p:nvPr>
            <p:ph idx="1"/>
          </p:nvPr>
        </p:nvGraphicFramePr>
        <p:xfrm>
          <a:off x="4688205" y="3300095"/>
          <a:ext cx="3465195" cy="336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r:id="rId4" imgW="3305175" imgH="3209925" progId="Paint.Picture">
                  <p:embed/>
                </p:oleObj>
              </mc:Choice>
              <mc:Fallback>
                <p:oleObj r:id="rId4" imgW="3305175" imgH="32099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88205" y="3300095"/>
                        <a:ext cx="3465195" cy="336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40466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用二极管实现正逻辑“或门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”</a:t>
            </a:r>
          </a:p>
        </p:txBody>
      </p:sp>
      <p:sp>
        <p:nvSpPr>
          <p:cNvPr id="16" name="内容占位符 4"/>
          <p:cNvSpPr txBox="1"/>
          <p:nvPr/>
        </p:nvSpPr>
        <p:spPr>
          <a:xfrm>
            <a:off x="338138" y="1288182"/>
            <a:ext cx="4619625" cy="52371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根据右图在实验箱中连接电路，检查二极管、电源电压和极性、电阻值等是否连接正确</a:t>
            </a: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输入高低电平通过</a:t>
            </a:r>
            <a:r>
              <a:rPr lang="zh-CN" altLang="en-US" sz="2200" b="1" dirty="0">
                <a:latin typeface="+mn-ea"/>
              </a:rPr>
              <a:t>开关</a:t>
            </a:r>
            <a:r>
              <a:rPr lang="en-US" altLang="zh-CN" sz="2400" b="1" dirty="0">
                <a:latin typeface="+mn-ea"/>
              </a:rPr>
              <a:t>S1/S2/S3/S4/S5/S6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产生。输入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A,B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的不同电平组合，用万用表或实验箱中的直流电压表测量输入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A,B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及对应输出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F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的电压值。最后判断逻辑值是否满足</a:t>
            </a:r>
            <a:r>
              <a:rPr lang="en-US" altLang="zh-CN" sz="2200" b="1" i="1" dirty="0">
                <a:solidFill>
                  <a:srgbClr val="FF0000"/>
                </a:solidFill>
                <a:latin typeface="+mn-ea"/>
              </a:rPr>
              <a:t> F = A + B</a:t>
            </a:r>
            <a:endParaRPr lang="zh-CN" altLang="en-US" sz="2200" b="1" i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17" name="表格"/>
          <p:cNvGraphicFramePr>
            <a:graphicFrameLocks noGrp="1"/>
          </p:cNvGraphicFramePr>
          <p:nvPr/>
        </p:nvGraphicFramePr>
        <p:xfrm>
          <a:off x="5167759" y="4454227"/>
          <a:ext cx="3684587" cy="214312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22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3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A</a:t>
                      </a:r>
                      <a:r>
                        <a:rPr lang="en-US" altLang="zh-CN" sz="2100" b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B</a:t>
                      </a:r>
                      <a:r>
                        <a:rPr lang="en-US" altLang="zh-CN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</a:t>
                      </a:r>
                      <a:r>
                        <a:rPr lang="en-US" altLang="zh-CN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 </a:t>
                      </a:r>
                      <a:r>
                        <a:rPr lang="zh-CN" altLang="en-US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逻辑值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5168265" y="1288415"/>
          <a:ext cx="3507740" cy="298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r:id="rId4" imgW="3714750" imgH="3143250" progId="Paint.Picture">
                  <p:embed/>
                </p:oleObj>
              </mc:Choice>
              <mc:Fallback>
                <p:oleObj r:id="rId4" imgW="3714750" imgH="31432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68265" y="1288415"/>
                        <a:ext cx="3507740" cy="2985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40466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用二极管实现正逻辑“或门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”</a:t>
            </a:r>
          </a:p>
        </p:txBody>
      </p:sp>
      <p:sp>
        <p:nvSpPr>
          <p:cNvPr id="16" name="内容占位符 4"/>
          <p:cNvSpPr txBox="1"/>
          <p:nvPr/>
        </p:nvSpPr>
        <p:spPr>
          <a:xfrm>
            <a:off x="338138" y="1288182"/>
            <a:ext cx="4619625" cy="52371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根据右图在实验箱中连接电路，检查二极管、电源电压和极性、电阻值等是否连接正确</a:t>
            </a: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输入高低电平通过</a:t>
            </a:r>
            <a:r>
              <a:rPr lang="zh-CN" altLang="en-US" sz="2200" b="1" dirty="0">
                <a:latin typeface="+mn-ea"/>
              </a:rPr>
              <a:t>开关</a:t>
            </a:r>
            <a:r>
              <a:rPr lang="en-US" altLang="zh-CN" sz="2400" b="1" dirty="0">
                <a:latin typeface="+mn-ea"/>
              </a:rPr>
              <a:t>S1/S2/S3/S4/S5/S6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产生。输入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A,B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的不同电平组合，用万用表或实验箱中的直流电压表测量输入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A,B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及对应输出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F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的电压值。最后判断逻辑值是否满足</a:t>
            </a:r>
            <a:r>
              <a:rPr lang="en-US" altLang="zh-CN" sz="2200" b="1" i="1" dirty="0">
                <a:solidFill>
                  <a:srgbClr val="FF0000"/>
                </a:solidFill>
                <a:latin typeface="+mn-ea"/>
              </a:rPr>
              <a:t> F = A + B</a:t>
            </a:r>
            <a:endParaRPr lang="zh-CN" altLang="en-US" sz="2200" b="1" i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17" name="表格"/>
          <p:cNvGraphicFramePr>
            <a:graphicFrameLocks noGrp="1"/>
          </p:cNvGraphicFramePr>
          <p:nvPr/>
        </p:nvGraphicFramePr>
        <p:xfrm>
          <a:off x="5167759" y="4454227"/>
          <a:ext cx="3684587" cy="214312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22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3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A</a:t>
                      </a:r>
                      <a:r>
                        <a:rPr lang="en-US" altLang="zh-CN" sz="2100" b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B</a:t>
                      </a:r>
                      <a:r>
                        <a:rPr lang="en-US" altLang="zh-CN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</a:t>
                      </a:r>
                      <a:r>
                        <a:rPr lang="en-US" altLang="zh-CN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/V</a:t>
                      </a:r>
                      <a:endParaRPr lang="zh-CN" altLang="en-US" sz="2100" b="1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 </a:t>
                      </a:r>
                      <a:r>
                        <a:rPr lang="zh-CN" altLang="en-US" sz="2100" b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逻辑值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432"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/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5167630" y="1426210"/>
          <a:ext cx="3430905" cy="2774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r:id="rId4" imgW="4962525" imgH="3609975" progId="Paint.Picture">
                  <p:embed/>
                </p:oleObj>
              </mc:Choice>
              <mc:Fallback>
                <p:oleObj r:id="rId4" imgW="4962525" imgH="36099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67630" y="1426210"/>
                        <a:ext cx="3430905" cy="2774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或门测试三组数据</a:t>
            </a:r>
          </a:p>
        </p:txBody>
      </p:sp>
      <p:graphicFrame>
        <p:nvGraphicFramePr>
          <p:cNvPr id="6" name="对象 5"/>
          <p:cNvGraphicFramePr/>
          <p:nvPr/>
        </p:nvGraphicFramePr>
        <p:xfrm>
          <a:off x="5174615" y="1654175"/>
          <a:ext cx="3430905" cy="2774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r:id="rId3" imgW="4962525" imgH="3609975" progId="Paint.Picture">
                  <p:embed/>
                </p:oleObj>
              </mc:Choice>
              <mc:Fallback>
                <p:oleObj r:id="rId3" imgW="4962525" imgH="36099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74615" y="1654175"/>
                        <a:ext cx="3430905" cy="2774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内容占位符 7"/>
          <p:cNvGraphicFramePr>
            <a:graphicFrameLocks noGrp="1" noChangeAspect="1"/>
          </p:cNvGraphicFramePr>
          <p:nvPr>
            <p:ph idx="1"/>
          </p:nvPr>
        </p:nvGraphicFramePr>
        <p:xfrm>
          <a:off x="2530475" y="4221088"/>
          <a:ext cx="3419475" cy="237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r:id="rId5" imgW="3419475" imgH="2943225" progId="Paint.Picture">
                  <p:embed/>
                </p:oleObj>
              </mc:Choice>
              <mc:Fallback>
                <p:oleObj r:id="rId5" imgW="3419475" imgH="2943225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30475" y="4221088"/>
                        <a:ext cx="3419475" cy="2374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565" y="1202610"/>
            <a:ext cx="3391246" cy="293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ym typeface="+mn-ea"/>
              </a:rPr>
              <a:t>正逻辑“或门</a:t>
            </a:r>
            <a:r>
              <a:rPr lang="zh-CN" dirty="0" err="1">
                <a:sym typeface="+mn-ea"/>
              </a:rPr>
              <a:t>接线图</a:t>
            </a:r>
          </a:p>
        </p:txBody>
      </p:sp>
      <p:pic>
        <p:nvPicPr>
          <p:cNvPr id="4" name="内容占位符 3" descr="OR1_副本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4500" y="1403985"/>
            <a:ext cx="3644265" cy="4964430"/>
          </a:xfrm>
          <a:prstGeom prst="rect">
            <a:avLst/>
          </a:prstGeom>
        </p:spPr>
      </p:pic>
      <p:pic>
        <p:nvPicPr>
          <p:cNvPr id="5" name="图片 4" descr="OR2_副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985" y="1196975"/>
            <a:ext cx="4566920" cy="5379085"/>
          </a:xfrm>
          <a:prstGeom prst="rect">
            <a:avLst/>
          </a:prstGeom>
        </p:spPr>
      </p:pic>
      <p:graphicFrame>
        <p:nvGraphicFramePr>
          <p:cNvPr id="3" name="对象 2"/>
          <p:cNvGraphicFramePr/>
          <p:nvPr/>
        </p:nvGraphicFramePr>
        <p:xfrm>
          <a:off x="5044440" y="32385"/>
          <a:ext cx="3128010" cy="149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r:id="rId5" imgW="4962525" imgH="3609975" progId="Paint.Picture">
                  <p:embed/>
                </p:oleObj>
              </mc:Choice>
              <mc:Fallback>
                <p:oleObj r:id="rId5" imgW="4962525" imgH="36099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4440" y="32385"/>
                        <a:ext cx="3128010" cy="1490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8432" y="1196752"/>
            <a:ext cx="4588853" cy="53793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39813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用二极管实现正逻辑“非门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”</a:t>
            </a:r>
          </a:p>
        </p:txBody>
      </p:sp>
      <p:graphicFrame>
        <p:nvGraphicFramePr>
          <p:cNvPr id="7" name="表格"/>
          <p:cNvGraphicFramePr>
            <a:graphicFrameLocks noGrp="1"/>
          </p:cNvGraphicFramePr>
          <p:nvPr/>
        </p:nvGraphicFramePr>
        <p:xfrm>
          <a:off x="5143505" y="4554890"/>
          <a:ext cx="3500461" cy="164307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000" baseline="-2500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altLang="zh-CN" sz="2000" baseline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V</a:t>
                      </a:r>
                      <a:endParaRPr lang="zh-CN" altLang="en-US" sz="2000" i="0" baseline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000" baseline="-2500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</a:t>
                      </a:r>
                      <a:r>
                        <a:rPr lang="en-US" altLang="zh-CN" sz="2000" baseline="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V</a:t>
                      </a:r>
                      <a:endParaRPr lang="zh-CN" altLang="en-US" sz="2000" i="0" baseline="-2500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</a:t>
                      </a:r>
                      <a:r>
                        <a:rPr lang="zh-CN" altLang="en-US" sz="2000">
                          <a:effectLst>
                            <a:glow rad="635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逻辑值</a:t>
                      </a:r>
                      <a:endParaRPr lang="zh-CN" altLang="en-US" sz="2000" i="0">
                        <a:effectLst>
                          <a:glow rad="635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92"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92"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内容占位符 4"/>
          <p:cNvSpPr txBox="1"/>
          <p:nvPr/>
        </p:nvSpPr>
        <p:spPr>
          <a:xfrm>
            <a:off x="250825" y="1288752"/>
            <a:ext cx="4400550" cy="530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根据右图在实验箱上连好电路，检查三极管及电源极性、电阻值是否等是否连接正确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。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将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+5V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直流电源接入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V</a:t>
            </a:r>
            <a:r>
              <a:rPr lang="en-US" altLang="zh-CN" sz="22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端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输入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端的高、低电平用开关</a:t>
            </a:r>
            <a:r>
              <a:rPr lang="en-US" altLang="zh-CN" sz="2400" b="1" dirty="0">
                <a:latin typeface="+mn-ea"/>
              </a:rPr>
              <a:t>S1/S2/S3/S4/S5/S6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产生。 测量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和输出端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F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对应的电压值，填入右表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。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判断逻辑关系是否满足 </a:t>
            </a:r>
            <a:r>
              <a:rPr lang="en-US" altLang="zh-CN" sz="2200" b="1" i="1" dirty="0">
                <a:solidFill>
                  <a:srgbClr val="FF0000"/>
                </a:solidFill>
                <a:latin typeface="+mn-ea"/>
              </a:rPr>
              <a:t>F = 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cxnSp>
        <p:nvCxnSpPr>
          <p:cNvPr id="10" name="直接连接符 3"/>
          <p:cNvCxnSpPr/>
          <p:nvPr/>
        </p:nvCxnSpPr>
        <p:spPr>
          <a:xfrm>
            <a:off x="4211960" y="5731669"/>
            <a:ext cx="252413" cy="158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387971"/>
            <a:ext cx="390525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404664"/>
            <a:ext cx="8001056" cy="582594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4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正</a:t>
            </a:r>
            <a:r>
              <a:rPr sz="44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逻辑“非门”接线图</a:t>
            </a:r>
          </a:p>
        </p:txBody>
      </p:sp>
      <p:sp>
        <p:nvSpPr>
          <p:cNvPr id="9" name="内容占位符 4"/>
          <p:cNvSpPr txBox="1"/>
          <p:nvPr/>
        </p:nvSpPr>
        <p:spPr>
          <a:xfrm>
            <a:off x="250825" y="1288752"/>
            <a:ext cx="4400550" cy="530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根据右图在实验箱上连好电路，检查三极管及电源极性、电阻值是否等是否连接正确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。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将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+5V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直流电源接入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V</a:t>
            </a:r>
            <a:r>
              <a:rPr lang="en-US" altLang="zh-CN" sz="22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端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输入 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端的高、低电平用开关</a:t>
            </a:r>
            <a:r>
              <a:rPr lang="en-US" altLang="zh-CN" sz="2400" b="1" dirty="0">
                <a:latin typeface="+mn-ea"/>
              </a:rPr>
              <a:t>S1/S2/S3/S4/S5/S6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产生。 测量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和输出端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F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对应的电压值，填入右表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。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判断逻辑关系是否满足 </a:t>
            </a:r>
            <a:r>
              <a:rPr lang="en-US" altLang="zh-CN" sz="2200" b="1" i="1" dirty="0">
                <a:solidFill>
                  <a:srgbClr val="FF0000"/>
                </a:solidFill>
                <a:latin typeface="+mn-ea"/>
              </a:rPr>
              <a:t>F = 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cxnSp>
        <p:nvCxnSpPr>
          <p:cNvPr id="10" name="直接连接符 3"/>
          <p:cNvCxnSpPr/>
          <p:nvPr/>
        </p:nvCxnSpPr>
        <p:spPr>
          <a:xfrm>
            <a:off x="4211960" y="5767090"/>
            <a:ext cx="252413" cy="158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6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345" y="4160961"/>
            <a:ext cx="3491111" cy="2597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对象 3"/>
          <p:cNvGraphicFramePr/>
          <p:nvPr/>
        </p:nvGraphicFramePr>
        <p:xfrm>
          <a:off x="4958715" y="1163955"/>
          <a:ext cx="371792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r:id="rId4" imgW="3714750" imgH="3162300" progId="Paint.Picture">
                  <p:embed/>
                </p:oleObj>
              </mc:Choice>
              <mc:Fallback>
                <p:oleObj r:id="rId4" imgW="3714750" imgH="31623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58715" y="1163955"/>
                        <a:ext cx="3717925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404664"/>
            <a:ext cx="8001056" cy="582594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非门</a:t>
            </a:r>
            <a:r>
              <a:rPr lang="zh-CN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测试三组数据（报告中分析）</a:t>
            </a:r>
          </a:p>
        </p:txBody>
      </p:sp>
      <p:graphicFrame>
        <p:nvGraphicFramePr>
          <p:cNvPr id="4" name="对象 3"/>
          <p:cNvGraphicFramePr/>
          <p:nvPr/>
        </p:nvGraphicFramePr>
        <p:xfrm>
          <a:off x="5290820" y="1347470"/>
          <a:ext cx="371792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r:id="rId3" imgW="3714750" imgH="3162300" progId="Paint.Picture">
                  <p:embed/>
                </p:oleObj>
              </mc:Choice>
              <mc:Fallback>
                <p:oleObj r:id="rId3" imgW="3714750" imgH="31623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90820" y="1347470"/>
                        <a:ext cx="3717925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3128010" y="3797935"/>
          <a:ext cx="3984625" cy="306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r:id="rId5" imgW="3981450" imgH="3057525" progId="Paint.Picture">
                  <p:embed/>
                </p:oleObj>
              </mc:Choice>
              <mc:Fallback>
                <p:oleObj r:id="rId5" imgW="3981450" imgH="305752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8010" y="3797935"/>
                        <a:ext cx="3984625" cy="3060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323215" y="1347470"/>
          <a:ext cx="3889375" cy="253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4" r:id="rId7" imgW="3886200" imgH="2981325" progId="Paint.Picture">
                  <p:embed/>
                </p:oleObj>
              </mc:Choice>
              <mc:Fallback>
                <p:oleObj r:id="rId7" imgW="3886200" imgH="2981325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215" y="1347470"/>
                        <a:ext cx="3889375" cy="2536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95536" y="1268760"/>
            <a:ext cx="5829300" cy="5643562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200" dirty="0">
                <a:latin typeface="+mn-ea"/>
                <a:ea typeface="+mn-ea"/>
              </a:rPr>
              <a:t>将万用表红表笔插入</a:t>
            </a:r>
            <a:r>
              <a:rPr lang="en-US" altLang="zh-CN" sz="2200" dirty="0" err="1">
                <a:latin typeface="+mn-ea"/>
                <a:ea typeface="+mn-ea"/>
              </a:rPr>
              <a:t>VΩmA</a:t>
            </a:r>
            <a:r>
              <a:rPr lang="zh-CN" altLang="en-US" sz="2200" dirty="0">
                <a:latin typeface="+mn-ea"/>
                <a:ea typeface="+mn-ea"/>
              </a:rPr>
              <a:t>插孔，黑表笔插入</a:t>
            </a:r>
            <a:r>
              <a:rPr lang="en-US" altLang="zh-CN" sz="2200" dirty="0">
                <a:latin typeface="+mn-ea"/>
                <a:ea typeface="+mn-ea"/>
              </a:rPr>
              <a:t>COM</a:t>
            </a:r>
            <a:r>
              <a:rPr lang="zh-CN" altLang="en-US" sz="2200" dirty="0">
                <a:latin typeface="+mn-ea"/>
                <a:ea typeface="+mn-ea"/>
              </a:rPr>
              <a:t>插孔，先判断被测三极管是</a:t>
            </a:r>
            <a:r>
              <a:rPr lang="en-US" altLang="zh-CN" sz="2200" dirty="0">
                <a:latin typeface="+mn-ea"/>
                <a:ea typeface="+mn-ea"/>
              </a:rPr>
              <a:t>PNP</a:t>
            </a:r>
            <a:r>
              <a:rPr lang="zh-CN" altLang="en-US" sz="2200" dirty="0">
                <a:latin typeface="+mn-ea"/>
                <a:ea typeface="+mn-ea"/>
              </a:rPr>
              <a:t>还是</a:t>
            </a:r>
            <a:r>
              <a:rPr lang="en-US" altLang="zh-CN" sz="2200" dirty="0">
                <a:latin typeface="+mn-ea"/>
                <a:ea typeface="+mn-ea"/>
              </a:rPr>
              <a:t>NPN</a:t>
            </a:r>
            <a:r>
              <a:rPr lang="zh-CN" altLang="en-US" sz="2200" dirty="0">
                <a:latin typeface="+mn-ea"/>
                <a:ea typeface="+mn-ea"/>
              </a:rPr>
              <a:t>型，定下基极</a:t>
            </a:r>
            <a:r>
              <a:rPr lang="en-US" altLang="zh-CN" sz="2200" dirty="0">
                <a:latin typeface="+mn-ea"/>
                <a:ea typeface="+mn-ea"/>
              </a:rPr>
              <a:t>b</a:t>
            </a:r>
            <a:endParaRPr lang="zh-CN" altLang="en-US" sz="2200" dirty="0">
              <a:latin typeface="+mn-ea"/>
              <a:ea typeface="+mn-ea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200" dirty="0">
                <a:latin typeface="+mn-ea"/>
                <a:ea typeface="+mn-ea"/>
              </a:rPr>
              <a:t>将功能量程置于</a:t>
            </a:r>
            <a:r>
              <a:rPr lang="en-US" altLang="zh-CN" sz="2200" dirty="0" err="1">
                <a:latin typeface="+mn-ea"/>
                <a:ea typeface="+mn-ea"/>
              </a:rPr>
              <a:t>hFE</a:t>
            </a:r>
            <a:r>
              <a:rPr lang="zh-CN" altLang="en-US" sz="2200" dirty="0">
                <a:latin typeface="+mn-ea"/>
                <a:ea typeface="+mn-ea"/>
              </a:rPr>
              <a:t>位置，把三极管插入面板上三极管测试插座，基极</a:t>
            </a:r>
            <a:r>
              <a:rPr lang="en-US" altLang="zh-CN" sz="2200" dirty="0">
                <a:latin typeface="+mn-ea"/>
                <a:ea typeface="+mn-ea"/>
              </a:rPr>
              <a:t>b</a:t>
            </a:r>
            <a:r>
              <a:rPr lang="zh-CN" altLang="en-US" sz="2200" dirty="0">
                <a:latin typeface="+mn-ea"/>
                <a:ea typeface="+mn-ea"/>
              </a:rPr>
              <a:t>要插对，集电极</a:t>
            </a:r>
            <a:r>
              <a:rPr lang="en-US" altLang="zh-CN" sz="2200" dirty="0">
                <a:latin typeface="+mn-ea"/>
                <a:ea typeface="+mn-ea"/>
              </a:rPr>
              <a:t>c</a:t>
            </a:r>
            <a:r>
              <a:rPr lang="zh-CN" altLang="en-US" sz="2200" dirty="0">
                <a:latin typeface="+mn-ea"/>
                <a:ea typeface="+mn-ea"/>
              </a:rPr>
              <a:t>和发射极</a:t>
            </a:r>
            <a:r>
              <a:rPr lang="en-US" altLang="zh-CN" sz="2200" dirty="0">
                <a:latin typeface="+mn-ea"/>
                <a:ea typeface="+mn-ea"/>
              </a:rPr>
              <a:t>e</a:t>
            </a:r>
            <a:r>
              <a:rPr lang="zh-CN" altLang="en-US" sz="2200" dirty="0">
                <a:latin typeface="+mn-ea"/>
                <a:ea typeface="+mn-ea"/>
              </a:rPr>
              <a:t>随便插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200" dirty="0">
                <a:latin typeface="+mn-ea"/>
                <a:ea typeface="+mn-ea"/>
              </a:rPr>
              <a:t>从显示屏上读取</a:t>
            </a:r>
            <a:r>
              <a:rPr lang="en-US" altLang="zh-CN" sz="2200" dirty="0" err="1">
                <a:latin typeface="+mn-ea"/>
                <a:ea typeface="+mn-ea"/>
              </a:rPr>
              <a:t>hFE</a:t>
            </a:r>
            <a:r>
              <a:rPr lang="zh-CN" altLang="en-US" sz="2200" dirty="0">
                <a:latin typeface="+mn-ea"/>
                <a:ea typeface="+mn-ea"/>
              </a:rPr>
              <a:t>近似值，若该值较大，说明三级管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极与插座上的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极对应；若该值很小，说明这时的三极管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极插反，应把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极对调后再读取</a:t>
            </a:r>
            <a:r>
              <a:rPr lang="en-US" altLang="zh-CN" sz="2200" dirty="0" err="1">
                <a:latin typeface="+mn-ea"/>
                <a:ea typeface="+mn-ea"/>
              </a:rPr>
              <a:t>hFE</a:t>
            </a:r>
            <a:r>
              <a:rPr lang="zh-CN" altLang="en-US" sz="2200" dirty="0">
                <a:latin typeface="+mn-ea"/>
                <a:ea typeface="+mn-ea"/>
              </a:rPr>
              <a:t>值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39813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三极管极性测量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6300192" y="1484784"/>
          <a:ext cx="2436414" cy="482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Visio" r:id="rId3" imgW="736600" imgH="1447800" progId="Visio.Drawing.11">
                  <p:embed/>
                </p:oleObj>
              </mc:Choice>
              <mc:Fallback>
                <p:oleObj name="Visio" r:id="rId3" imgW="736600" imgH="1447800" progId="Visio.Drawing.11">
                  <p:embed/>
                  <p:pic>
                    <p:nvPicPr>
                      <p:cNvPr id="0" name="图片 4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1484784"/>
                        <a:ext cx="2436414" cy="4824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3528" y="260648"/>
            <a:ext cx="7005464" cy="95436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元器件在实验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板</a:t>
            </a: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上有标记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线形标注 1 7"/>
          <p:cNvSpPr/>
          <p:nvPr/>
        </p:nvSpPr>
        <p:spPr>
          <a:xfrm>
            <a:off x="3563888" y="2060848"/>
            <a:ext cx="2016224" cy="576263"/>
          </a:xfrm>
          <a:prstGeom prst="borderCallout1">
            <a:avLst>
              <a:gd name="adj1" fmla="val 18750"/>
              <a:gd name="adj2" fmla="val -8333"/>
              <a:gd name="adj3" fmla="val 59589"/>
              <a:gd name="adj4" fmla="val -1209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二极管有方向的，正负有标记的</a:t>
            </a:r>
          </a:p>
        </p:txBody>
      </p:sp>
      <p:sp>
        <p:nvSpPr>
          <p:cNvPr id="9" name="椭圆形标注 8"/>
          <p:cNvSpPr/>
          <p:nvPr/>
        </p:nvSpPr>
        <p:spPr>
          <a:xfrm>
            <a:off x="7164288" y="2088896"/>
            <a:ext cx="1368425" cy="936625"/>
          </a:xfrm>
          <a:prstGeom prst="wedgeEllipseCallout">
            <a:avLst>
              <a:gd name="adj1" fmla="val -196438"/>
              <a:gd name="adj2" fmla="val 1404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插三极管位置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775"/>
            <a:ext cx="1914897" cy="1713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07" y="3645024"/>
            <a:ext cx="3174961" cy="2864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  <a:sym typeface="+mn-ea"/>
              </a:rPr>
              <a:t>万用表测三极管基极</a:t>
            </a:r>
            <a:r>
              <a:rPr lang="en-US" altLang="zh-CN" dirty="0">
                <a:latin typeface="+mn-ea"/>
                <a:ea typeface="+mn-ea"/>
                <a:sym typeface="+mn-ea"/>
              </a:rPr>
              <a:t>b</a:t>
            </a:r>
          </a:p>
        </p:txBody>
      </p:sp>
      <p:pic>
        <p:nvPicPr>
          <p:cNvPr id="3072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" y="1529080"/>
            <a:ext cx="3512185" cy="4526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232910" y="1196975"/>
            <a:ext cx="448691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万用表功能量程开关置于 “   ”位置</a:t>
            </a:r>
            <a:r>
              <a:rPr lang="en-US" altLang="zh-CN" sz="2000" b="1"/>
              <a:t>PNP</a:t>
            </a:r>
            <a:r>
              <a:rPr lang="zh-CN" altLang="en-US" sz="2000" b="1"/>
              <a:t>型：</a:t>
            </a:r>
            <a:r>
              <a:rPr lang="zh-CN" altLang="en-US" sz="2000" b="1" dirty="0">
                <a:latin typeface="+mn-ea"/>
                <a:sym typeface="+mn-ea"/>
              </a:rPr>
              <a:t>黑表笔固定其中一个点，红表笔分别接另外两个点都可以导通，则说明黑表笔这个点就是基极</a:t>
            </a:r>
            <a:r>
              <a:rPr lang="en-US" altLang="zh-CN" sz="2000" b="1" dirty="0">
                <a:latin typeface="+mn-ea"/>
                <a:sym typeface="+mn-ea"/>
              </a:rPr>
              <a:t>b</a:t>
            </a:r>
          </a:p>
          <a:p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NPN</a:t>
            </a: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型：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sym typeface="+mn-ea"/>
              </a:rPr>
              <a:t>红表笔固定其中一个点，黑表笔分别接另外两个点都可以导通，则说明红表笔这个点就是基极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+mn-ea"/>
                <a:sym typeface="+mn-ea"/>
              </a:rPr>
              <a:t>b</a:t>
            </a:r>
          </a:p>
          <a:p>
            <a:endParaRPr lang="en-US" altLang="zh-CN" sz="2000" b="1" dirty="0">
              <a:latin typeface="+mn-ea"/>
              <a:sym typeface="+mn-ea"/>
            </a:endParaRPr>
          </a:p>
        </p:txBody>
      </p:sp>
      <p:pic>
        <p:nvPicPr>
          <p:cNvPr id="7" name="图片 6" descr="b2A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595" y="3442335"/>
            <a:ext cx="2994660" cy="3021965"/>
          </a:xfrm>
          <a:prstGeom prst="rect">
            <a:avLst/>
          </a:prstGeom>
        </p:spPr>
      </p:pic>
      <p:pic>
        <p:nvPicPr>
          <p:cNvPr id="9" name="图片 8" descr="微信图片b_看图王qA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3441700"/>
            <a:ext cx="2686685" cy="3022600"/>
          </a:xfrm>
          <a:prstGeom prst="rect">
            <a:avLst/>
          </a:prstGeom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358" y="1062623"/>
            <a:ext cx="219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  <a:sym typeface="+mn-ea"/>
              </a:rPr>
              <a:t>万用表</a:t>
            </a:r>
            <a:r>
              <a:rPr lang="zh-CN" altLang="en-US">
                <a:sym typeface="+mn-ea"/>
              </a:rPr>
              <a:t>测三极管</a:t>
            </a:r>
            <a:r>
              <a:rPr lang="en-US" altLang="zh-CN"/>
              <a:t>c</a:t>
            </a:r>
            <a:r>
              <a:rPr lang="zh-CN" altLang="en-US"/>
              <a:t>极</a:t>
            </a:r>
            <a:r>
              <a:rPr lang="en-US" altLang="zh-CN"/>
              <a:t>e</a:t>
            </a:r>
            <a:r>
              <a:rPr lang="zh-CN" altLang="en-US"/>
              <a:t>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1140" y="1197610"/>
            <a:ext cx="8633460" cy="492887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+mn-ea"/>
                <a:ea typeface="+mn-ea"/>
                <a:sym typeface="+mn-ea"/>
              </a:rPr>
              <a:t>1.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万用表功能量程置于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hFE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位置。</a:t>
            </a:r>
          </a:p>
          <a:p>
            <a:pPr marL="0" indent="0">
              <a:buNone/>
            </a:pPr>
            <a:r>
              <a:rPr lang="en-US" altLang="zh-CN" sz="2000"/>
              <a:t>2.</a:t>
            </a:r>
            <a:r>
              <a:rPr lang="zh-CN" altLang="en-US" sz="2000"/>
              <a:t>根据</a:t>
            </a:r>
            <a:r>
              <a:rPr lang="en-US" altLang="zh-CN" sz="2000"/>
              <a:t>PNP,NPN</a:t>
            </a:r>
            <a:r>
              <a:rPr lang="zh-CN" altLang="en-US" sz="2000"/>
              <a:t>两种类型，将基极准确插入</a:t>
            </a:r>
            <a:r>
              <a:rPr lang="en-US" altLang="zh-CN" sz="2000"/>
              <a:t>B,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集电极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c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和发射极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e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随便插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+mn-ea"/>
                <a:ea typeface="+mn-ea"/>
                <a:sym typeface="+mn-ea"/>
              </a:rPr>
              <a:t>3.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万用表显示屏上读取</a:t>
            </a:r>
            <a:r>
              <a:rPr lang="en-US" altLang="zh-CN" sz="2000" dirty="0" err="1">
                <a:latin typeface="+mn-ea"/>
                <a:ea typeface="+mn-ea"/>
                <a:sym typeface="+mn-ea"/>
              </a:rPr>
              <a:t>hFE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值，若该值较大（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180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左右）三级管</a:t>
            </a:r>
            <a:r>
              <a:rPr lang="en-US" altLang="zh-CN" sz="2000" dirty="0" err="1">
                <a:latin typeface="+mn-ea"/>
                <a:ea typeface="+mn-ea"/>
                <a:sym typeface="+mn-ea"/>
              </a:rPr>
              <a:t>c,e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极与插座上的</a:t>
            </a:r>
            <a:r>
              <a:rPr lang="en-US" altLang="zh-CN" sz="2000" dirty="0" err="1">
                <a:latin typeface="+mn-ea"/>
                <a:ea typeface="+mn-ea"/>
                <a:sym typeface="+mn-ea"/>
              </a:rPr>
              <a:t>c,e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极对应。若该值较大（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20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左右）三极管</a:t>
            </a:r>
            <a:r>
              <a:rPr lang="en-US" altLang="zh-CN" sz="2000" dirty="0" err="1">
                <a:latin typeface="+mn-ea"/>
                <a:ea typeface="+mn-ea"/>
                <a:sym typeface="+mn-ea"/>
              </a:rPr>
              <a:t>c,e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极插反</a:t>
            </a:r>
            <a:endParaRPr lang="en-US" altLang="zh-CN" sz="2000" dirty="0">
              <a:latin typeface="+mn-ea"/>
              <a:ea typeface="+mn-ea"/>
              <a:sym typeface="+mn-ea"/>
            </a:endParaRP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 descr="hFE1A_看图王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" y="2767330"/>
            <a:ext cx="3949065" cy="3890645"/>
          </a:xfrm>
          <a:prstGeom prst="rect">
            <a:avLst/>
          </a:prstGeom>
        </p:spPr>
      </p:pic>
      <p:pic>
        <p:nvPicPr>
          <p:cNvPr id="6" name="图片 5" descr="hFE2A_看图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720" y="2767330"/>
            <a:ext cx="4374515" cy="41090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470142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用晶体管实现正逻辑“与非门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”</a:t>
            </a:r>
          </a:p>
        </p:txBody>
      </p:sp>
      <p:sp>
        <p:nvSpPr>
          <p:cNvPr id="7" name="内容占位符 4"/>
          <p:cNvSpPr txBox="1"/>
          <p:nvPr/>
        </p:nvSpPr>
        <p:spPr>
          <a:xfrm>
            <a:off x="441325" y="1289769"/>
            <a:ext cx="4257675" cy="52355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在实验箱上连好电路，检查二极管、三极管及电源极性、电阻值等是否正确。</a:t>
            </a: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将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+5V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直流电源接入 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V</a:t>
            </a:r>
            <a:r>
              <a:rPr lang="en-US" altLang="zh-CN" sz="22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CC</a:t>
            </a: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输入 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端的高、低电平用开关</a:t>
            </a:r>
            <a:r>
              <a:rPr lang="en-US" altLang="zh-CN" sz="2000" b="1" dirty="0">
                <a:latin typeface="+mn-ea"/>
              </a:rPr>
              <a:t>S1/S2/S3/S4/S5/S6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产生。测量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及输出端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对应的电压值，填入右表。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判断逻辑关系是否满足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=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AB</a:t>
            </a:r>
            <a:endParaRPr lang="zh-CN" altLang="en-US" sz="2200" b="1" i="1" dirty="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cxnSp>
        <p:nvCxnSpPr>
          <p:cNvPr id="10" name="直接连接符 3"/>
          <p:cNvCxnSpPr/>
          <p:nvPr/>
        </p:nvCxnSpPr>
        <p:spPr>
          <a:xfrm>
            <a:off x="4175125" y="5659661"/>
            <a:ext cx="428625" cy="158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61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5" y="1277863"/>
            <a:ext cx="428625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表格"/>
          <p:cNvGraphicFramePr>
            <a:graphicFrameLocks noGrp="1"/>
          </p:cNvGraphicFramePr>
          <p:nvPr/>
        </p:nvGraphicFramePr>
        <p:xfrm>
          <a:off x="4963987" y="4239914"/>
          <a:ext cx="4000501" cy="235743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88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9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i="1" kern="12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A </a:t>
                      </a:r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 </a:t>
                      </a:r>
                      <a:r>
                        <a:rPr lang="en-US" altLang="zh-CN" sz="2100" b="1" i="0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endParaRPr lang="zh-CN" altLang="en-US" sz="2100" b="1" i="0" kern="1200" baseline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i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B </a:t>
                      </a:r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 </a:t>
                      </a:r>
                      <a:r>
                        <a:rPr lang="en-US" altLang="zh-CN" sz="2100" b="1" i="0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endParaRPr lang="zh-CN" altLang="en-US" sz="2100" b="1" i="0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r>
                        <a:rPr lang="en-US" altLang="zh-CN" sz="2100" b="1" i="1" kern="1200" baseline="-25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 </a:t>
                      </a:r>
                      <a:r>
                        <a:rPr lang="en-US" altLang="zh-CN" sz="2100" b="1" i="1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/ </a:t>
                      </a:r>
                      <a:r>
                        <a:rPr lang="en-US" altLang="zh-CN" sz="2100" b="1" i="0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V</a:t>
                      </a:r>
                      <a:endParaRPr lang="zh-CN" altLang="en-US" sz="2100" b="1" i="0" kern="1200" baseline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新宋体" panose="02010609030101010101" charset="-122"/>
                        <a:cs typeface="+mn-cs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100" b="1" i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F </a:t>
                      </a:r>
                      <a:r>
                        <a:rPr lang="zh-CN" altLang="en-US" sz="2100" b="1" i="0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新宋体" panose="02010609030101010101" charset="-122"/>
                          <a:cs typeface="+mn-cs"/>
                        </a:rPr>
                        <a:t>逻辑值</a:t>
                      </a: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375"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375"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375"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375"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398134"/>
            <a:ext cx="8001056" cy="582594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4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正逻辑“与非门”接线图</a:t>
            </a:r>
          </a:p>
        </p:txBody>
      </p:sp>
      <p:sp>
        <p:nvSpPr>
          <p:cNvPr id="7" name="内容占位符 4"/>
          <p:cNvSpPr txBox="1"/>
          <p:nvPr/>
        </p:nvSpPr>
        <p:spPr>
          <a:xfrm>
            <a:off x="441325" y="1289769"/>
            <a:ext cx="4257675" cy="52355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在实验箱上连好电路，检查二极管、三极管及电源极性、电阻值等是否正确。</a:t>
            </a: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将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+5V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直流电源接入 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V</a:t>
            </a:r>
            <a:r>
              <a:rPr lang="en-US" altLang="zh-CN" sz="22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CC</a:t>
            </a: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输入 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端的高、低电平用开关</a:t>
            </a:r>
            <a:r>
              <a:rPr lang="en-US" altLang="zh-CN" sz="2400" b="1" dirty="0">
                <a:latin typeface="+mn-ea"/>
              </a:rPr>
              <a:t>S1/S2/S3/S4/S5/S6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产生。测量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A,B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及输出端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对应的电压值，填入右表。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</a:rPr>
              <a:t>判断逻辑关系是否满足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F 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=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AB</a:t>
            </a:r>
            <a:endParaRPr lang="zh-CN" altLang="en-US" sz="2200" b="1" i="1" dirty="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cxnSp>
        <p:nvCxnSpPr>
          <p:cNvPr id="10" name="直接连接符 3"/>
          <p:cNvCxnSpPr/>
          <p:nvPr/>
        </p:nvCxnSpPr>
        <p:spPr>
          <a:xfrm>
            <a:off x="4175125" y="5659661"/>
            <a:ext cx="428625" cy="158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09" name="Picture 6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268" y="4184134"/>
            <a:ext cx="4049464" cy="263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对象 7"/>
          <p:cNvGraphicFramePr/>
          <p:nvPr>
            <p:custDataLst>
              <p:tags r:id="rId3"/>
            </p:custDataLst>
          </p:nvPr>
        </p:nvGraphicFramePr>
        <p:xfrm>
          <a:off x="4641215" y="980440"/>
          <a:ext cx="4394200" cy="310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r:id="rId6" imgW="4391025" imgH="3371850" progId="Paint.Picture">
                  <p:embed/>
                </p:oleObj>
              </mc:Choice>
              <mc:Fallback>
                <p:oleObj r:id="rId6" imgW="4391025" imgH="33718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41215" y="980440"/>
                        <a:ext cx="4394200" cy="3100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" y="156845"/>
            <a:ext cx="7967345" cy="954405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  <a:sym typeface="+mn-ea"/>
              </a:rPr>
              <a:t>与非门</a:t>
            </a:r>
            <a:r>
              <a:rPr lang="zh-CN" dirty="0">
                <a:solidFill>
                  <a:srgbClr val="FF0000"/>
                </a:solidFill>
                <a:sym typeface="+mn-ea"/>
              </a:rPr>
              <a:t>三组测试数据（报告中分析）</a:t>
            </a:r>
          </a:p>
        </p:txBody>
      </p:sp>
      <p:graphicFrame>
        <p:nvGraphicFramePr>
          <p:cNvPr id="3" name="对象 2"/>
          <p:cNvGraphicFramePr/>
          <p:nvPr>
            <p:custDataLst>
              <p:tags r:id="rId2"/>
            </p:custDataLst>
          </p:nvPr>
        </p:nvGraphicFramePr>
        <p:xfrm>
          <a:off x="239395" y="962660"/>
          <a:ext cx="3860800" cy="3450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r:id="rId4" imgW="3857625" imgH="3448050" progId="Paint.Picture">
                  <p:embed/>
                </p:oleObj>
              </mc:Choice>
              <mc:Fallback>
                <p:oleObj r:id="rId4" imgW="3857625" imgH="34480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9395" y="962660"/>
                        <a:ext cx="3860800" cy="3450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4819650" y="962660"/>
          <a:ext cx="3851275" cy="3079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r:id="rId6" imgW="3848100" imgH="3076575" progId="Paint.Picture">
                  <p:embed/>
                </p:oleObj>
              </mc:Choice>
              <mc:Fallback>
                <p:oleObj r:id="rId6" imgW="3848100" imgH="3076575" progId="Paint.Picture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19650" y="962660"/>
                        <a:ext cx="3851275" cy="3079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/>
          <p:nvPr/>
        </p:nvGraphicFramePr>
        <p:xfrm>
          <a:off x="2806700" y="4100830"/>
          <a:ext cx="3736975" cy="2591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2" r:id="rId8" imgW="3733800" imgH="3000375" progId="Paint.Picture">
                  <p:embed/>
                </p:oleObj>
              </mc:Choice>
              <mc:Fallback>
                <p:oleObj r:id="rId8" imgW="3733800" imgH="3000375" progId="Paint.Picture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06700" y="4100830"/>
                        <a:ext cx="3736975" cy="2591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95536" y="1268760"/>
            <a:ext cx="5829300" cy="5643562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200" dirty="0">
                <a:latin typeface="+mn-ea"/>
                <a:ea typeface="+mn-ea"/>
              </a:rPr>
              <a:t>将万用表红表笔插入</a:t>
            </a:r>
            <a:r>
              <a:rPr lang="en-US" altLang="zh-CN" sz="2200" dirty="0" err="1">
                <a:latin typeface="+mn-ea"/>
                <a:ea typeface="+mn-ea"/>
              </a:rPr>
              <a:t>VΩmA</a:t>
            </a:r>
            <a:r>
              <a:rPr lang="zh-CN" altLang="en-US" sz="2200" dirty="0">
                <a:latin typeface="+mn-ea"/>
                <a:ea typeface="+mn-ea"/>
              </a:rPr>
              <a:t>插孔，黑表笔插入</a:t>
            </a:r>
            <a:r>
              <a:rPr lang="en-US" altLang="zh-CN" sz="2200" dirty="0">
                <a:latin typeface="+mn-ea"/>
                <a:ea typeface="+mn-ea"/>
              </a:rPr>
              <a:t>COM</a:t>
            </a:r>
            <a:r>
              <a:rPr lang="zh-CN" altLang="en-US" sz="2200" dirty="0">
                <a:latin typeface="+mn-ea"/>
                <a:ea typeface="+mn-ea"/>
              </a:rPr>
              <a:t>插孔，先判断被测三极管是</a:t>
            </a:r>
            <a:r>
              <a:rPr lang="en-US" altLang="zh-CN" sz="2200" dirty="0">
                <a:latin typeface="+mn-ea"/>
                <a:ea typeface="+mn-ea"/>
              </a:rPr>
              <a:t>PNP</a:t>
            </a:r>
            <a:r>
              <a:rPr lang="zh-CN" altLang="en-US" sz="2200" dirty="0">
                <a:latin typeface="+mn-ea"/>
                <a:ea typeface="+mn-ea"/>
              </a:rPr>
              <a:t>还是</a:t>
            </a:r>
            <a:r>
              <a:rPr lang="en-US" altLang="zh-CN" sz="2200" dirty="0">
                <a:latin typeface="+mn-ea"/>
                <a:ea typeface="+mn-ea"/>
              </a:rPr>
              <a:t>NPN</a:t>
            </a:r>
            <a:r>
              <a:rPr lang="zh-CN" altLang="en-US" sz="2200" dirty="0">
                <a:latin typeface="+mn-ea"/>
                <a:ea typeface="+mn-ea"/>
              </a:rPr>
              <a:t>型，定下基极</a:t>
            </a:r>
            <a:r>
              <a:rPr lang="en-US" altLang="zh-CN" sz="2200" dirty="0">
                <a:latin typeface="+mn-ea"/>
                <a:ea typeface="+mn-ea"/>
              </a:rPr>
              <a:t>b</a:t>
            </a:r>
            <a:endParaRPr lang="zh-CN" altLang="en-US" sz="2200" dirty="0">
              <a:latin typeface="+mn-ea"/>
              <a:ea typeface="+mn-ea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200" dirty="0">
                <a:latin typeface="+mn-ea"/>
                <a:ea typeface="+mn-ea"/>
              </a:rPr>
              <a:t>将功能量程置于</a:t>
            </a:r>
            <a:r>
              <a:rPr lang="en-US" altLang="zh-CN" sz="2200" dirty="0" err="1">
                <a:latin typeface="+mn-ea"/>
                <a:ea typeface="+mn-ea"/>
              </a:rPr>
              <a:t>hFE</a:t>
            </a:r>
            <a:r>
              <a:rPr lang="zh-CN" altLang="en-US" sz="2200" dirty="0">
                <a:latin typeface="+mn-ea"/>
                <a:ea typeface="+mn-ea"/>
              </a:rPr>
              <a:t>位置，把三极管插入面板上三极管测试插座，基极</a:t>
            </a:r>
            <a:r>
              <a:rPr lang="en-US" altLang="zh-CN" sz="2200" dirty="0">
                <a:latin typeface="+mn-ea"/>
                <a:ea typeface="+mn-ea"/>
              </a:rPr>
              <a:t>b</a:t>
            </a:r>
            <a:r>
              <a:rPr lang="zh-CN" altLang="en-US" sz="2200" dirty="0">
                <a:latin typeface="+mn-ea"/>
                <a:ea typeface="+mn-ea"/>
              </a:rPr>
              <a:t>要插对，集电极</a:t>
            </a:r>
            <a:r>
              <a:rPr lang="en-US" altLang="zh-CN" sz="2200" dirty="0">
                <a:latin typeface="+mn-ea"/>
                <a:ea typeface="+mn-ea"/>
              </a:rPr>
              <a:t>c</a:t>
            </a:r>
            <a:r>
              <a:rPr lang="zh-CN" altLang="en-US" sz="2200" dirty="0">
                <a:latin typeface="+mn-ea"/>
                <a:ea typeface="+mn-ea"/>
              </a:rPr>
              <a:t>和发射极</a:t>
            </a:r>
            <a:r>
              <a:rPr lang="en-US" altLang="zh-CN" sz="2200" dirty="0">
                <a:latin typeface="+mn-ea"/>
                <a:ea typeface="+mn-ea"/>
              </a:rPr>
              <a:t>e</a:t>
            </a:r>
            <a:r>
              <a:rPr lang="zh-CN" altLang="en-US" sz="2200" dirty="0">
                <a:latin typeface="+mn-ea"/>
                <a:ea typeface="+mn-ea"/>
              </a:rPr>
              <a:t>随便插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200" dirty="0">
                <a:latin typeface="+mn-ea"/>
                <a:ea typeface="+mn-ea"/>
              </a:rPr>
              <a:t>从显示屏上读取</a:t>
            </a:r>
            <a:r>
              <a:rPr lang="en-US" altLang="zh-CN" sz="2200" dirty="0" err="1">
                <a:latin typeface="+mn-ea"/>
                <a:ea typeface="+mn-ea"/>
              </a:rPr>
              <a:t>hFE</a:t>
            </a:r>
            <a:r>
              <a:rPr lang="zh-CN" altLang="en-US" sz="2200" dirty="0">
                <a:latin typeface="+mn-ea"/>
                <a:ea typeface="+mn-ea"/>
              </a:rPr>
              <a:t>近似值，若该值较大，说明三级管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极与插座上的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极对应；若该值很小，说明这时的三极管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极插反，应把</a:t>
            </a:r>
            <a:r>
              <a:rPr lang="en-US" altLang="zh-CN" sz="2200" dirty="0" err="1">
                <a:latin typeface="+mn-ea"/>
                <a:ea typeface="+mn-ea"/>
              </a:rPr>
              <a:t>c,e</a:t>
            </a:r>
            <a:r>
              <a:rPr lang="zh-CN" altLang="en-US" sz="2200" dirty="0">
                <a:latin typeface="+mn-ea"/>
                <a:ea typeface="+mn-ea"/>
              </a:rPr>
              <a:t>极对调后再读取</a:t>
            </a:r>
            <a:r>
              <a:rPr lang="en-US" altLang="zh-CN" sz="2200" dirty="0" err="1">
                <a:latin typeface="+mn-ea"/>
                <a:ea typeface="+mn-ea"/>
              </a:rPr>
              <a:t>hFE</a:t>
            </a:r>
            <a:r>
              <a:rPr lang="zh-CN" altLang="en-US" sz="2200" dirty="0">
                <a:latin typeface="+mn-ea"/>
                <a:ea typeface="+mn-ea"/>
              </a:rPr>
              <a:t>值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3528" y="398134"/>
            <a:ext cx="8001056" cy="58259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三极管极性测量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6300192" y="1484784"/>
          <a:ext cx="2436414" cy="482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Visio" r:id="rId3" imgW="736600" imgH="1447800" progId="Visio.Drawing.11">
                  <p:embed/>
                </p:oleObj>
              </mc:Choice>
              <mc:Fallback>
                <p:oleObj name="Visio" r:id="rId3" imgW="736600" imgH="1447800" progId="Visio.Drawing.11">
                  <p:embed/>
                  <p:pic>
                    <p:nvPicPr>
                      <p:cNvPr id="0" name="图片 4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1484784"/>
                        <a:ext cx="2436414" cy="4824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3528" y="260648"/>
            <a:ext cx="7005464" cy="95436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元器件在实验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板</a:t>
            </a: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上有标记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线形标注 1 7"/>
          <p:cNvSpPr/>
          <p:nvPr/>
        </p:nvSpPr>
        <p:spPr>
          <a:xfrm>
            <a:off x="3563888" y="2060848"/>
            <a:ext cx="2016224" cy="576263"/>
          </a:xfrm>
          <a:prstGeom prst="borderCallout1">
            <a:avLst>
              <a:gd name="adj1" fmla="val 18750"/>
              <a:gd name="adj2" fmla="val -8333"/>
              <a:gd name="adj3" fmla="val 59589"/>
              <a:gd name="adj4" fmla="val -1209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二极管有方向的，正负有标记的</a:t>
            </a:r>
          </a:p>
        </p:txBody>
      </p:sp>
      <p:sp>
        <p:nvSpPr>
          <p:cNvPr id="9" name="椭圆形标注 8"/>
          <p:cNvSpPr/>
          <p:nvPr/>
        </p:nvSpPr>
        <p:spPr>
          <a:xfrm>
            <a:off x="7164288" y="2088896"/>
            <a:ext cx="1368425" cy="936625"/>
          </a:xfrm>
          <a:prstGeom prst="wedgeEllipseCallout">
            <a:avLst>
              <a:gd name="adj1" fmla="val -196438"/>
              <a:gd name="adj2" fmla="val 1404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插三极管位置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775"/>
            <a:ext cx="1914897" cy="1713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07" y="3645024"/>
            <a:ext cx="3174961" cy="2864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  <a:sym typeface="+mn-ea"/>
              </a:rPr>
              <a:t>万用表测三极管基极</a:t>
            </a:r>
            <a:r>
              <a:rPr lang="en-US" altLang="zh-CN" dirty="0">
                <a:latin typeface="+mn-ea"/>
                <a:ea typeface="+mn-ea"/>
                <a:sym typeface="+mn-ea"/>
              </a:rPr>
              <a:t>b</a:t>
            </a:r>
          </a:p>
        </p:txBody>
      </p:sp>
      <p:pic>
        <p:nvPicPr>
          <p:cNvPr id="3072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" y="1529080"/>
            <a:ext cx="3512185" cy="4526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232910" y="1196975"/>
            <a:ext cx="448691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万用表功能量程开关置于 “   ”位置</a:t>
            </a:r>
            <a:r>
              <a:rPr lang="en-US" altLang="zh-CN" sz="2000" b="1"/>
              <a:t>PNP</a:t>
            </a:r>
            <a:r>
              <a:rPr lang="zh-CN" altLang="en-US" sz="2000" b="1"/>
              <a:t>型：</a:t>
            </a:r>
            <a:r>
              <a:rPr lang="zh-CN" altLang="en-US" sz="2000" b="1" dirty="0">
                <a:latin typeface="+mn-ea"/>
                <a:sym typeface="+mn-ea"/>
              </a:rPr>
              <a:t>黑表笔固定其中一个点，红表笔分别接另外两个点都可以导通，则说明黑表笔这个点就是基极</a:t>
            </a:r>
            <a:r>
              <a:rPr lang="en-US" altLang="zh-CN" sz="2000" b="1" dirty="0">
                <a:latin typeface="+mn-ea"/>
                <a:sym typeface="+mn-ea"/>
              </a:rPr>
              <a:t>b</a:t>
            </a:r>
          </a:p>
          <a:p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NPN</a:t>
            </a: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型：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sym typeface="+mn-ea"/>
              </a:rPr>
              <a:t>红表笔固定其中一个点，黑表笔分别接另外两个点都可以导通，则说明红表笔这个点就是基极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+mn-ea"/>
                <a:sym typeface="+mn-ea"/>
              </a:rPr>
              <a:t>b</a:t>
            </a:r>
          </a:p>
          <a:p>
            <a:endParaRPr lang="en-US" altLang="zh-CN" sz="2000" b="1" dirty="0">
              <a:latin typeface="+mn-ea"/>
              <a:sym typeface="+mn-ea"/>
            </a:endParaRPr>
          </a:p>
        </p:txBody>
      </p:sp>
      <p:pic>
        <p:nvPicPr>
          <p:cNvPr id="7" name="图片 6" descr="b2A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595" y="3442335"/>
            <a:ext cx="2994660" cy="3021965"/>
          </a:xfrm>
          <a:prstGeom prst="rect">
            <a:avLst/>
          </a:prstGeom>
        </p:spPr>
      </p:pic>
      <p:pic>
        <p:nvPicPr>
          <p:cNvPr id="9" name="图片 8" descr="微信图片b_看图王qA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3441700"/>
            <a:ext cx="2686685" cy="3022600"/>
          </a:xfrm>
          <a:prstGeom prst="rect">
            <a:avLst/>
          </a:prstGeom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358" y="1062623"/>
            <a:ext cx="219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  <a:sym typeface="+mn-ea"/>
              </a:rPr>
              <a:t>万用表</a:t>
            </a:r>
            <a:r>
              <a:rPr lang="zh-CN" altLang="en-US">
                <a:sym typeface="+mn-ea"/>
              </a:rPr>
              <a:t>测三极管</a:t>
            </a:r>
            <a:r>
              <a:rPr lang="en-US" altLang="zh-CN"/>
              <a:t>c</a:t>
            </a:r>
            <a:r>
              <a:rPr lang="zh-CN" altLang="en-US"/>
              <a:t>极</a:t>
            </a:r>
            <a:r>
              <a:rPr lang="en-US" altLang="zh-CN"/>
              <a:t>e</a:t>
            </a:r>
            <a:r>
              <a:rPr lang="zh-CN" altLang="en-US"/>
              <a:t>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1140" y="1197610"/>
            <a:ext cx="8633460" cy="492887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+mn-ea"/>
                <a:ea typeface="+mn-ea"/>
                <a:sym typeface="+mn-ea"/>
              </a:rPr>
              <a:t>1.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万用表功能量程置于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hFE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位置。</a:t>
            </a:r>
          </a:p>
          <a:p>
            <a:pPr marL="0" indent="0">
              <a:buNone/>
            </a:pPr>
            <a:r>
              <a:rPr lang="en-US" altLang="zh-CN" sz="2000"/>
              <a:t>2.</a:t>
            </a:r>
            <a:r>
              <a:rPr lang="zh-CN" altLang="en-US" sz="2000"/>
              <a:t>根据</a:t>
            </a:r>
            <a:r>
              <a:rPr lang="en-US" altLang="zh-CN" sz="2000"/>
              <a:t>PNP,NPN</a:t>
            </a:r>
            <a:r>
              <a:rPr lang="zh-CN" altLang="en-US" sz="2000"/>
              <a:t>两种类型，将基极准确插入</a:t>
            </a:r>
            <a:r>
              <a:rPr lang="en-US" altLang="zh-CN" sz="2000"/>
              <a:t>B,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集电极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c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和发射极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e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随便插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+mn-ea"/>
                <a:ea typeface="+mn-ea"/>
                <a:sym typeface="+mn-ea"/>
              </a:rPr>
              <a:t>3.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万用表显示屏上读取</a:t>
            </a:r>
            <a:r>
              <a:rPr lang="en-US" altLang="zh-CN" sz="2000" dirty="0" err="1">
                <a:latin typeface="+mn-ea"/>
                <a:ea typeface="+mn-ea"/>
                <a:sym typeface="+mn-ea"/>
              </a:rPr>
              <a:t>hFE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值，若该值较大（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180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左右）三级管</a:t>
            </a:r>
            <a:r>
              <a:rPr lang="en-US" altLang="zh-CN" sz="2000" dirty="0" err="1">
                <a:latin typeface="+mn-ea"/>
                <a:ea typeface="+mn-ea"/>
                <a:sym typeface="+mn-ea"/>
              </a:rPr>
              <a:t>c,e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极与插座上的</a:t>
            </a:r>
            <a:r>
              <a:rPr lang="en-US" altLang="zh-CN" sz="2000" dirty="0" err="1">
                <a:latin typeface="+mn-ea"/>
                <a:ea typeface="+mn-ea"/>
                <a:sym typeface="+mn-ea"/>
              </a:rPr>
              <a:t>c,e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极对应。若该值较大（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20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左右）三极管</a:t>
            </a:r>
            <a:r>
              <a:rPr lang="en-US" altLang="zh-CN" sz="2000" dirty="0" err="1">
                <a:latin typeface="+mn-ea"/>
                <a:ea typeface="+mn-ea"/>
                <a:sym typeface="+mn-ea"/>
              </a:rPr>
              <a:t>c,e</a:t>
            </a:r>
            <a:r>
              <a:rPr lang="zh-CN" altLang="en-US" sz="2000" dirty="0">
                <a:latin typeface="+mn-ea"/>
                <a:ea typeface="+mn-ea"/>
                <a:sym typeface="+mn-ea"/>
              </a:rPr>
              <a:t>极插反</a:t>
            </a:r>
            <a:endParaRPr lang="en-US" altLang="zh-CN" sz="2000" dirty="0">
              <a:latin typeface="+mn-ea"/>
              <a:ea typeface="+mn-ea"/>
              <a:sym typeface="+mn-ea"/>
            </a:endParaRP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 descr="hFE1A_看图王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" y="2767330"/>
            <a:ext cx="3949065" cy="3890645"/>
          </a:xfrm>
          <a:prstGeom prst="rect">
            <a:avLst/>
          </a:prstGeom>
        </p:spPr>
      </p:pic>
      <p:pic>
        <p:nvPicPr>
          <p:cNvPr id="6" name="图片 5" descr="hFE2A_看图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720" y="2767330"/>
            <a:ext cx="4374515" cy="410908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313830"/>
            <a:ext cx="8229600" cy="5643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高低电平产生通过开关</a:t>
            </a:r>
            <a:r>
              <a:rPr lang="en-US" altLang="zh-CN" sz="2400" dirty="0">
                <a:latin typeface="+mn-ea"/>
              </a:rPr>
              <a:t>S1/S2/S3/S4/S5/S6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开关向上拨高电平</a:t>
            </a:r>
            <a:r>
              <a:rPr lang="en-US" altLang="zh-CN" sz="2400" dirty="0">
                <a:latin typeface="+mn-ea"/>
                <a:ea typeface="+mn-ea"/>
              </a:rPr>
              <a:t>,</a:t>
            </a:r>
            <a:r>
              <a:rPr lang="zh-CN" altLang="en-US" sz="2400" dirty="0">
                <a:latin typeface="+mn-ea"/>
                <a:ea typeface="+mn-ea"/>
              </a:rPr>
              <a:t>开关向下拨低电平。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高低电平通过</a:t>
            </a:r>
            <a:r>
              <a:rPr lang="en-US" altLang="zh-CN" sz="2400" dirty="0">
                <a:latin typeface="+mn-ea"/>
                <a:ea typeface="+mn-ea"/>
              </a:rPr>
              <a:t>S</a:t>
            </a:r>
            <a:r>
              <a:rPr lang="en-US" altLang="zh-CN" sz="2400" dirty="0">
                <a:latin typeface="+mn-ea"/>
              </a:rPr>
              <a:t> S1/S2/S3/S4/S5/S6</a:t>
            </a:r>
            <a:r>
              <a:rPr lang="zh-CN" altLang="en-US" sz="2400" dirty="0">
                <a:latin typeface="+mn-ea"/>
                <a:ea typeface="+mn-ea"/>
              </a:rPr>
              <a:t>插孔输出。</a:t>
            </a:r>
            <a:endParaRPr lang="en-US" altLang="zh-CN" sz="2400" dirty="0">
              <a:latin typeface="+mn-ea"/>
              <a:ea typeface="+mn-ea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S1~~S6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开关图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933056"/>
            <a:ext cx="6840760" cy="195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S14~~S17</a:t>
            </a:r>
            <a:r>
              <a:rPr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开关内部接线图</a:t>
            </a:r>
          </a:p>
        </p:txBody>
      </p:sp>
      <p:sp>
        <p:nvSpPr>
          <p:cNvPr id="28679" name="TextBox 6"/>
          <p:cNvSpPr txBox="1">
            <a:spLocks noChangeArrowheads="1"/>
          </p:cNvSpPr>
          <p:nvPr/>
        </p:nvSpPr>
        <p:spPr bwMode="auto">
          <a:xfrm>
            <a:off x="642938" y="1196752"/>
            <a:ext cx="792956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/>
              <a:t>        </a:t>
            </a:r>
            <a:r>
              <a:rPr lang="zh-CN" altLang="en-US" sz="2400" b="1" dirty="0"/>
              <a:t>生产高低电平的电路图，实验板内部接好的，不需要自己接线，通过拨位开关，插孔</a:t>
            </a:r>
            <a:r>
              <a:rPr lang="en-US" altLang="zh-CN" sz="2400" b="1" dirty="0"/>
              <a:t>S1/S2---/S5/S6</a:t>
            </a:r>
            <a:r>
              <a:rPr lang="zh-CN" altLang="en-US" sz="2400" b="1" dirty="0"/>
              <a:t>能直接输出高电平和低电平。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949575"/>
            <a:ext cx="613410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3528" y="260648"/>
            <a:ext cx="7005464" cy="95436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元器件在实验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板</a:t>
            </a: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上有标记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线形标注 1 7"/>
          <p:cNvSpPr/>
          <p:nvPr/>
        </p:nvSpPr>
        <p:spPr>
          <a:xfrm>
            <a:off x="3563888" y="2060848"/>
            <a:ext cx="2016224" cy="576263"/>
          </a:xfrm>
          <a:prstGeom prst="borderCallout1">
            <a:avLst>
              <a:gd name="adj1" fmla="val 18750"/>
              <a:gd name="adj2" fmla="val -8333"/>
              <a:gd name="adj3" fmla="val 59589"/>
              <a:gd name="adj4" fmla="val -1209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二极管有方向的，正负有标记的</a:t>
            </a:r>
          </a:p>
        </p:txBody>
      </p:sp>
      <p:sp>
        <p:nvSpPr>
          <p:cNvPr id="9" name="椭圆形标注 8"/>
          <p:cNvSpPr/>
          <p:nvPr/>
        </p:nvSpPr>
        <p:spPr>
          <a:xfrm>
            <a:off x="7164288" y="2088896"/>
            <a:ext cx="1368425" cy="936625"/>
          </a:xfrm>
          <a:prstGeom prst="wedgeEllipseCallout">
            <a:avLst>
              <a:gd name="adj1" fmla="val -196438"/>
              <a:gd name="adj2" fmla="val 1404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插三极管位置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775"/>
            <a:ext cx="1914897" cy="1713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07" y="3645024"/>
            <a:ext cx="3174961" cy="2864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dirty="0"/>
              <a:t>三极管</a:t>
            </a:r>
          </a:p>
        </p:txBody>
      </p:sp>
      <p:pic>
        <p:nvPicPr>
          <p:cNvPr id="3072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851" y="1268760"/>
            <a:ext cx="4824413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D:\dyb\课程资料\备课笔记\数字电子技术基础\逻辑与计算机设计基础课件\实验课件\数字逻辑设计实验 - 课件\IMG_20161009_20240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04" r="13275"/>
          <a:stretch>
            <a:fillRect/>
          </a:stretch>
        </p:blipFill>
        <p:spPr bwMode="auto">
          <a:xfrm>
            <a:off x="2760784" y="1309826"/>
            <a:ext cx="2725615" cy="528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3528" y="260648"/>
            <a:ext cx="7005464" cy="95436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元器件在实验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板</a:t>
            </a:r>
            <a:r>
              <a:rPr sz="40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上有标记</a:t>
            </a:r>
            <a:endParaRPr sz="40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形标注 8"/>
          <p:cNvSpPr/>
          <p:nvPr/>
        </p:nvSpPr>
        <p:spPr>
          <a:xfrm>
            <a:off x="7283623" y="5373216"/>
            <a:ext cx="1368425" cy="936625"/>
          </a:xfrm>
          <a:prstGeom prst="wedgeEllipseCallout">
            <a:avLst>
              <a:gd name="adj1" fmla="val -197992"/>
              <a:gd name="adj2" fmla="val -1240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三极管</a:t>
            </a:r>
          </a:p>
        </p:txBody>
      </p:sp>
      <p:sp>
        <p:nvSpPr>
          <p:cNvPr id="10" name="椭圆形标注 9"/>
          <p:cNvSpPr/>
          <p:nvPr/>
        </p:nvSpPr>
        <p:spPr>
          <a:xfrm>
            <a:off x="7144533" y="3789239"/>
            <a:ext cx="1368425" cy="936625"/>
          </a:xfrm>
          <a:prstGeom prst="wedgeEllipseCallout">
            <a:avLst>
              <a:gd name="adj1" fmla="val -190282"/>
              <a:gd name="adj2" fmla="val -1259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电阻</a:t>
            </a:r>
          </a:p>
        </p:txBody>
      </p:sp>
      <p:sp>
        <p:nvSpPr>
          <p:cNvPr id="11" name="椭圆形标注 10"/>
          <p:cNvSpPr/>
          <p:nvPr/>
        </p:nvSpPr>
        <p:spPr>
          <a:xfrm>
            <a:off x="7281735" y="2276351"/>
            <a:ext cx="1368425" cy="936625"/>
          </a:xfrm>
          <a:prstGeom prst="wedgeEllipseCallout">
            <a:avLst>
              <a:gd name="adj1" fmla="val -200562"/>
              <a:gd name="adj2" fmla="val -414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接地</a:t>
            </a:r>
          </a:p>
        </p:txBody>
      </p:sp>
      <p:sp>
        <p:nvSpPr>
          <p:cNvPr id="12" name="椭圆形标注 11"/>
          <p:cNvSpPr/>
          <p:nvPr/>
        </p:nvSpPr>
        <p:spPr>
          <a:xfrm>
            <a:off x="755699" y="1798389"/>
            <a:ext cx="1368425" cy="936625"/>
          </a:xfrm>
          <a:prstGeom prst="wedgeEllipseCallout">
            <a:avLst>
              <a:gd name="adj1" fmla="val 178521"/>
              <a:gd name="adj2" fmla="val -1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+5V</a:t>
            </a:r>
            <a:endParaRPr lang="zh-CN" altLang="en-US" dirty="0"/>
          </a:p>
        </p:txBody>
      </p:sp>
      <p:sp>
        <p:nvSpPr>
          <p:cNvPr id="13" name="椭圆形标注 12"/>
          <p:cNvSpPr/>
          <p:nvPr/>
        </p:nvSpPr>
        <p:spPr>
          <a:xfrm>
            <a:off x="755699" y="3320926"/>
            <a:ext cx="1368425" cy="936625"/>
          </a:xfrm>
          <a:prstGeom prst="wedgeEllipseCallout">
            <a:avLst>
              <a:gd name="adj1" fmla="val 107845"/>
              <a:gd name="adj2" fmla="val 599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二极管</a:t>
            </a:r>
          </a:p>
        </p:txBody>
      </p:sp>
      <p:sp>
        <p:nvSpPr>
          <p:cNvPr id="14" name="椭圆形标注 13"/>
          <p:cNvSpPr/>
          <p:nvPr/>
        </p:nvSpPr>
        <p:spPr>
          <a:xfrm>
            <a:off x="743341" y="4652959"/>
            <a:ext cx="1368425" cy="936625"/>
          </a:xfrm>
          <a:prstGeom prst="wedgeEllipseCallout">
            <a:avLst>
              <a:gd name="adj1" fmla="val 107845"/>
              <a:gd name="adj2" fmla="val 599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S1</a:t>
            </a:r>
            <a:r>
              <a:rPr lang="zh-CN" altLang="en-US" dirty="0"/>
              <a:t>～</a:t>
            </a:r>
            <a:r>
              <a:rPr lang="en-US" altLang="zh-CN" dirty="0"/>
              <a:t>S6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计算机逻辑设计实验要求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870" y="1344295"/>
            <a:ext cx="8951595" cy="5438140"/>
          </a:xfrm>
        </p:spPr>
        <p:txBody>
          <a:bodyPr>
            <a:normAutofit fontScale="77500" lnSpcReduction="10000"/>
          </a:bodyPr>
          <a:lstStyle/>
          <a:p>
            <a:pPr marL="0" indent="0">
              <a:buNone/>
            </a:pPr>
            <a:r>
              <a:rPr lang="en-US" altLang="zh-CN" sz="3100"/>
              <a:t>1.</a:t>
            </a:r>
            <a:r>
              <a:rPr lang="zh-CN" altLang="en-US" sz="3100"/>
              <a:t>逻辑设计共：</a:t>
            </a:r>
            <a:r>
              <a:rPr lang="en-US" altLang="zh-CN" sz="3100"/>
              <a:t>13</a:t>
            </a:r>
            <a:r>
              <a:rPr lang="zh-CN" altLang="en-US" sz="3100"/>
              <a:t>个实验。每次实验课</a:t>
            </a:r>
            <a:r>
              <a:rPr lang="en-US" altLang="zh-CN" sz="3100"/>
              <a:t>“</a:t>
            </a:r>
            <a:r>
              <a:rPr lang="en-US" altLang="zh-CN" sz="3100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r>
              <a:rPr lang="en-US" altLang="zh-CN" sz="3100"/>
              <a:t>”</a:t>
            </a:r>
            <a:r>
              <a:rPr lang="zh-CN" altLang="en-US" sz="3100"/>
              <a:t>签到。</a:t>
            </a:r>
          </a:p>
          <a:p>
            <a:pPr marL="0" indent="0">
              <a:buNone/>
            </a:pPr>
            <a:r>
              <a:rPr lang="en-US" altLang="zh-CN" sz="3100"/>
              <a:t>2.</a:t>
            </a:r>
            <a:r>
              <a:rPr lang="zh-CN" altLang="en-US" sz="3100"/>
              <a:t>每个实验完成后必须给老师检查通过后在点名册对应实验中签名（没有签名说明实验没有完成）。</a:t>
            </a:r>
          </a:p>
          <a:p>
            <a:pPr marL="0" indent="0">
              <a:buNone/>
            </a:pPr>
            <a:r>
              <a:rPr lang="en-US" altLang="zh-CN" sz="3100"/>
              <a:t>3.</a:t>
            </a:r>
            <a:r>
              <a:rPr lang="zh-CN" altLang="en-US" sz="3100"/>
              <a:t>实验</a:t>
            </a:r>
            <a:r>
              <a:rPr lang="en-US" altLang="zh-CN" sz="3100"/>
              <a:t>1</a:t>
            </a:r>
            <a:r>
              <a:rPr lang="zh-CN" altLang="en-US" sz="3100"/>
              <a:t>至</a:t>
            </a:r>
            <a:r>
              <a:rPr lang="en-US" altLang="zh-CN" sz="3100"/>
              <a:t>3</a:t>
            </a:r>
            <a:r>
              <a:rPr lang="zh-CN" altLang="en-US" sz="3100"/>
              <a:t>必须实验课结束之前完成，实验</a:t>
            </a:r>
            <a:r>
              <a:rPr lang="en-US" altLang="zh-CN" sz="3100"/>
              <a:t>4</a:t>
            </a:r>
            <a:r>
              <a:rPr lang="zh-CN" altLang="en-US" sz="3100"/>
              <a:t>是</a:t>
            </a:r>
            <a:r>
              <a:rPr lang="en-US" altLang="zh-CN" sz="3100"/>
              <a:t>ISE</a:t>
            </a:r>
            <a:r>
              <a:rPr lang="zh-CN" altLang="en-US" sz="3100"/>
              <a:t>平台介绍主要课后自学，实验</a:t>
            </a:r>
            <a:r>
              <a:rPr lang="en-US" altLang="zh-CN" sz="3100"/>
              <a:t>5-13</a:t>
            </a:r>
            <a:r>
              <a:rPr lang="zh-CN" altLang="en-US" sz="3100"/>
              <a:t>在下一次课结束时完成。延期完成请及时给老师检查，同时会扣一定的分数。</a:t>
            </a:r>
          </a:p>
          <a:p>
            <a:pPr marL="0" indent="0">
              <a:buNone/>
            </a:pPr>
            <a:r>
              <a:rPr lang="en-US" altLang="zh-CN" sz="3100"/>
              <a:t>4.</a:t>
            </a:r>
            <a:r>
              <a:rPr lang="zh-CN" altLang="en-US" sz="3100"/>
              <a:t>实验报告说明：实验</a:t>
            </a:r>
            <a:r>
              <a:rPr lang="en-US" altLang="zh-CN" sz="3100"/>
              <a:t>1-4</a:t>
            </a:r>
            <a:r>
              <a:rPr lang="zh-CN" altLang="en-US" sz="3100"/>
              <a:t>、</a:t>
            </a:r>
            <a:r>
              <a:rPr lang="zh-CN" altLang="en-US" sz="3100">
                <a:sym typeface="+mn-ea"/>
              </a:rPr>
              <a:t>实验</a:t>
            </a:r>
            <a:r>
              <a:rPr lang="en-US" altLang="zh-CN" sz="3100">
                <a:sym typeface="+mn-ea"/>
              </a:rPr>
              <a:t>5-7</a:t>
            </a:r>
            <a:r>
              <a:rPr lang="zh-CN" altLang="en-US" sz="3100">
                <a:sym typeface="+mn-ea"/>
              </a:rPr>
              <a:t>、实验</a:t>
            </a:r>
            <a:r>
              <a:rPr lang="en-US" altLang="zh-CN" sz="3100">
                <a:sym typeface="+mn-ea"/>
              </a:rPr>
              <a:t>8-10</a:t>
            </a:r>
            <a:r>
              <a:rPr lang="zh-CN" altLang="en-US" sz="3100">
                <a:sym typeface="+mn-ea"/>
              </a:rPr>
              <a:t>、实验</a:t>
            </a:r>
            <a:r>
              <a:rPr lang="en-US" altLang="zh-CN" sz="3100">
                <a:sym typeface="+mn-ea"/>
              </a:rPr>
              <a:t>11-13</a:t>
            </a:r>
            <a:r>
              <a:rPr lang="zh-CN" altLang="en-US" sz="3100">
                <a:sym typeface="+mn-ea"/>
              </a:rPr>
              <a:t>各</a:t>
            </a:r>
            <a:r>
              <a:rPr lang="zh-CN" altLang="en-US" sz="3100"/>
              <a:t>合写一份报告，共计</a:t>
            </a:r>
            <a:r>
              <a:rPr lang="en-US" altLang="zh-CN" sz="3100"/>
              <a:t>4</a:t>
            </a:r>
            <a:r>
              <a:rPr lang="zh-CN" altLang="en-US" sz="3100"/>
              <a:t>份报告。报告迟交每天扣</a:t>
            </a:r>
            <a:r>
              <a:rPr lang="en-US" altLang="zh-CN" sz="3100"/>
              <a:t>5</a:t>
            </a:r>
            <a:r>
              <a:rPr lang="zh-CN" altLang="en-US" sz="3100"/>
              <a:t>分。</a:t>
            </a:r>
          </a:p>
          <a:p>
            <a:pPr marL="0" indent="0">
              <a:buNone/>
            </a:pPr>
            <a:r>
              <a:rPr lang="en-US" altLang="zh-CN" sz="3100"/>
              <a:t>5.</a:t>
            </a:r>
            <a:r>
              <a:rPr lang="zh-CN" altLang="en-US" sz="3100"/>
              <a:t>实验占总成绩</a:t>
            </a:r>
            <a:r>
              <a:rPr lang="en-US" altLang="zh-CN" sz="3100"/>
              <a:t>30</a:t>
            </a:r>
            <a:r>
              <a:rPr lang="zh-CN" altLang="en-US" sz="3100"/>
              <a:t>分。每个实验完成签名</a:t>
            </a:r>
            <a:r>
              <a:rPr lang="en-US" altLang="zh-CN" sz="3100"/>
              <a:t>1</a:t>
            </a:r>
            <a:r>
              <a:rPr lang="zh-CN" altLang="en-US" sz="3100"/>
              <a:t>分，小计</a:t>
            </a:r>
            <a:r>
              <a:rPr lang="en-US" altLang="zh-CN" sz="3100"/>
              <a:t>13</a:t>
            </a:r>
            <a:r>
              <a:rPr lang="zh-CN" altLang="en-US" sz="3100"/>
              <a:t>分。每</a:t>
            </a:r>
            <a:r>
              <a:rPr lang="zh-CN" altLang="en-US" sz="3100">
                <a:sym typeface="+mn-ea"/>
              </a:rPr>
              <a:t>份报告</a:t>
            </a:r>
            <a:r>
              <a:rPr lang="en-US" altLang="zh-CN" sz="3100">
                <a:sym typeface="+mn-ea"/>
              </a:rPr>
              <a:t>4</a:t>
            </a:r>
            <a:r>
              <a:rPr lang="zh-CN" altLang="en-US" sz="3100">
                <a:sym typeface="+mn-ea"/>
              </a:rPr>
              <a:t>分，小计</a:t>
            </a:r>
            <a:r>
              <a:rPr lang="en-US" altLang="zh-CN" sz="3100">
                <a:sym typeface="+mn-ea"/>
              </a:rPr>
              <a:t>16</a:t>
            </a:r>
            <a:r>
              <a:rPr lang="zh-CN" altLang="en-US" sz="3100">
                <a:sym typeface="+mn-ea"/>
              </a:rPr>
              <a:t>分，加</a:t>
            </a:r>
            <a:r>
              <a:rPr lang="en-US" altLang="zh-CN" sz="3100">
                <a:sym typeface="+mn-ea"/>
              </a:rPr>
              <a:t>1</a:t>
            </a:r>
            <a:r>
              <a:rPr lang="zh-CN" altLang="en-US" sz="3100">
                <a:sym typeface="+mn-ea"/>
              </a:rPr>
              <a:t>分机动合计</a:t>
            </a:r>
            <a:r>
              <a:rPr lang="en-US" altLang="zh-CN" sz="3100">
                <a:sym typeface="+mn-ea"/>
              </a:rPr>
              <a:t>30</a:t>
            </a:r>
            <a:r>
              <a:rPr lang="zh-CN" altLang="en-US" sz="3100">
                <a:sym typeface="+mn-ea"/>
              </a:rPr>
              <a:t>分。超过</a:t>
            </a:r>
            <a:r>
              <a:rPr lang="en-US" altLang="zh-CN" sz="3100">
                <a:sym typeface="+mn-ea"/>
              </a:rPr>
              <a:t>5</a:t>
            </a:r>
            <a:r>
              <a:rPr lang="zh-CN" altLang="en-US" sz="3100">
                <a:sym typeface="+mn-ea"/>
              </a:rPr>
              <a:t>个实验来完成，实验成绩计</a:t>
            </a:r>
            <a:r>
              <a:rPr lang="en-US" altLang="zh-CN" sz="3100">
                <a:sym typeface="+mn-ea"/>
              </a:rPr>
              <a:t>0</a:t>
            </a:r>
            <a:r>
              <a:rPr lang="zh-CN" altLang="en-US" sz="3100">
                <a:sym typeface="+mn-ea"/>
              </a:rPr>
              <a:t>分。</a:t>
            </a:r>
          </a:p>
          <a:p>
            <a:pPr marL="0" indent="0">
              <a:buNone/>
            </a:pPr>
            <a:r>
              <a:rPr lang="en-US" altLang="zh-CN" sz="3100">
                <a:sym typeface="+mn-ea"/>
              </a:rPr>
              <a:t>6.</a:t>
            </a:r>
            <a:r>
              <a:rPr lang="zh-CN" altLang="en-US" sz="3100">
                <a:sym typeface="+mn-ea"/>
              </a:rPr>
              <a:t>实验报告必须上交到指定的网站：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学在浙大或</a:t>
            </a:r>
            <a:r>
              <a:rPr lang="en-US" altLang="zh-CN" sz="4000">
                <a:solidFill>
                  <a:srgbClr val="FF0000"/>
                </a:solidFill>
                <a:sym typeface="+mn-ea"/>
              </a:rPr>
              <a:t>Platform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平台，钉钉发给老师不计成绩。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实验室规章制度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3733800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zh-CN"/>
              <a:t>1.</a:t>
            </a:r>
            <a:r>
              <a:rPr lang="zh-CN" altLang="en-US"/>
              <a:t>不能在实验室内吃零食和就餐。订餐请到走道上就餐。</a:t>
            </a:r>
          </a:p>
          <a:p>
            <a:pPr marL="0" indent="0">
              <a:buNone/>
            </a:pPr>
            <a:r>
              <a:rPr lang="en-US" altLang="zh-CN"/>
              <a:t>2.</a:t>
            </a:r>
            <a:r>
              <a:rPr lang="zh-CN" altLang="en-US"/>
              <a:t>实验结束时请关闭电脑主机电源，勿关显示器电源，后面实验同学以为电脑坏了。</a:t>
            </a:r>
          </a:p>
          <a:p>
            <a:pPr marL="0" indent="0">
              <a:buNone/>
            </a:pPr>
            <a:r>
              <a:rPr lang="en-US" altLang="zh-CN"/>
              <a:t>3.</a:t>
            </a:r>
            <a:r>
              <a:rPr lang="en-US" altLang="zh-CN">
                <a:sym typeface="+mn-ea"/>
              </a:rPr>
              <a:t>Sword</a:t>
            </a:r>
            <a:r>
              <a:rPr lang="zh-CN" altLang="en-US">
                <a:sym typeface="+mn-ea"/>
              </a:rPr>
              <a:t>实验箱</a:t>
            </a:r>
            <a:r>
              <a:rPr lang="zh-CN" altLang="en-US"/>
              <a:t>的盖子不要合上，</a:t>
            </a:r>
            <a:r>
              <a:rPr lang="zh-CN" altLang="en-US">
                <a:sym typeface="+mn-ea"/>
              </a:rPr>
              <a:t>关闭各种仪器的电源。导线放实验箱内。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4.</a:t>
            </a:r>
            <a:r>
              <a:rPr lang="zh-CN" altLang="en-US">
                <a:sym typeface="+mn-ea"/>
              </a:rPr>
              <a:t>实验结束后请整理好</a:t>
            </a:r>
            <a:r>
              <a:rPr lang="zh-CN" altLang="en-US" sz="5000">
                <a:solidFill>
                  <a:srgbClr val="FF0000"/>
                </a:solidFill>
                <a:sym typeface="+mn-ea"/>
              </a:rPr>
              <a:t>椅子</a:t>
            </a:r>
            <a:r>
              <a:rPr lang="zh-CN" altLang="en-US">
                <a:sym typeface="+mn-ea"/>
              </a:rPr>
              <a:t>，实验签上</a:t>
            </a:r>
            <a:r>
              <a:rPr lang="zh-CN" altLang="en-US" sz="3555">
                <a:solidFill>
                  <a:srgbClr val="FF0000"/>
                </a:solidFill>
                <a:sym typeface="+mn-ea"/>
              </a:rPr>
              <a:t>椅子号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</p:txBody>
      </p:sp>
      <p:pic>
        <p:nvPicPr>
          <p:cNvPr id="5" name="图片 4" descr="椅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30" y="4627880"/>
            <a:ext cx="2421890" cy="2178050"/>
          </a:xfrm>
          <a:prstGeom prst="rect">
            <a:avLst/>
          </a:prstGeom>
        </p:spPr>
      </p:pic>
      <p:pic>
        <p:nvPicPr>
          <p:cNvPr id="6" name="图片 5" descr="SWORD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4699635"/>
            <a:ext cx="2440940" cy="2134870"/>
          </a:xfrm>
          <a:prstGeom prst="rect">
            <a:avLst/>
          </a:prstGeom>
        </p:spPr>
      </p:pic>
      <p:pic>
        <p:nvPicPr>
          <p:cNvPr id="7" name="图片 6" descr="SWORD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656455"/>
            <a:ext cx="2849245" cy="213741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实验室规章制度</a:t>
            </a:r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Grp="1" noChangeAspect="1"/>
          </p:cNvGraphicFramePr>
          <p:nvPr>
            <p:ph idx="1"/>
          </p:nvPr>
        </p:nvGraphicFramePr>
        <p:xfrm>
          <a:off x="231140" y="1548765"/>
          <a:ext cx="4103370" cy="463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r:id="rId3" imgW="10810240" imgH="7562850" progId="Paint.Picture">
                  <p:embed/>
                </p:oleObj>
              </mc:Choice>
              <mc:Fallback>
                <p:oleObj r:id="rId3" imgW="10810240" imgH="75628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140" y="1548765"/>
                        <a:ext cx="4103370" cy="4636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4424045" y="1438275"/>
          <a:ext cx="4563110" cy="481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r:id="rId5" imgW="10106025" imgH="11372215" progId="Paint.Picture">
                  <p:embed/>
                </p:oleObj>
              </mc:Choice>
              <mc:Fallback>
                <p:oleObj r:id="rId5" imgW="10106025" imgH="1137221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4045" y="1438275"/>
                        <a:ext cx="4563110" cy="4817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Q2ODMxNGM3ZGNiNTdhYjNhZjZhN2YwNjhkY2YwZWYifQ=="/>
  <p:tag name="KSO_WPP_MARK_KEY" val="a2a076da-8f98-4ac2-a190-aefe73ea694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145.1196850393699,&quot;width&quot;:6377.108661417322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314,&quot;width&quot;:692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434,&quot;width&quot;:6080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2645</Words>
  <Application>Microsoft Office PowerPoint</Application>
  <PresentationFormat>全屏显示(4:3)</PresentationFormat>
  <Paragraphs>352</Paragraphs>
  <Slides>42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9" baseType="lpstr">
      <vt:lpstr>黑体</vt:lpstr>
      <vt:lpstr>华文细黑</vt:lpstr>
      <vt:lpstr>楷体_GB2312</vt:lpstr>
      <vt:lpstr>宋体</vt:lpstr>
      <vt:lpstr>微软雅黑</vt:lpstr>
      <vt:lpstr>Arial</vt:lpstr>
      <vt:lpstr>Calibri</vt:lpstr>
      <vt:lpstr>Helvetica</vt:lpstr>
      <vt:lpstr>Times New Roman</vt:lpstr>
      <vt:lpstr>Verdana</vt:lpstr>
      <vt:lpstr>Wingdings</vt:lpstr>
      <vt:lpstr>Wingdings 2</vt:lpstr>
      <vt:lpstr>自定义设计方案</vt:lpstr>
      <vt:lpstr>实验室PPT模版2013 beta1</vt:lpstr>
      <vt:lpstr>1_自定义设计方案</vt:lpstr>
      <vt:lpstr>Paintbrush Picture</vt:lpstr>
      <vt:lpstr>Visio</vt:lpstr>
      <vt:lpstr>数字逻辑设计实验</vt:lpstr>
      <vt:lpstr>提  纲</vt:lpstr>
      <vt:lpstr>实验目的</vt:lpstr>
      <vt:lpstr>实验设备与材料</vt:lpstr>
      <vt:lpstr>实验任务</vt:lpstr>
      <vt:lpstr>实验原理</vt:lpstr>
      <vt:lpstr>二极管构成“与”门电路</vt:lpstr>
      <vt:lpstr>二极管构成“或”门电路</vt:lpstr>
      <vt:lpstr>三极管组成“非”门电路</vt:lpstr>
      <vt:lpstr>二极管和三极管组成“与非”门电路</vt:lpstr>
      <vt:lpstr>实验内容与测试步骤</vt:lpstr>
      <vt:lpstr>用二极管实现正逻辑“与门”</vt:lpstr>
      <vt:lpstr>正逻辑“与门”接线图 </vt:lpstr>
      <vt:lpstr>电路设计实验箱说明</vt:lpstr>
      <vt:lpstr>产生高低电平</vt:lpstr>
      <vt:lpstr>用二极管实现正逻辑“或门”</vt:lpstr>
      <vt:lpstr>用二极管实现正逻辑“或门”</vt:lpstr>
      <vt:lpstr>或门测试三组数据</vt:lpstr>
      <vt:lpstr>正逻辑“或门接线图</vt:lpstr>
      <vt:lpstr>用二极管实现正逻辑“非门”</vt:lpstr>
      <vt:lpstr>正逻辑“非门”接线图</vt:lpstr>
      <vt:lpstr>非门测试三组数据（报告中分析）</vt:lpstr>
      <vt:lpstr>三极管极性测量</vt:lpstr>
      <vt:lpstr>元器件在实验板上有标记</vt:lpstr>
      <vt:lpstr>万用表测三极管基极b</vt:lpstr>
      <vt:lpstr>万用表测三极管c极e极</vt:lpstr>
      <vt:lpstr>用晶体管实现正逻辑“与非门”</vt:lpstr>
      <vt:lpstr>正逻辑“与非门”接线图</vt:lpstr>
      <vt:lpstr>与非门三组测试数据（报告中分析）</vt:lpstr>
      <vt:lpstr>三极管极性测量</vt:lpstr>
      <vt:lpstr>元器件在实验板上有标记</vt:lpstr>
      <vt:lpstr>万用表测三极管基极b</vt:lpstr>
      <vt:lpstr>万用表测三极管c极e极</vt:lpstr>
      <vt:lpstr>S1~~S6开关图</vt:lpstr>
      <vt:lpstr>S14~~S17开关内部接线图</vt:lpstr>
      <vt:lpstr>元器件在实验板上有标记</vt:lpstr>
      <vt:lpstr>三极管</vt:lpstr>
      <vt:lpstr>元器件在实验板上有标记</vt:lpstr>
      <vt:lpstr>计算机逻辑设计实验要求</vt:lpstr>
      <vt:lpstr>实验室规章制度</vt:lpstr>
      <vt:lpstr>实验室规章制度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实验中心</cp:lastModifiedBy>
  <cp:revision>328</cp:revision>
  <dcterms:created xsi:type="dcterms:W3CDTF">2011-08-03T07:44:00Z</dcterms:created>
  <dcterms:modified xsi:type="dcterms:W3CDTF">2026-03-11T05:03:07Z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7E871104DE804139B283A8AFB39F8A7A</vt:lpwstr>
  </property>
</Properties>
</file>