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3" r:id="rId3"/>
  </p:sldMasterIdLst>
  <p:notesMasterIdLst>
    <p:notesMasterId r:id="rId41"/>
  </p:notesMasterIdLst>
  <p:sldIdLst>
    <p:sldId id="256" r:id="rId4"/>
    <p:sldId id="270" r:id="rId5"/>
    <p:sldId id="271" r:id="rId6"/>
    <p:sldId id="272" r:id="rId7"/>
    <p:sldId id="273" r:id="rId8"/>
    <p:sldId id="274" r:id="rId9"/>
    <p:sldId id="275" r:id="rId10"/>
    <p:sldId id="276" r:id="rId11"/>
    <p:sldId id="318" r:id="rId12"/>
    <p:sldId id="277" r:id="rId13"/>
    <p:sldId id="278" r:id="rId14"/>
    <p:sldId id="279" r:id="rId15"/>
    <p:sldId id="280" r:id="rId16"/>
    <p:sldId id="281" r:id="rId17"/>
    <p:sldId id="282" r:id="rId18"/>
    <p:sldId id="283" r:id="rId19"/>
    <p:sldId id="284" r:id="rId20"/>
    <p:sldId id="301" r:id="rId21"/>
    <p:sldId id="285" r:id="rId22"/>
    <p:sldId id="288" r:id="rId23"/>
    <p:sldId id="289" r:id="rId24"/>
    <p:sldId id="290" r:id="rId25"/>
    <p:sldId id="344" r:id="rId26"/>
    <p:sldId id="299" r:id="rId27"/>
    <p:sldId id="347" r:id="rId28"/>
    <p:sldId id="291" r:id="rId29"/>
    <p:sldId id="345" r:id="rId30"/>
    <p:sldId id="292" r:id="rId31"/>
    <p:sldId id="293" r:id="rId32"/>
    <p:sldId id="346" r:id="rId33"/>
    <p:sldId id="294" r:id="rId34"/>
    <p:sldId id="295" r:id="rId35"/>
    <p:sldId id="296" r:id="rId36"/>
    <p:sldId id="348" r:id="rId37"/>
    <p:sldId id="361" r:id="rId38"/>
    <p:sldId id="362" r:id="rId39"/>
    <p:sldId id="269" r:id="rId40"/>
  </p:sldIdLst>
  <p:sldSz cx="9144000" cy="6858000" type="screen4x3"/>
  <p:notesSz cx="6858000" cy="9144000"/>
  <p:custDataLst>
    <p:tags r:id="rId4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6E2BB560-6633-472E-86A8-D6CD2949BF9A}">
          <p14:sldIdLst>
            <p14:sldId id="256"/>
            <p14:sldId id="270"/>
            <p14:sldId id="271"/>
            <p14:sldId id="272"/>
            <p14:sldId id="273"/>
            <p14:sldId id="274"/>
            <p14:sldId id="275"/>
            <p14:sldId id="276"/>
            <p14:sldId id="318"/>
            <p14:sldId id="277"/>
            <p14:sldId id="278"/>
            <p14:sldId id="279"/>
            <p14:sldId id="280"/>
            <p14:sldId id="281"/>
            <p14:sldId id="282"/>
            <p14:sldId id="283"/>
            <p14:sldId id="284"/>
            <p14:sldId id="301"/>
            <p14:sldId id="285"/>
            <p14:sldId id="288"/>
            <p14:sldId id="289"/>
            <p14:sldId id="290"/>
            <p14:sldId id="344"/>
            <p14:sldId id="299"/>
            <p14:sldId id="347"/>
            <p14:sldId id="291"/>
            <p14:sldId id="345"/>
            <p14:sldId id="292"/>
            <p14:sldId id="293"/>
            <p14:sldId id="346"/>
            <p14:sldId id="294"/>
            <p14:sldId id="295"/>
            <p14:sldId id="296"/>
            <p14:sldId id="348"/>
            <p14:sldId id="361"/>
            <p14:sldId id="362"/>
            <p14:sldId id="269"/>
          </p14:sldIdLst>
        </p14:section>
      </p14:sectionLst>
    </p:ext>
    <p:ext uri="{EFAFB233-063F-42B5-8137-9DF3F51BA10A}">
      <p15:sldGuideLst xmlns:p15="http://schemas.microsoft.com/office/powerpoint/2012/main">
        <p15:guide id="1" orient="horz" pos="2160" userDrawn="1">
          <p15:clr>
            <a:srgbClr val="A4A3A4"/>
          </p15:clr>
        </p15:guide>
        <p15:guide id="2" pos="290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6699"/>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52" autoAdjust="0"/>
    <p:restoredTop sz="87236" autoAdjust="0"/>
  </p:normalViewPr>
  <p:slideViewPr>
    <p:cSldViewPr showGuides="1">
      <p:cViewPr varScale="1">
        <p:scale>
          <a:sx n="99" d="100"/>
          <a:sy n="99" d="100"/>
        </p:scale>
        <p:origin x="1980" y="72"/>
      </p:cViewPr>
      <p:guideLst>
        <p:guide orient="horz" pos="2160"/>
        <p:guide pos="2903"/>
      </p:guideLst>
    </p:cSldViewPr>
  </p:slideViewPr>
  <p:outlineViewPr>
    <p:cViewPr>
      <p:scale>
        <a:sx n="33" d="100"/>
        <a:sy n="33" d="100"/>
      </p:scale>
      <p:origin x="0" y="24"/>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ags" Target="tags/tag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presProps" Target="presProp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tableStyles" Target="tableStyles.xml"/><Relationship Id="rId20" Type="http://schemas.openxmlformats.org/officeDocument/2006/relationships/slide" Target="slides/slide17.xml"/><Relationship Id="rId41"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1FA232E-0D23-E744-A2E7-48CC2B10A8E9}" type="datetimeFigureOut">
              <a:rPr kumimoji="1" lang="zh-CN" altLang="en-US" smtClean="0"/>
              <a:t>2026/3/18</a:t>
            </a:fld>
            <a:endParaRPr kumimoji="1"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B3A588-43E9-AC44-AC90-AB7B6B5540F3}"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EF50BAF8-1120-4869-B1EC-9D010EF77D65}" type="datetimeFigureOut">
              <a:rPr lang="zh-CN" altLang="en-US" smtClean="0"/>
              <a:t>2026/3/18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9F4C11A-0699-48E7-8749-FD2A688E3479}"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b="1"/>
            </a:lvl1pPr>
          </a:lstStyle>
          <a:p>
            <a:r>
              <a:rPr lang="zh-CN" altLang="en-US" dirty="0"/>
              <a:t>目录</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F50BAF8-1120-4869-B1EC-9D010EF77D65}" type="datetimeFigureOut">
              <a:rPr lang="zh-CN" altLang="en-US" smtClean="0"/>
              <a:t>2026/3/18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9F4C11A-0699-48E7-8749-FD2A688E3479}"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EF50BAF8-1120-4869-B1EC-9D010EF77D65}" type="datetimeFigureOut">
              <a:rPr lang="zh-CN" altLang="en-US" smtClean="0"/>
              <a:t>2026/3/18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9F4C11A-0699-48E7-8749-FD2A688E3479}"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EF50BAF8-1120-4869-B1EC-9D010EF77D65}" type="datetimeFigureOut">
              <a:rPr lang="zh-CN" altLang="en-US" smtClean="0"/>
              <a:t>2026/3/18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9F4C11A-0699-48E7-8749-FD2A688E3479}"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EF50BAF8-1120-4869-B1EC-9D010EF77D65}" type="datetimeFigureOut">
              <a:rPr lang="zh-CN" altLang="en-US" smtClean="0"/>
              <a:t>2026/3/18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9F4C11A-0699-48E7-8749-FD2A688E3479}"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F50BAF8-1120-4869-B1EC-9D010EF77D65}" type="datetimeFigureOut">
              <a:rPr lang="zh-CN" altLang="en-US" smtClean="0"/>
              <a:t>2026/3/18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9F4C11A-0699-48E7-8749-FD2A688E3479}"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F50BAF8-1120-4869-B1EC-9D010EF77D65}" type="datetimeFigureOut">
              <a:rPr lang="zh-CN" altLang="en-US" smtClean="0"/>
              <a:t>2026/3/18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9F4C11A-0699-48E7-8749-FD2A688E3479}"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F50BAF8-1120-4869-B1EC-9D010EF77D65}" type="datetimeFigureOut">
              <a:rPr lang="zh-CN" altLang="en-US" smtClean="0"/>
              <a:t>2026/3/18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9F4C11A-0699-48E7-8749-FD2A688E3479}"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F50BAF8-1120-4869-B1EC-9D010EF77D65}" type="datetimeFigureOut">
              <a:rPr lang="zh-CN" altLang="en-US" smtClean="0"/>
              <a:t>2026/3/18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9F4C11A-0699-48E7-8749-FD2A688E3479}"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F50BAF8-1120-4869-B1EC-9D010EF77D65}" type="datetimeFigureOut">
              <a:rPr lang="zh-CN" altLang="en-US" smtClean="0"/>
              <a:t>2026/3/18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9F4C11A-0699-48E7-8749-FD2A688E3479}"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F50BAF8-1120-4869-B1EC-9D010EF77D65}" type="datetimeFigureOut">
              <a:rPr lang="zh-CN" altLang="en-US" smtClean="0"/>
              <a:t>2026/3/18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9F4C11A-0699-48E7-8749-FD2A688E3479}"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782" y="0"/>
            <a:ext cx="9102436" cy="6858000"/>
          </a:xfrm>
          <a:prstGeom prst="rect">
            <a:avLst/>
          </a:prstGeom>
        </p:spPr>
      </p:pic>
      <p:sp>
        <p:nvSpPr>
          <p:cNvPr id="2" name="标题 1"/>
          <p:cNvSpPr>
            <a:spLocks noGrp="1"/>
          </p:cNvSpPr>
          <p:nvPr>
            <p:ph type="ctrTitle"/>
          </p:nvPr>
        </p:nvSpPr>
        <p:spPr>
          <a:xfrm>
            <a:off x="693561" y="1950515"/>
            <a:ext cx="8134672" cy="1470025"/>
          </a:xfrm>
        </p:spPr>
        <p:txBody>
          <a:bodyPr>
            <a:noAutofit/>
          </a:bodyPr>
          <a:lstStyle>
            <a:lvl1pPr>
              <a:defRPr sz="5200">
                <a:solidFill>
                  <a:schemeClr val="accent5">
                    <a:lumMod val="50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defRPr>
            </a:lvl1pPr>
          </a:lstStyle>
          <a:p>
            <a:r>
              <a:rPr lang="zh-CN" altLang="en-US"/>
              <a:t>单击此处编辑母版标题样式</a:t>
            </a:r>
            <a:endParaRPr lang="zh-CN" altLang="en-US" dirty="0"/>
          </a:p>
        </p:txBody>
      </p:sp>
      <p:sp>
        <p:nvSpPr>
          <p:cNvPr id="3" name="副标题 2"/>
          <p:cNvSpPr>
            <a:spLocks noGrp="1"/>
          </p:cNvSpPr>
          <p:nvPr>
            <p:ph type="subTitle" idx="1"/>
          </p:nvPr>
        </p:nvSpPr>
        <p:spPr>
          <a:xfrm>
            <a:off x="1371600" y="4293096"/>
            <a:ext cx="6400800" cy="1752600"/>
          </a:xfrm>
        </p:spPr>
        <p:txBody>
          <a:bodyPr>
            <a:normAutofit/>
          </a:bodyPr>
          <a:lstStyle>
            <a:lvl1pPr marL="0" indent="0" algn="ctr">
              <a:buNone/>
              <a:defRPr sz="2400">
                <a:solidFill>
                  <a:schemeClr val="accent5">
                    <a:lumMod val="50000"/>
                  </a:schemeClr>
                </a:solidFill>
                <a:latin typeface="黑体" panose="02010609060101010101" pitchFamily="49" charset="-122"/>
                <a:ea typeface="黑体" panose="02010609060101010101" pitchFamily="49"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dirty="0"/>
          </a:p>
        </p:txBody>
      </p:sp>
      <p:sp>
        <p:nvSpPr>
          <p:cNvPr id="4" name="日期占位符 3"/>
          <p:cNvSpPr>
            <a:spLocks noGrp="1"/>
          </p:cNvSpPr>
          <p:nvPr>
            <p:ph type="dt" sz="half" idx="10"/>
          </p:nvPr>
        </p:nvSpPr>
        <p:spPr/>
        <p:txBody>
          <a:bodyPr/>
          <a:lstStyle/>
          <a:p>
            <a:fld id="{530820CF-B880-4189-942D-D702A7CBA730}" type="datetimeFigureOut">
              <a:rPr lang="zh-CN" altLang="en-US" smtClean="0"/>
              <a:t>2026/3/18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5536" y="580315"/>
            <a:ext cx="1368152" cy="558152"/>
          </a:xfrm>
          <a:prstGeom prst="rect">
            <a:avLst/>
          </a:prstGeom>
        </p:spPr>
      </p:pic>
      <p:pic>
        <p:nvPicPr>
          <p:cNvPr id="10" name="图片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1600" y="6309320"/>
            <a:ext cx="7887572" cy="182865"/>
          </a:xfrm>
          <a:prstGeom prst="rect">
            <a:avLst/>
          </a:prstGeom>
        </p:spPr>
      </p:pic>
      <p:pic>
        <p:nvPicPr>
          <p:cNvPr id="11" name="图片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0782" y="0"/>
            <a:ext cx="9102436" cy="6858000"/>
          </a:xfrm>
          <a:prstGeom prst="rect">
            <a:avLst/>
          </a:prstGeom>
        </p:spPr>
      </p:pic>
      <p:pic>
        <p:nvPicPr>
          <p:cNvPr id="12" name="图片 1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95536" y="580315"/>
            <a:ext cx="1368152" cy="558152"/>
          </a:xfrm>
          <a:prstGeom prst="rect">
            <a:avLst/>
          </a:prstGeom>
        </p:spPr>
      </p:pic>
      <p:pic>
        <p:nvPicPr>
          <p:cNvPr id="13" name="图片 12"/>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71600" y="6309320"/>
            <a:ext cx="7887572" cy="182865"/>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230832" y="242392"/>
            <a:ext cx="7005464" cy="954360"/>
          </a:xfrm>
        </p:spPr>
        <p:txBody>
          <a:bodyPr>
            <a:normAutofit/>
          </a:bodyPr>
          <a:lstStyle>
            <a:lvl1pPr algn="l">
              <a:defRPr sz="4000">
                <a:solidFill>
                  <a:schemeClr val="accent5">
                    <a:lumMod val="75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defRPr>
            </a:lvl1pPr>
          </a:lstStyle>
          <a:p>
            <a:r>
              <a:rPr lang="zh-CN" altLang="en-US"/>
              <a:t>单击此处编辑母版标题样式</a:t>
            </a:r>
            <a:endParaRPr lang="zh-CN" altLang="en-US" dirty="0"/>
          </a:p>
        </p:txBody>
      </p:sp>
      <p:sp>
        <p:nvSpPr>
          <p:cNvPr id="3" name="内容占位符 2"/>
          <p:cNvSpPr>
            <a:spLocks noGrp="1"/>
          </p:cNvSpPr>
          <p:nvPr>
            <p:ph idx="1"/>
          </p:nvPr>
        </p:nvSpPr>
        <p:spPr/>
        <p:txBody>
          <a:bodyPr/>
          <a:lstStyle>
            <a:lvl1pPr marL="342900" indent="-342900">
              <a:buClr>
                <a:schemeClr val="accent5">
                  <a:lumMod val="75000"/>
                </a:schemeClr>
              </a:buClr>
              <a:buSzPct val="80000"/>
              <a:buFont typeface="Wingdings" panose="05000000000000000000" pitchFamily="2" charset="2"/>
              <a:buChar char="p"/>
              <a:defRPr b="1">
                <a:solidFill>
                  <a:schemeClr val="accent5">
                    <a:lumMod val="50000"/>
                  </a:schemeClr>
                </a:solidFill>
                <a:latin typeface="黑体" panose="02010609060101010101" pitchFamily="49" charset="-122"/>
                <a:ea typeface="黑体" panose="02010609060101010101" pitchFamily="49" charset="-122"/>
              </a:defRPr>
            </a:lvl1pPr>
            <a:lvl2pPr marL="742950" indent="-285750">
              <a:buClr>
                <a:schemeClr val="accent5">
                  <a:lumMod val="75000"/>
                </a:schemeClr>
              </a:buClr>
              <a:buSzPct val="70000"/>
              <a:buFont typeface="Wingdings" panose="05000000000000000000" pitchFamily="2" charset="2"/>
              <a:buChar char="n"/>
              <a:defRPr b="1">
                <a:solidFill>
                  <a:schemeClr val="accent5">
                    <a:lumMod val="75000"/>
                  </a:schemeClr>
                </a:solidFill>
                <a:latin typeface="黑体" panose="02010609060101010101" pitchFamily="49" charset="-122"/>
                <a:ea typeface="黑体" panose="02010609060101010101" pitchFamily="49" charset="-122"/>
              </a:defRPr>
            </a:lvl2pPr>
            <a:lvl3pPr marL="1143000" indent="-228600">
              <a:buClr>
                <a:schemeClr val="accent5">
                  <a:lumMod val="75000"/>
                </a:schemeClr>
              </a:buClr>
              <a:buSzPct val="70000"/>
              <a:buFont typeface="Wingdings" panose="05000000000000000000" pitchFamily="2" charset="2"/>
              <a:buChar char="p"/>
              <a:defRPr>
                <a:latin typeface="黑体" panose="02010609060101010101" pitchFamily="49" charset="-122"/>
                <a:ea typeface="黑体" panose="02010609060101010101" pitchFamily="49" charset="-122"/>
              </a:defRPr>
            </a:lvl3pPr>
            <a:lvl4pPr marL="1600200" indent="-228600">
              <a:buClr>
                <a:schemeClr val="accent5">
                  <a:lumMod val="75000"/>
                </a:schemeClr>
              </a:buClr>
              <a:buSzPct val="60000"/>
              <a:buFont typeface="Wingdings" panose="05000000000000000000" pitchFamily="2" charset="2"/>
              <a:buChar char="n"/>
              <a:defRPr>
                <a:latin typeface="黑体" panose="02010609060101010101" pitchFamily="49" charset="-122"/>
                <a:ea typeface="黑体" panose="02010609060101010101" pitchFamily="49" charset="-122"/>
              </a:defRPr>
            </a:lvl4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4" name="日期占位符 3"/>
          <p:cNvSpPr>
            <a:spLocks noGrp="1"/>
          </p:cNvSpPr>
          <p:nvPr>
            <p:ph type="dt" sz="half" idx="10"/>
          </p:nvPr>
        </p:nvSpPr>
        <p:spPr/>
        <p:txBody>
          <a:bodyPr/>
          <a:lstStyle/>
          <a:p>
            <a:fld id="{530820CF-B880-4189-942D-D702A7CBA730}" type="datetimeFigureOut">
              <a:rPr lang="zh-CN" altLang="en-US" smtClean="0"/>
              <a:t>2026/3/18</a:t>
            </a:fld>
            <a:endParaRPr lang="zh-CN" altLang="en-US"/>
          </a:p>
        </p:txBody>
      </p:sp>
      <p:sp>
        <p:nvSpPr>
          <p:cNvPr id="5" name="页脚占位符 4"/>
          <p:cNvSpPr>
            <a:spLocks noGrp="1"/>
          </p:cNvSpPr>
          <p:nvPr>
            <p:ph type="ftr" sz="quarter" idx="11"/>
          </p:nvPr>
        </p:nvSpPr>
        <p:spPr/>
        <p:txBody>
          <a:bodyPr/>
          <a:lstStyle/>
          <a:p>
            <a:endParaRPr lang="zh-CN" altLang="en-US" dirty="0"/>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67544" y="332656"/>
            <a:ext cx="7005464" cy="954360"/>
          </a:xfrm>
        </p:spPr>
        <p:txBody>
          <a:bodyPr>
            <a:normAutofit/>
          </a:bodyPr>
          <a:lstStyle>
            <a:lvl1pPr algn="l">
              <a:defRPr sz="3600">
                <a:solidFill>
                  <a:srgbClr val="336699"/>
                </a:solidFill>
                <a:effectLst/>
                <a:latin typeface="黑体" panose="02010609060101010101" pitchFamily="49" charset="-122"/>
                <a:ea typeface="黑体" panose="02010609060101010101" pitchFamily="49" charset="-122"/>
              </a:defRPr>
            </a:lvl1pPr>
          </a:lstStyle>
          <a:p>
            <a:r>
              <a:rPr lang="zh-CN" altLang="en-US"/>
              <a:t>单击此处编辑母版标题样式</a:t>
            </a:r>
            <a:endParaRPr lang="zh-CN" altLang="en-US" dirty="0"/>
          </a:p>
        </p:txBody>
      </p:sp>
      <p:sp>
        <p:nvSpPr>
          <p:cNvPr id="3" name="内容占位符 2"/>
          <p:cNvSpPr>
            <a:spLocks noGrp="1"/>
          </p:cNvSpPr>
          <p:nvPr>
            <p:ph idx="1"/>
          </p:nvPr>
        </p:nvSpPr>
        <p:spPr/>
        <p:txBody>
          <a:bodyPr/>
          <a:lstStyle>
            <a:lvl1pPr marL="342900" indent="-342900">
              <a:lnSpc>
                <a:spcPct val="150000"/>
              </a:lnSpc>
              <a:buClr>
                <a:schemeClr val="tx1">
                  <a:lumMod val="50000"/>
                  <a:lumOff val="50000"/>
                </a:schemeClr>
              </a:buClr>
              <a:buSzPct val="80000"/>
              <a:buFont typeface="Wingdings" panose="05000000000000000000" pitchFamily="2" charset="2"/>
              <a:buChar char="l"/>
              <a:defRPr sz="2000" b="1">
                <a:solidFill>
                  <a:schemeClr val="tx1"/>
                </a:solidFill>
                <a:latin typeface="华文细黑" panose="02010600040101010101" pitchFamily="2" charset="-122"/>
                <a:ea typeface="华文细黑" panose="02010600040101010101" pitchFamily="2" charset="-122"/>
              </a:defRPr>
            </a:lvl1pPr>
            <a:lvl2pPr marL="742950" indent="-285750">
              <a:buClr>
                <a:schemeClr val="tx1"/>
              </a:buClr>
              <a:buSzPct val="70000"/>
              <a:buFont typeface="Wingdings" panose="05000000000000000000" pitchFamily="2" charset="2"/>
              <a:buChar char="p"/>
              <a:defRPr sz="1800" b="0">
                <a:solidFill>
                  <a:schemeClr val="tx1"/>
                </a:solidFill>
                <a:latin typeface="华文细黑" panose="02010600040101010101" pitchFamily="2" charset="-122"/>
                <a:ea typeface="华文细黑" panose="02010600040101010101" pitchFamily="2" charset="-122"/>
              </a:defRPr>
            </a:lvl2pPr>
            <a:lvl3pPr marL="1143000" indent="-228600">
              <a:buClr>
                <a:schemeClr val="tx1"/>
              </a:buClr>
              <a:buSzPct val="50000"/>
              <a:buFont typeface="Wingdings" panose="05000000000000000000" pitchFamily="2" charset="2"/>
              <a:buChar char="n"/>
              <a:defRPr sz="1600">
                <a:latin typeface="华文细黑" panose="02010600040101010101" pitchFamily="2" charset="-122"/>
                <a:ea typeface="华文细黑" panose="02010600040101010101" pitchFamily="2" charset="-122"/>
              </a:defRPr>
            </a:lvl3pPr>
            <a:lvl4pPr marL="1600200" indent="-228600">
              <a:buClr>
                <a:schemeClr val="tx1"/>
              </a:buClr>
              <a:buSzPct val="50000"/>
              <a:buFont typeface="Wingdings" panose="05000000000000000000" pitchFamily="2" charset="2"/>
              <a:buChar char="p"/>
              <a:defRPr sz="1400">
                <a:latin typeface="华文细黑" panose="02010600040101010101" pitchFamily="2" charset="-122"/>
                <a:ea typeface="华文细黑" panose="02010600040101010101" pitchFamily="2" charset="-122"/>
              </a:defRPr>
            </a:lvl4pPr>
            <a:lvl5pPr>
              <a:defRPr sz="1200">
                <a:latin typeface="华文细黑" panose="02010600040101010101" pitchFamily="2" charset="-122"/>
                <a:ea typeface="华文细黑" panose="02010600040101010101" pitchFamily="2" charset="-122"/>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4" name="日期占位符 3"/>
          <p:cNvSpPr>
            <a:spLocks noGrp="1"/>
          </p:cNvSpPr>
          <p:nvPr>
            <p:ph type="dt" sz="half" idx="10"/>
          </p:nvPr>
        </p:nvSpPr>
        <p:spPr/>
        <p:txBody>
          <a:bodyPr/>
          <a:lstStyle/>
          <a:p>
            <a:fld id="{530820CF-B880-4189-942D-D702A7CBA730}" type="datetimeFigureOut">
              <a:rPr lang="zh-CN" altLang="en-US" smtClean="0"/>
              <a:t>2026/3/18</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2026/3/18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2026/3/18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2026/3/18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2026/3/18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2026/3/18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2026/3/18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hasCustomPrompt="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将图片拖动到占位符，或单击添加图标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2026/3/18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2026/3/18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2026/3/18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EF50BAF8-1120-4869-B1EC-9D010EF77D65}" type="datetimeFigureOut">
              <a:rPr lang="zh-CN" altLang="en-US" smtClean="0"/>
              <a:t>2026/3/18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9F4C11A-0699-48E7-8749-FD2A688E3479}" type="slidenum">
              <a:rPr lang="zh-CN" altLang="en-US" smtClean="0"/>
              <a:t>‹#›</a:t>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b="1"/>
            </a:lvl1pPr>
          </a:lstStyle>
          <a:p>
            <a:r>
              <a:rPr lang="zh-CN" altLang="en-US" dirty="0"/>
              <a:t>目录</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EF50BAF8-1120-4869-B1EC-9D010EF77D65}" type="datetimeFigureOut">
              <a:rPr lang="zh-CN" altLang="en-US" smtClean="0"/>
              <a:t>2026/3/18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9F4C11A-0699-48E7-8749-FD2A688E3479}" type="slidenum">
              <a:rPr lang="zh-CN" altLang="en-US" smtClean="0"/>
              <a:t>‹#›</a:t>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EF50BAF8-1120-4869-B1EC-9D010EF77D65}" type="datetimeFigureOut">
              <a:rPr lang="zh-CN" altLang="en-US" smtClean="0"/>
              <a:t>2026/3/18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9F4C11A-0699-48E7-8749-FD2A688E3479}" type="slidenum">
              <a:rPr lang="zh-CN" altLang="en-US" smtClean="0"/>
              <a:t>‹#›</a:t>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EF50BAF8-1120-4869-B1EC-9D010EF77D65}" type="datetimeFigureOut">
              <a:rPr lang="zh-CN" altLang="en-US" smtClean="0"/>
              <a:t>2026/3/18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9F4C11A-0699-48E7-8749-FD2A688E3479}" type="slidenum">
              <a:rPr lang="zh-CN" altLang="en-US" smtClean="0"/>
              <a:t>‹#›</a:t>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EF50BAF8-1120-4869-B1EC-9D010EF77D65}" type="datetimeFigureOut">
              <a:rPr lang="zh-CN" altLang="en-US" smtClean="0"/>
              <a:t>2026/3/18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9F4C11A-0699-48E7-8749-FD2A688E3479}" type="slidenum">
              <a:rPr lang="zh-CN" altLang="en-US" smtClean="0"/>
              <a:t>‹#›</a:t>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F50BAF8-1120-4869-B1EC-9D010EF77D65}" type="datetimeFigureOut">
              <a:rPr lang="zh-CN" altLang="en-US" smtClean="0"/>
              <a:t>2026/3/18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9F4C11A-0699-48E7-8749-FD2A688E3479}" type="slidenum">
              <a:rPr lang="zh-CN" altLang="en-US" smtClean="0"/>
              <a:t>‹#›</a:t>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F50BAF8-1120-4869-B1EC-9D010EF77D65}" type="datetimeFigureOut">
              <a:rPr lang="zh-CN" altLang="en-US" smtClean="0"/>
              <a:t>2026/3/18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9F4C11A-0699-48E7-8749-FD2A688E3479}" type="slidenum">
              <a:rPr lang="zh-CN" altLang="en-US" smtClean="0"/>
              <a:t>‹#›</a:t>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F50BAF8-1120-4869-B1EC-9D010EF77D65}" type="datetimeFigureOut">
              <a:rPr lang="zh-CN" altLang="en-US" smtClean="0"/>
              <a:t>2026/3/18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9F4C11A-0699-48E7-8749-FD2A688E3479}" type="slidenum">
              <a:rPr lang="zh-CN" altLang="en-US" smtClean="0"/>
              <a:t>‹#›</a:t>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hasCustomPrompt="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将图片拖动到占位符，或单击添加图标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F50BAF8-1120-4869-B1EC-9D010EF77D65}" type="datetimeFigureOut">
              <a:rPr lang="zh-CN" altLang="en-US" smtClean="0"/>
              <a:t>2026/3/18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9F4C11A-0699-48E7-8749-FD2A688E3479}" type="slidenum">
              <a:rPr lang="zh-CN" altLang="en-US" smtClean="0"/>
              <a:t>‹#›</a:t>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EF50BAF8-1120-4869-B1EC-9D010EF77D65}" type="datetimeFigureOut">
              <a:rPr lang="zh-CN" altLang="en-US" smtClean="0"/>
              <a:t>2026/3/18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9F4C11A-0699-48E7-8749-FD2A688E3479}" type="slidenum">
              <a:rPr lang="zh-CN" altLang="en-US" smtClean="0"/>
              <a:t>‹#›</a:t>
            </a:fld>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EF50BAF8-1120-4869-B1EC-9D010EF77D65}" type="datetimeFigureOut">
              <a:rPr lang="zh-CN" altLang="en-US" smtClean="0"/>
              <a:t>2026/3/18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9F4C11A-0699-48E7-8749-FD2A688E3479}"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7" name="Rectangle 8"/>
          <p:cNvSpPr>
            <a:spLocks noChangeArrowheads="1"/>
          </p:cNvSpPr>
          <p:nvPr userDrawn="1"/>
        </p:nvSpPr>
        <p:spPr bwMode="auto">
          <a:xfrm>
            <a:off x="0" y="0"/>
            <a:ext cx="9144000" cy="6858000"/>
          </a:xfrm>
          <a:prstGeom prst="rect">
            <a:avLst/>
          </a:prstGeom>
          <a:solidFill>
            <a:srgbClr val="DDDDDD"/>
          </a:solidFill>
          <a:ln w="9525" algn="ctr">
            <a:noFill/>
            <a:miter lim="800000"/>
          </a:ln>
          <a:effectLst/>
        </p:spPr>
        <p:txBody>
          <a:bodyPr wrap="none" lIns="91425" tIns="45712" rIns="91425" bIns="45712" anchor="ctr">
            <a:spAutoFit/>
          </a:bodyPr>
          <a:lstStyle/>
          <a:p>
            <a:endParaRPr lang="zh-CN" altLang="en-US"/>
          </a:p>
        </p:txBody>
      </p:sp>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dirty="0"/>
              <a:t>目录</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50BAF8-1120-4869-B1EC-9D010EF77D65}" type="datetimeFigureOut">
              <a:rPr lang="zh-CN" altLang="en-US" smtClean="0"/>
              <a:t>2026/3/18</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F4C11A-0699-48E7-8749-FD2A688E347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spcBef>
          <a:spcPct val="0"/>
        </a:spcBef>
        <a:buNone/>
        <a:defRPr sz="3600" kern="1200">
          <a:solidFill>
            <a:srgbClr val="336699"/>
          </a:solidFill>
          <a:latin typeface="黑体" panose="02010609060101010101" pitchFamily="49" charset="-122"/>
          <a:ea typeface="黑体" panose="02010609060101010101" pitchFamily="49" charset="-122"/>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2400" b="1" kern="1200">
          <a:solidFill>
            <a:schemeClr val="tx1"/>
          </a:solidFill>
          <a:latin typeface="华文细黑" panose="02010600040101010101" pitchFamily="2" charset="-122"/>
          <a:ea typeface="华文细黑" panose="02010600040101010101" pitchFamily="2" charset="-122"/>
          <a:cs typeface="+mn-cs"/>
        </a:defRPr>
      </a:lvl1pPr>
      <a:lvl2pPr marL="742950" indent="-285750" algn="l" defTabSz="914400" rtl="0" eaLnBrk="1" latinLnBrk="0" hangingPunct="1">
        <a:spcBef>
          <a:spcPct val="20000"/>
        </a:spcBef>
        <a:buSzPct val="50000"/>
        <a:buFont typeface="Wingdings" panose="05000000000000000000" pitchFamily="2" charset="2"/>
        <a:buChar char="p"/>
        <a:defRPr sz="2200" kern="1200">
          <a:solidFill>
            <a:schemeClr val="tx1"/>
          </a:solidFill>
          <a:latin typeface="华文细黑" panose="02010600040101010101" pitchFamily="2" charset="-122"/>
          <a:ea typeface="华文细黑" panose="02010600040101010101" pitchFamily="2" charset="-122"/>
          <a:cs typeface="+mn-cs"/>
        </a:defRPr>
      </a:lvl2pPr>
      <a:lvl3pPr marL="1143000" indent="-228600" algn="l" defTabSz="914400" rtl="0" eaLnBrk="1" latinLnBrk="0" hangingPunct="1">
        <a:spcBef>
          <a:spcPct val="20000"/>
        </a:spcBef>
        <a:buSzPct val="50000"/>
        <a:buFont typeface="Wingdings" panose="05000000000000000000" pitchFamily="2" charset="2"/>
        <a:buChar char="n"/>
        <a:defRPr sz="2000" kern="1200">
          <a:solidFill>
            <a:schemeClr val="tx1"/>
          </a:solidFill>
          <a:latin typeface="华文细黑" panose="02010600040101010101" pitchFamily="2" charset="-122"/>
          <a:ea typeface="华文细黑" panose="02010600040101010101" pitchFamily="2"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2026/3/18</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8"/>
          <p:cNvSpPr>
            <a:spLocks noChangeArrowheads="1"/>
          </p:cNvSpPr>
          <p:nvPr/>
        </p:nvSpPr>
        <p:spPr bwMode="auto">
          <a:xfrm>
            <a:off x="0" y="0"/>
            <a:ext cx="9144000" cy="6858000"/>
          </a:xfrm>
          <a:prstGeom prst="rect">
            <a:avLst/>
          </a:prstGeom>
          <a:solidFill>
            <a:srgbClr val="DDDDDD"/>
          </a:solidFill>
          <a:ln w="9525" algn="ctr">
            <a:noFill/>
            <a:miter lim="800000"/>
          </a:ln>
          <a:effectLst/>
        </p:spPr>
        <p:txBody>
          <a:bodyPr wrap="none" lIns="91425" tIns="45712" rIns="91425" bIns="45712" anchor="ctr">
            <a:spAutoFit/>
          </a:bodyPr>
          <a:lstStyle/>
          <a:p>
            <a:endParaRPr lang="zh-CN" altLang="en-US"/>
          </a:p>
        </p:txBody>
      </p:sp>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dirty="0"/>
              <a:t>目录</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50BAF8-1120-4869-B1EC-9D010EF77D65}" type="datetimeFigureOut">
              <a:rPr lang="zh-CN" altLang="en-US" smtClean="0"/>
              <a:t>2026/3/18</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F4C11A-0699-48E7-8749-FD2A688E347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l" defTabSz="914400" rtl="0" eaLnBrk="1" latinLnBrk="0" hangingPunct="1">
        <a:spcBef>
          <a:spcPct val="0"/>
        </a:spcBef>
        <a:buNone/>
        <a:defRPr sz="3600" kern="1200">
          <a:solidFill>
            <a:srgbClr val="336699"/>
          </a:solidFill>
          <a:latin typeface="黑体" panose="02010609060101010101" pitchFamily="49" charset="-122"/>
          <a:ea typeface="黑体" panose="02010609060101010101" pitchFamily="49" charset="-122"/>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2400" b="1" kern="1200">
          <a:solidFill>
            <a:schemeClr val="tx1"/>
          </a:solidFill>
          <a:latin typeface="华文细黑" panose="02010600040101010101" pitchFamily="2" charset="-122"/>
          <a:ea typeface="华文细黑" panose="02010600040101010101" pitchFamily="2" charset="-122"/>
          <a:cs typeface="+mn-cs"/>
        </a:defRPr>
      </a:lvl1pPr>
      <a:lvl2pPr marL="742950" indent="-285750" algn="l" defTabSz="914400" rtl="0" eaLnBrk="1" latinLnBrk="0" hangingPunct="1">
        <a:spcBef>
          <a:spcPct val="20000"/>
        </a:spcBef>
        <a:buSzPct val="50000"/>
        <a:buFont typeface="Wingdings" panose="05000000000000000000" pitchFamily="2" charset="2"/>
        <a:buChar char="p"/>
        <a:defRPr sz="2200" kern="1200">
          <a:solidFill>
            <a:schemeClr val="tx1"/>
          </a:solidFill>
          <a:latin typeface="华文细黑" panose="02010600040101010101" pitchFamily="2" charset="-122"/>
          <a:ea typeface="华文细黑" panose="02010600040101010101" pitchFamily="2" charset="-122"/>
          <a:cs typeface="+mn-cs"/>
        </a:defRPr>
      </a:lvl2pPr>
      <a:lvl3pPr marL="1143000" indent="-228600" algn="l" defTabSz="914400" rtl="0" eaLnBrk="1" latinLnBrk="0" hangingPunct="1">
        <a:spcBef>
          <a:spcPct val="20000"/>
        </a:spcBef>
        <a:buSzPct val="50000"/>
        <a:buFont typeface="Wingdings" panose="05000000000000000000" pitchFamily="2" charset="2"/>
        <a:buChar char="n"/>
        <a:defRPr sz="2000" kern="1200">
          <a:solidFill>
            <a:schemeClr val="tx1"/>
          </a:solidFill>
          <a:latin typeface="华文细黑" panose="02010600040101010101" pitchFamily="2" charset="-122"/>
          <a:ea typeface="华文细黑" panose="02010600040101010101" pitchFamily="2"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3.xml"/><Relationship Id="rId1" Type="http://schemas.openxmlformats.org/officeDocument/2006/relationships/vmlDrawing" Target="../drawings/vmlDrawing1.vml"/><Relationship Id="rId4" Type="http://schemas.openxmlformats.org/officeDocument/2006/relationships/image" Target="../media/image6.emf"/></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3.xml"/><Relationship Id="rId1" Type="http://schemas.openxmlformats.org/officeDocument/2006/relationships/vmlDrawing" Target="../drawings/vmlDrawing2.vml"/><Relationship Id="rId6" Type="http://schemas.openxmlformats.org/officeDocument/2006/relationships/image" Target="../media/image9.wmf"/><Relationship Id="rId5" Type="http://schemas.openxmlformats.org/officeDocument/2006/relationships/oleObject" Target="../embeddings/oleObject3.bin"/><Relationship Id="rId4" Type="http://schemas.openxmlformats.org/officeDocument/2006/relationships/image" Target="../media/image8.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3.xml"/><Relationship Id="rId1" Type="http://schemas.openxmlformats.org/officeDocument/2006/relationships/vmlDrawing" Target="../drawings/vmlDrawing3.vml"/><Relationship Id="rId4" Type="http://schemas.openxmlformats.org/officeDocument/2006/relationships/image" Target="../media/image10.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3.xml"/><Relationship Id="rId1" Type="http://schemas.openxmlformats.org/officeDocument/2006/relationships/vmlDrawing" Target="../drawings/vmlDrawing4.vml"/><Relationship Id="rId4" Type="http://schemas.openxmlformats.org/officeDocument/2006/relationships/image" Target="../media/image11.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13.xml"/><Relationship Id="rId1" Type="http://schemas.openxmlformats.org/officeDocument/2006/relationships/vmlDrawing" Target="../drawings/vmlDrawing5.vml"/><Relationship Id="rId4" Type="http://schemas.openxmlformats.org/officeDocument/2006/relationships/image" Target="../media/image12.e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13.xml"/><Relationship Id="rId1" Type="http://schemas.openxmlformats.org/officeDocument/2006/relationships/vmlDrawing" Target="../drawings/vmlDrawing6.vml"/><Relationship Id="rId4" Type="http://schemas.openxmlformats.org/officeDocument/2006/relationships/image" Target="../media/image13.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13.xml"/><Relationship Id="rId1" Type="http://schemas.openxmlformats.org/officeDocument/2006/relationships/vmlDrawing" Target="../drawings/vmlDrawing7.vml"/><Relationship Id="rId4" Type="http://schemas.openxmlformats.org/officeDocument/2006/relationships/image" Target="../media/image13.w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13.xml"/><Relationship Id="rId1" Type="http://schemas.openxmlformats.org/officeDocument/2006/relationships/vmlDrawing" Target="../drawings/vmlDrawing8.vml"/><Relationship Id="rId4" Type="http://schemas.openxmlformats.org/officeDocument/2006/relationships/image" Target="../media/image14.w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13.xml"/><Relationship Id="rId1" Type="http://schemas.openxmlformats.org/officeDocument/2006/relationships/vmlDrawing" Target="../drawings/vmlDrawing9.vml"/><Relationship Id="rId4" Type="http://schemas.openxmlformats.org/officeDocument/2006/relationships/image" Target="../media/image15.e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13.xml"/><Relationship Id="rId1" Type="http://schemas.openxmlformats.org/officeDocument/2006/relationships/vmlDrawing" Target="../drawings/vmlDrawing10.vml"/><Relationship Id="rId4" Type="http://schemas.openxmlformats.org/officeDocument/2006/relationships/image" Target="../media/image16.e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13.xml"/><Relationship Id="rId1" Type="http://schemas.openxmlformats.org/officeDocument/2006/relationships/vmlDrawing" Target="../drawings/vmlDrawing11.vml"/><Relationship Id="rId4" Type="http://schemas.openxmlformats.org/officeDocument/2006/relationships/image" Target="../media/image17.w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13.xml"/><Relationship Id="rId1" Type="http://schemas.openxmlformats.org/officeDocument/2006/relationships/vmlDrawing" Target="../drawings/vmlDrawing12.vml"/><Relationship Id="rId4" Type="http://schemas.openxmlformats.org/officeDocument/2006/relationships/image" Target="../media/image18.w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13.xml"/><Relationship Id="rId1" Type="http://schemas.openxmlformats.org/officeDocument/2006/relationships/vmlDrawing" Target="../drawings/vmlDrawing13.vml"/><Relationship Id="rId4" Type="http://schemas.openxmlformats.org/officeDocument/2006/relationships/image" Target="../media/image19.w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13.xml"/><Relationship Id="rId1" Type="http://schemas.openxmlformats.org/officeDocument/2006/relationships/vmlDrawing" Target="../drawings/vmlDrawing14.vml"/><Relationship Id="rId5" Type="http://schemas.openxmlformats.org/officeDocument/2006/relationships/image" Target="../media/image22.wmf"/><Relationship Id="rId4" Type="http://schemas.openxmlformats.org/officeDocument/2006/relationships/oleObject" Target="../embeddings/oleObject15.bin"/></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Layout" Target="../slideLayouts/slideLayout13.xml"/><Relationship Id="rId4" Type="http://schemas.microsoft.com/office/2007/relationships/hdphoto" Target="../media/hdphoto1.wdp"/></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13.xml"/><Relationship Id="rId1" Type="http://schemas.openxmlformats.org/officeDocument/2006/relationships/vmlDrawing" Target="../drawings/vmlDrawing15.vml"/><Relationship Id="rId4" Type="http://schemas.openxmlformats.org/officeDocument/2006/relationships/image" Target="../media/image31.wmf"/></Relationships>
</file>

<file path=ppt/slides/_rels/slide3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13.xml"/><Relationship Id="rId1" Type="http://schemas.openxmlformats.org/officeDocument/2006/relationships/vmlDrawing" Target="../drawings/vmlDrawing16.vml"/><Relationship Id="rId5" Type="http://schemas.openxmlformats.org/officeDocument/2006/relationships/image" Target="../media/image36.png"/><Relationship Id="rId4" Type="http://schemas.openxmlformats.org/officeDocument/2006/relationships/image" Target="../media/image35.emf"/></Relationships>
</file>

<file path=ppt/slides/_rels/slide34.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jpeg"/><Relationship Id="rId1" Type="http://schemas.openxmlformats.org/officeDocument/2006/relationships/slideLayout" Target="../slideLayouts/slideLayout13.xml"/><Relationship Id="rId4" Type="http://schemas.openxmlformats.org/officeDocument/2006/relationships/image" Target="../media/image41.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753110" y="690245"/>
            <a:ext cx="8134985" cy="1833880"/>
          </a:xfrm>
        </p:spPr>
        <p:txBody>
          <a:bodyPr/>
          <a:lstStyle/>
          <a:p>
            <a:r>
              <a:rPr lang="zh-CN" altLang="en-US" sz="4000" b="1" dirty="0">
                <a:solidFill>
                  <a:schemeClr val="tx1"/>
                </a:solidFill>
                <a:ea typeface="宋体" panose="02010600030101010101" pitchFamily="2" charset="-122"/>
              </a:rPr>
              <a:t>数字逻辑设计实验</a:t>
            </a:r>
            <a:endParaRPr lang="zh-CN" altLang="en-US" sz="4000" dirty="0">
              <a:effectLst/>
              <a:latin typeface="黑体" panose="02010609060101010101" pitchFamily="49" charset="-122"/>
              <a:ea typeface="黑体" panose="02010609060101010101" pitchFamily="49" charset="-122"/>
              <a:cs typeface="黑体" panose="02010609060101010101" pitchFamily="49" charset="-122"/>
            </a:endParaRPr>
          </a:p>
        </p:txBody>
      </p:sp>
      <p:sp>
        <p:nvSpPr>
          <p:cNvPr id="3" name="副标题 2"/>
          <p:cNvSpPr>
            <a:spLocks noGrp="1"/>
          </p:cNvSpPr>
          <p:nvPr>
            <p:ph type="subTitle" idx="1"/>
          </p:nvPr>
        </p:nvSpPr>
        <p:spPr>
          <a:xfrm>
            <a:off x="1106805" y="3356610"/>
            <a:ext cx="6664960" cy="2828290"/>
          </a:xfrm>
        </p:spPr>
        <p:txBody>
          <a:bodyPr>
            <a:normAutofit/>
          </a:bodyPr>
          <a:lstStyle/>
          <a:p>
            <a:pPr>
              <a:spcBef>
                <a:spcPct val="0"/>
              </a:spcBef>
            </a:pPr>
            <a:r>
              <a:rPr lang="zh-CN" altLang="en-US" sz="3600" dirty="0">
                <a:solidFill>
                  <a:schemeClr val="tx1"/>
                </a:solidFill>
                <a:latin typeface="楷体_GB2312" pitchFamily="49" charset="-122"/>
                <a:ea typeface="楷体_GB2312" pitchFamily="49" charset="-122"/>
                <a:sym typeface="+mn-ea"/>
              </a:rPr>
              <a:t>洪奇军</a:t>
            </a:r>
            <a:endParaRPr lang="zh-CN" altLang="en-US" sz="3600" dirty="0">
              <a:solidFill>
                <a:schemeClr val="tx1"/>
              </a:solidFill>
              <a:latin typeface="楷体_GB2312" pitchFamily="49" charset="-122"/>
              <a:ea typeface="楷体_GB2312" pitchFamily="49" charset="-122"/>
            </a:endParaRPr>
          </a:p>
          <a:p>
            <a:pPr>
              <a:spcBef>
                <a:spcPct val="0"/>
              </a:spcBef>
            </a:pPr>
            <a:r>
              <a:rPr lang="en-US" altLang="zh-CN" sz="3600" dirty="0">
                <a:solidFill>
                  <a:schemeClr val="tx1"/>
                </a:solidFill>
                <a:latin typeface="楷体_GB2312" pitchFamily="49" charset="-122"/>
                <a:ea typeface="楷体_GB2312" pitchFamily="49" charset="-122"/>
                <a:sym typeface="+mn-ea"/>
              </a:rPr>
              <a:t>redflag@zju.edu.cn</a:t>
            </a:r>
            <a:endParaRPr lang="en-US" altLang="zh-CN" sz="3600" dirty="0">
              <a:solidFill>
                <a:schemeClr val="tx1"/>
              </a:solidFill>
              <a:latin typeface="楷体_GB2312" pitchFamily="49" charset="-122"/>
              <a:ea typeface="楷体_GB2312" pitchFamily="49" charset="-122"/>
            </a:endParaRPr>
          </a:p>
          <a:p>
            <a:pPr marL="0" lvl="1">
              <a:spcBef>
                <a:spcPct val="0"/>
              </a:spcBef>
            </a:pPr>
            <a:r>
              <a:rPr lang="en-US" altLang="zh-CN" sz="3600" dirty="0">
                <a:solidFill>
                  <a:srgbClr val="FF0000"/>
                </a:solidFill>
                <a:latin typeface="楷体_GB2312" pitchFamily="49" charset="-122"/>
                <a:ea typeface="楷体_GB2312" pitchFamily="49" charset="-122"/>
                <a:sym typeface="+mn-ea"/>
              </a:rPr>
              <a:t>ftp://10.78.18.205</a:t>
            </a:r>
            <a:endParaRPr lang="en-US" altLang="zh-CN" sz="3600" dirty="0">
              <a:solidFill>
                <a:srgbClr val="FF0000"/>
              </a:solidFill>
              <a:latin typeface="楷体_GB2312" pitchFamily="49" charset="-122"/>
              <a:ea typeface="楷体_GB2312" pitchFamily="49" charset="-122"/>
            </a:endParaRPr>
          </a:p>
          <a:p>
            <a:pPr marL="0" lvl="1">
              <a:spcBef>
                <a:spcPct val="0"/>
              </a:spcBef>
            </a:pPr>
            <a:r>
              <a:rPr lang="en-US" altLang="zh-CN" sz="3600" dirty="0">
                <a:solidFill>
                  <a:schemeClr val="tx1"/>
                </a:solidFill>
                <a:latin typeface="楷体_GB2312" pitchFamily="49" charset="-122"/>
                <a:ea typeface="楷体_GB2312" pitchFamily="49" charset="-122"/>
                <a:sym typeface="+mn-ea"/>
              </a:rPr>
              <a:t>2026</a:t>
            </a:r>
            <a:r>
              <a:rPr lang="zh-CN" altLang="en-US" sz="3600" dirty="0">
                <a:solidFill>
                  <a:schemeClr val="tx1"/>
                </a:solidFill>
                <a:latin typeface="楷体_GB2312" pitchFamily="49" charset="-122"/>
                <a:ea typeface="楷体_GB2312" pitchFamily="49" charset="-122"/>
                <a:sym typeface="+mn-ea"/>
              </a:rPr>
              <a:t>年</a:t>
            </a:r>
            <a:r>
              <a:rPr lang="en-US" altLang="zh-CN" sz="3600" dirty="0">
                <a:solidFill>
                  <a:schemeClr val="tx1"/>
                </a:solidFill>
                <a:latin typeface="楷体_GB2312" pitchFamily="49" charset="-122"/>
                <a:ea typeface="楷体_GB2312" pitchFamily="49" charset="-122"/>
                <a:sym typeface="+mn-ea"/>
              </a:rPr>
              <a:t>03</a:t>
            </a:r>
            <a:r>
              <a:rPr lang="zh-CN" altLang="en-US" sz="3600" dirty="0">
                <a:solidFill>
                  <a:schemeClr val="tx1"/>
                </a:solidFill>
                <a:latin typeface="楷体_GB2312" pitchFamily="49" charset="-122"/>
                <a:ea typeface="楷体_GB2312" pitchFamily="49" charset="-122"/>
                <a:sym typeface="+mn-ea"/>
              </a:rPr>
              <a:t>月</a:t>
            </a:r>
            <a:r>
              <a:rPr lang="en-US" altLang="zh-CN" sz="3600" dirty="0">
                <a:solidFill>
                  <a:schemeClr val="tx1"/>
                </a:solidFill>
                <a:latin typeface="楷体_GB2312" pitchFamily="49" charset="-122"/>
                <a:ea typeface="楷体_GB2312" pitchFamily="49" charset="-122"/>
                <a:sym typeface="+mn-ea"/>
              </a:rPr>
              <a:t>12</a:t>
            </a:r>
            <a:r>
              <a:rPr lang="zh-CN" altLang="en-US" sz="3600" dirty="0">
                <a:solidFill>
                  <a:schemeClr val="tx1"/>
                </a:solidFill>
                <a:latin typeface="楷体_GB2312" pitchFamily="49" charset="-122"/>
                <a:ea typeface="楷体_GB2312" pitchFamily="49" charset="-122"/>
                <a:sym typeface="+mn-ea"/>
              </a:rPr>
              <a:t>日</a:t>
            </a:r>
            <a:endParaRPr lang="zh-CN" altLang="en-US" sz="3600" dirty="0">
              <a:solidFill>
                <a:schemeClr val="tx1"/>
              </a:solidFill>
              <a:latin typeface="楷体_GB2312" pitchFamily="49" charset="-122"/>
              <a:ea typeface="楷体_GB2312" pitchFamily="49" charset="-122"/>
            </a:endParaRPr>
          </a:p>
          <a:p>
            <a:pPr>
              <a:spcBef>
                <a:spcPct val="0"/>
              </a:spcBef>
            </a:pPr>
            <a:endParaRPr lang="en-US" altLang="zh-CN" sz="2800" dirty="0">
              <a:solidFill>
                <a:schemeClr val="tx1"/>
              </a:solidFill>
              <a:latin typeface="楷体_GB2312" pitchFamily="49" charset="-122"/>
              <a:ea typeface="楷体_GB2312" pitchFamily="49" charset="-122"/>
            </a:endParaRPr>
          </a:p>
          <a:p>
            <a:pPr>
              <a:lnSpc>
                <a:spcPct val="120000"/>
              </a:lnSpc>
            </a:pPr>
            <a:endParaRPr lang="zh-CN" altLang="en-US" b="1" dirty="0">
              <a:latin typeface="+mj-lt"/>
            </a:endParaRPr>
          </a:p>
        </p:txBody>
      </p:sp>
      <p:sp>
        <p:nvSpPr>
          <p:cNvPr id="4" name="TextBox 3"/>
          <p:cNvSpPr txBox="1"/>
          <p:nvPr/>
        </p:nvSpPr>
        <p:spPr>
          <a:xfrm>
            <a:off x="431731" y="2078033"/>
            <a:ext cx="8280920" cy="1198880"/>
          </a:xfrm>
          <a:prstGeom prst="rect">
            <a:avLst/>
          </a:prstGeom>
          <a:noFill/>
        </p:spPr>
        <p:txBody>
          <a:bodyPr wrap="square" rtlCol="0">
            <a:spAutoFit/>
          </a:bodyPr>
          <a:lstStyle/>
          <a:p>
            <a:pPr algn="ctr"/>
            <a:r>
              <a:rPr lang="zh-CN" altLang="en-US" sz="3600" b="1" dirty="0">
                <a:solidFill>
                  <a:srgbClr val="3333FF"/>
                </a:solidFill>
                <a:latin typeface="Helvetica" pitchFamily="34" charset="0"/>
                <a:ea typeface="宋体" panose="02010600030101010101" pitchFamily="2" charset="-122"/>
              </a:rPr>
              <a:t>实验</a:t>
            </a:r>
            <a:r>
              <a:rPr lang="en-US" altLang="zh-CN" sz="3600" b="1" dirty="0">
                <a:solidFill>
                  <a:srgbClr val="3333FF"/>
                </a:solidFill>
                <a:latin typeface="Helvetica" pitchFamily="34" charset="0"/>
                <a:ea typeface="宋体" panose="02010600030101010101" pitchFamily="2" charset="-122"/>
              </a:rPr>
              <a:t>3</a:t>
            </a:r>
            <a:r>
              <a:rPr lang="zh-CN" altLang="en-US" sz="3600" b="1" dirty="0">
                <a:solidFill>
                  <a:srgbClr val="3333FF"/>
                </a:solidFill>
                <a:latin typeface="Helvetica" pitchFamily="34" charset="0"/>
                <a:ea typeface="宋体" panose="02010600030101010101" pitchFamily="2" charset="-122"/>
              </a:rPr>
              <a:t>、集成逻辑门电路的</a:t>
            </a:r>
            <a:endParaRPr lang="en-US" altLang="zh-CN" sz="3600" b="1" dirty="0">
              <a:solidFill>
                <a:srgbClr val="3333FF"/>
              </a:solidFill>
              <a:latin typeface="Helvetica" pitchFamily="34" charset="0"/>
              <a:ea typeface="宋体" panose="02010600030101010101" pitchFamily="2" charset="-122"/>
            </a:endParaRPr>
          </a:p>
          <a:p>
            <a:pPr algn="ctr"/>
            <a:r>
              <a:rPr lang="zh-CN" altLang="en-US" sz="3600" b="1" dirty="0">
                <a:solidFill>
                  <a:srgbClr val="3333FF"/>
                </a:solidFill>
                <a:latin typeface="Helvetica" pitchFamily="34" charset="0"/>
                <a:ea typeface="宋体" panose="02010600030101010101" pitchFamily="2" charset="-122"/>
              </a:rPr>
              <a:t>功能及参数测试</a:t>
            </a:r>
            <a:endParaRPr lang="en-US" altLang="zh-CN" sz="3600" b="1" dirty="0">
              <a:solidFill>
                <a:srgbClr val="3333FF"/>
              </a:solidFill>
              <a:latin typeface="Helvetica" pitchFamily="34" charset="0"/>
              <a:ea typeface="宋体"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提  纲</a:t>
            </a:r>
          </a:p>
        </p:txBody>
      </p:sp>
      <p:sp>
        <p:nvSpPr>
          <p:cNvPr id="3" name="内容占位符 2"/>
          <p:cNvSpPr>
            <a:spLocks noGrp="1"/>
          </p:cNvSpPr>
          <p:nvPr>
            <p:ph idx="1"/>
          </p:nvPr>
        </p:nvSpPr>
        <p:spPr/>
        <p:txBody>
          <a:bodyPr/>
          <a:lstStyle/>
          <a:p>
            <a:r>
              <a:rPr lang="zh-CN" altLang="en-US" dirty="0"/>
              <a:t>实验目的</a:t>
            </a:r>
            <a:endParaRPr lang="en-US" altLang="zh-CN" dirty="0"/>
          </a:p>
          <a:p>
            <a:r>
              <a:rPr lang="zh-CN" altLang="en-US" dirty="0"/>
              <a:t>实验设备与材料</a:t>
            </a:r>
            <a:endParaRPr lang="en-US" altLang="zh-CN" dirty="0"/>
          </a:p>
          <a:p>
            <a:r>
              <a:rPr lang="zh-CN" altLang="en-US" dirty="0"/>
              <a:t>实验任务</a:t>
            </a:r>
            <a:endParaRPr lang="en-US" altLang="zh-CN" dirty="0"/>
          </a:p>
          <a:p>
            <a:r>
              <a:rPr lang="zh-CN" altLang="en-US" dirty="0"/>
              <a:t>实验原理</a:t>
            </a:r>
            <a:endParaRPr lang="en-US" altLang="zh-CN" dirty="0"/>
          </a:p>
          <a:p>
            <a:r>
              <a:rPr lang="zh-CN" altLang="en-US" dirty="0"/>
              <a:t>实验内容与步骤</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实验目的</a:t>
            </a:r>
          </a:p>
        </p:txBody>
      </p:sp>
      <p:sp>
        <p:nvSpPr>
          <p:cNvPr id="3" name="内容占位符 2"/>
          <p:cNvSpPr>
            <a:spLocks noGrp="1"/>
          </p:cNvSpPr>
          <p:nvPr>
            <p:ph idx="1"/>
          </p:nvPr>
        </p:nvSpPr>
        <p:spPr>
          <a:xfrm>
            <a:off x="457200" y="1412776"/>
            <a:ext cx="8507288" cy="5184576"/>
          </a:xfrm>
        </p:spPr>
        <p:txBody>
          <a:bodyPr>
            <a:normAutofit/>
          </a:bodyPr>
          <a:lstStyle/>
          <a:p>
            <a:r>
              <a:rPr lang="zh-CN" altLang="en-US" sz="2800" dirty="0"/>
              <a:t>熟悉基本逻辑门电路的功能、外部电气特性和逻辑功能的特殊用途</a:t>
            </a:r>
          </a:p>
          <a:p>
            <a:r>
              <a:rPr lang="zh-CN" altLang="en-US" sz="2800" dirty="0"/>
              <a:t>熟悉</a:t>
            </a:r>
            <a:r>
              <a:rPr lang="en-US" altLang="zh-CN" sz="2800" dirty="0"/>
              <a:t>TTL</a:t>
            </a:r>
            <a:r>
              <a:rPr lang="zh-CN" altLang="en-US" sz="2800" dirty="0"/>
              <a:t>与非门和</a:t>
            </a:r>
            <a:r>
              <a:rPr lang="en-US" altLang="zh-CN" sz="2800" dirty="0"/>
              <a:t>MOS</a:t>
            </a:r>
            <a:r>
              <a:rPr lang="zh-CN" altLang="en-US" sz="2800" dirty="0"/>
              <a:t>或非门的封装及管脚功能</a:t>
            </a:r>
          </a:p>
          <a:p>
            <a:r>
              <a:rPr lang="zh-CN" altLang="en-US" sz="2800" dirty="0"/>
              <a:t>掌握主要参数和静态特性的测试方法，加深对各参数意义的理解</a:t>
            </a:r>
          </a:p>
          <a:p>
            <a:r>
              <a:rPr lang="zh-CN" altLang="en-US" sz="2800" dirty="0"/>
              <a:t>进一步建立信号传输有时间延时的概念</a:t>
            </a:r>
          </a:p>
          <a:p>
            <a:r>
              <a:rPr lang="zh-CN" altLang="en-US" sz="2800" dirty="0"/>
              <a:t>进一步熟悉示波器、函数发生器等仪器的使用</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实验设备与材料</a:t>
            </a:r>
          </a:p>
        </p:txBody>
      </p:sp>
      <p:sp>
        <p:nvSpPr>
          <p:cNvPr id="3" name="内容占位符 2"/>
          <p:cNvSpPr>
            <a:spLocks noGrp="1"/>
          </p:cNvSpPr>
          <p:nvPr>
            <p:ph idx="1"/>
          </p:nvPr>
        </p:nvSpPr>
        <p:spPr/>
        <p:txBody>
          <a:bodyPr>
            <a:normAutofit fontScale="92500" lnSpcReduction="10000"/>
          </a:bodyPr>
          <a:lstStyle/>
          <a:p>
            <a:r>
              <a:rPr lang="zh-CN" altLang="en-US" dirty="0"/>
              <a:t>实验设备</a:t>
            </a:r>
          </a:p>
          <a:p>
            <a:pPr lvl="1"/>
            <a:r>
              <a:rPr lang="zh-CN" altLang="en-US" dirty="0"/>
              <a:t>数字示波器</a:t>
            </a:r>
            <a:r>
              <a:rPr lang="en-US" altLang="zh-CN" dirty="0"/>
              <a:t>RIGOL-DS162	1</a:t>
            </a:r>
            <a:r>
              <a:rPr lang="zh-CN" altLang="en-US" dirty="0"/>
              <a:t>台</a:t>
            </a:r>
          </a:p>
          <a:p>
            <a:pPr lvl="1"/>
            <a:r>
              <a:rPr lang="zh-CN" altLang="en-US" dirty="0"/>
              <a:t>数字万用表			</a:t>
            </a:r>
            <a:r>
              <a:rPr lang="en-US" altLang="zh-CN" dirty="0"/>
              <a:t>1</a:t>
            </a:r>
            <a:r>
              <a:rPr lang="zh-CN" altLang="en-US" dirty="0"/>
              <a:t>只</a:t>
            </a:r>
          </a:p>
          <a:p>
            <a:pPr lvl="1"/>
            <a:r>
              <a:rPr lang="zh-CN" altLang="en-US" dirty="0"/>
              <a:t>电路设计实验箱	</a:t>
            </a:r>
            <a:r>
              <a:rPr lang="en-US" altLang="zh-CN" dirty="0"/>
              <a:t>	1</a:t>
            </a:r>
            <a:r>
              <a:rPr lang="zh-CN" altLang="en-US" dirty="0"/>
              <a:t>台</a:t>
            </a:r>
          </a:p>
          <a:p>
            <a:r>
              <a:rPr lang="zh-CN" altLang="en-US" dirty="0"/>
              <a:t>实验材料</a:t>
            </a:r>
          </a:p>
          <a:p>
            <a:pPr lvl="1"/>
            <a:r>
              <a:rPr lang="zh-CN" altLang="en-US" dirty="0"/>
              <a:t>两输入与非门</a:t>
            </a:r>
            <a:r>
              <a:rPr lang="en-US" altLang="zh-CN" dirty="0"/>
              <a:t>74LS00	1</a:t>
            </a:r>
            <a:r>
              <a:rPr lang="zh-CN" altLang="en-US" dirty="0"/>
              <a:t>片</a:t>
            </a:r>
          </a:p>
          <a:p>
            <a:pPr lvl="1"/>
            <a:r>
              <a:rPr lang="zh-CN" altLang="en-US" dirty="0"/>
              <a:t>两输入或非门</a:t>
            </a:r>
            <a:r>
              <a:rPr lang="en-US" altLang="zh-CN" dirty="0"/>
              <a:t>CD4001	1</a:t>
            </a:r>
            <a:r>
              <a:rPr lang="zh-CN" altLang="en-US" dirty="0"/>
              <a:t>片</a:t>
            </a:r>
          </a:p>
          <a:p>
            <a:pPr lvl="1"/>
            <a:r>
              <a:rPr lang="zh-CN" altLang="en-US" dirty="0"/>
              <a:t>电阻</a:t>
            </a:r>
          </a:p>
          <a:p>
            <a:pPr lvl="2"/>
            <a:r>
              <a:rPr lang="en-US" altLang="zh-CN" dirty="0"/>
              <a:t>4.7KΩ</a:t>
            </a:r>
            <a:r>
              <a:rPr lang="zh-CN" altLang="en-US" dirty="0"/>
              <a:t>电位器		</a:t>
            </a:r>
            <a:r>
              <a:rPr lang="en-US" altLang="zh-CN" dirty="0"/>
              <a:t>1</a:t>
            </a:r>
            <a:r>
              <a:rPr lang="zh-CN" altLang="en-US" dirty="0"/>
              <a:t>只</a:t>
            </a:r>
          </a:p>
          <a:p>
            <a:pPr lvl="2"/>
            <a:r>
              <a:rPr lang="en-US" altLang="zh-CN" dirty="0"/>
              <a:t>100Ω /1KW			1</a:t>
            </a:r>
            <a:r>
              <a:rPr lang="zh-CN" altLang="en-US" dirty="0"/>
              <a:t>只</a:t>
            </a:r>
          </a:p>
          <a:p>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实验任务</a:t>
            </a:r>
          </a:p>
        </p:txBody>
      </p:sp>
      <p:sp>
        <p:nvSpPr>
          <p:cNvPr id="3" name="内容占位符 2"/>
          <p:cNvSpPr>
            <a:spLocks noGrp="1"/>
          </p:cNvSpPr>
          <p:nvPr>
            <p:ph idx="1"/>
          </p:nvPr>
        </p:nvSpPr>
        <p:spPr>
          <a:xfrm>
            <a:off x="457200" y="1600200"/>
            <a:ext cx="8579296" cy="4525963"/>
          </a:xfrm>
        </p:spPr>
        <p:txBody>
          <a:bodyPr>
            <a:normAutofit lnSpcReduction="10000"/>
          </a:bodyPr>
          <a:lstStyle/>
          <a:p>
            <a:r>
              <a:rPr lang="zh-CN" altLang="en-US" sz="2800" dirty="0"/>
              <a:t>验证集成电路</a:t>
            </a:r>
            <a:r>
              <a:rPr lang="en-US" altLang="zh-CN" sz="2800" dirty="0"/>
              <a:t>74LS00“</a:t>
            </a:r>
            <a:r>
              <a:rPr lang="zh-CN" altLang="en-US" sz="2800" dirty="0"/>
              <a:t>与非”门的逻辑功能</a:t>
            </a:r>
            <a:endParaRPr lang="en-US" altLang="zh-CN" sz="2800" dirty="0"/>
          </a:p>
          <a:p>
            <a:endParaRPr lang="zh-CN" altLang="en-US" sz="2800" dirty="0"/>
          </a:p>
          <a:p>
            <a:r>
              <a:rPr lang="zh-CN" altLang="en-US" sz="2800" dirty="0"/>
              <a:t>验证集成电路</a:t>
            </a:r>
            <a:r>
              <a:rPr lang="en-US" altLang="zh-CN" sz="2800" dirty="0"/>
              <a:t>CD4001“</a:t>
            </a:r>
            <a:r>
              <a:rPr lang="zh-CN" altLang="en-US" sz="2800" dirty="0"/>
              <a:t>或非”门的逻辑功能</a:t>
            </a:r>
          </a:p>
          <a:p>
            <a:endParaRPr lang="en-US" altLang="zh-CN" sz="2800" dirty="0"/>
          </a:p>
          <a:p>
            <a:r>
              <a:rPr lang="zh-CN" altLang="en-US" sz="2800" dirty="0"/>
              <a:t>测量集成电路</a:t>
            </a:r>
            <a:r>
              <a:rPr lang="en-US" altLang="zh-CN" sz="2800" dirty="0"/>
              <a:t>74LS00</a:t>
            </a:r>
            <a:r>
              <a:rPr lang="zh-CN" altLang="en-US" sz="2800" dirty="0"/>
              <a:t>逻辑门的传输延迟时间</a:t>
            </a:r>
            <a:r>
              <a:rPr lang="en-US" altLang="zh-CN" sz="2800" dirty="0" err="1"/>
              <a:t>t</a:t>
            </a:r>
            <a:r>
              <a:rPr lang="en-US" altLang="zh-CN" sz="2800" baseline="-25000" dirty="0" err="1"/>
              <a:t>pd</a:t>
            </a:r>
            <a:endParaRPr lang="en-US" altLang="zh-CN" sz="2800" baseline="-25000" dirty="0"/>
          </a:p>
          <a:p>
            <a:endParaRPr lang="en-US" altLang="zh-CN" sz="2800" dirty="0"/>
          </a:p>
          <a:p>
            <a:r>
              <a:rPr lang="zh-CN" altLang="en-US" sz="2800" dirty="0"/>
              <a:t>测量集成电路</a:t>
            </a:r>
            <a:r>
              <a:rPr lang="en-US" altLang="zh-CN" sz="2800" dirty="0"/>
              <a:t>CD4001</a:t>
            </a:r>
            <a:r>
              <a:rPr lang="zh-CN" altLang="en-US" sz="2800" dirty="0"/>
              <a:t>逻辑门的传输延迟时间</a:t>
            </a:r>
            <a:r>
              <a:rPr lang="en-US" altLang="zh-CN" sz="2800" dirty="0" err="1"/>
              <a:t>t</a:t>
            </a:r>
            <a:r>
              <a:rPr lang="en-US" altLang="zh-CN" sz="2800" baseline="-25000" dirty="0" err="1"/>
              <a:t>pd</a:t>
            </a:r>
            <a:endParaRPr lang="en-US" altLang="zh-CN" sz="2800" baseline="-25000" dirty="0"/>
          </a:p>
          <a:p>
            <a:endParaRPr lang="en-US" altLang="zh-CN" sz="2600" dirty="0"/>
          </a:p>
          <a:p>
            <a:r>
              <a:rPr lang="zh-CN" altLang="en-US" sz="2600" dirty="0"/>
              <a:t>测量集成电路</a:t>
            </a:r>
            <a:r>
              <a:rPr lang="en-US" altLang="zh-CN" sz="2600" dirty="0"/>
              <a:t>74LS00</a:t>
            </a:r>
            <a:r>
              <a:rPr lang="zh-CN" altLang="en-US" sz="2600" dirty="0"/>
              <a:t>传输特性与开关门电平</a:t>
            </a:r>
            <a:r>
              <a:rPr lang="en-US" altLang="zh-CN" sz="2600" dirty="0"/>
              <a:t>V</a:t>
            </a:r>
            <a:r>
              <a:rPr lang="en-US" altLang="zh-CN" sz="2600" baseline="-25000" dirty="0"/>
              <a:t>ON</a:t>
            </a:r>
            <a:r>
              <a:rPr lang="zh-CN" altLang="en-US" sz="2600" dirty="0"/>
              <a:t>和</a:t>
            </a:r>
            <a:r>
              <a:rPr lang="en-US" altLang="zh-CN" sz="2600" dirty="0"/>
              <a:t>V</a:t>
            </a:r>
            <a:r>
              <a:rPr lang="en-US" altLang="zh-CN" sz="2600" baseline="-25000" dirty="0"/>
              <a:t>OFF</a:t>
            </a:r>
          </a:p>
          <a:p>
            <a:endParaRPr lang="zh-CN" altLang="en-US"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实验原理</a:t>
            </a:r>
          </a:p>
        </p:txBody>
      </p:sp>
      <p:sp>
        <p:nvSpPr>
          <p:cNvPr id="3" name="内容占位符 2"/>
          <p:cNvSpPr>
            <a:spLocks noGrp="1"/>
          </p:cNvSpPr>
          <p:nvPr>
            <p:ph idx="1"/>
          </p:nvPr>
        </p:nvSpPr>
        <p:spPr/>
        <p:txBody>
          <a:bodyPr/>
          <a:lstStyle/>
          <a:p>
            <a:r>
              <a:rPr lang="zh-CN" altLang="en-US" dirty="0">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数字集成电路的基本参数</a:t>
            </a:r>
            <a:endParaRPr lang="zh-CN" altLang="en-US" dirty="0"/>
          </a:p>
        </p:txBody>
      </p:sp>
      <p:sp>
        <p:nvSpPr>
          <p:cNvPr id="5" name="内容占位符 2"/>
          <p:cNvSpPr txBox="1"/>
          <p:nvPr/>
        </p:nvSpPr>
        <p:spPr>
          <a:xfrm>
            <a:off x="655320" y="2122805"/>
            <a:ext cx="6220936" cy="8165465"/>
          </a:xfrm>
          <a:prstGeom prst="rect">
            <a:avLst/>
          </a:prstGeom>
        </p:spPr>
        <p:txBody>
          <a:bodyPr numCol="2"/>
          <a:lstStyle/>
          <a:p>
            <a:pPr marL="514350" indent="-514350" fontAlgn="auto">
              <a:lnSpc>
                <a:spcPct val="150000"/>
              </a:lnSpc>
              <a:spcBef>
                <a:spcPct val="20000"/>
              </a:spcBef>
              <a:spcAft>
                <a:spcPts val="0"/>
              </a:spcAft>
              <a:buFont typeface="+mj-lt"/>
              <a:buAutoNum type="arabicPeriod"/>
              <a:defRPr/>
            </a:pPr>
            <a:r>
              <a:rPr lang="zh-CN" altLang="en-US" sz="2800" b="1" dirty="0">
                <a:effectLst>
                  <a:outerShdw blurRad="38100" dist="38100" dir="2700000" algn="tl">
                    <a:srgbClr val="000000">
                      <a:alpha val="43137"/>
                    </a:srgbClr>
                  </a:outerShdw>
                </a:effectLst>
                <a:latin typeface="Times New Roman" panose="02020603050405020304" pitchFamily="18" charset="0"/>
                <a:ea typeface="新宋体" panose="02010609030101010101" charset="-122"/>
              </a:rPr>
              <a:t>扇出系数 </a:t>
            </a:r>
            <a:r>
              <a:rPr lang="en-US" altLang="zh-CN" sz="2800" b="1" i="1" dirty="0">
                <a:effectLst>
                  <a:outerShdw blurRad="38100" dist="38100" dir="2700000" algn="tl">
                    <a:srgbClr val="000000">
                      <a:alpha val="43137"/>
                    </a:srgbClr>
                  </a:outerShdw>
                </a:effectLst>
                <a:latin typeface="Times New Roman" panose="02020603050405020304" pitchFamily="18" charset="0"/>
                <a:ea typeface="新宋体" panose="02010609030101010101" charset="-122"/>
              </a:rPr>
              <a:t>N</a:t>
            </a:r>
            <a:r>
              <a:rPr lang="en-US" altLang="zh-CN" sz="2800" b="1" i="1" baseline="-25000" dirty="0">
                <a:effectLst>
                  <a:outerShdw blurRad="38100" dist="38100" dir="2700000" algn="tl">
                    <a:srgbClr val="000000">
                      <a:alpha val="43137"/>
                    </a:srgbClr>
                  </a:outerShdw>
                </a:effectLst>
                <a:latin typeface="Times New Roman" panose="02020603050405020304" pitchFamily="18" charset="0"/>
                <a:ea typeface="新宋体" panose="02010609030101010101" charset="-122"/>
              </a:rPr>
              <a:t>o</a:t>
            </a:r>
          </a:p>
          <a:p>
            <a:pPr marL="514350" indent="-514350" fontAlgn="auto">
              <a:lnSpc>
                <a:spcPct val="150000"/>
              </a:lnSpc>
              <a:spcBef>
                <a:spcPct val="20000"/>
              </a:spcBef>
              <a:spcAft>
                <a:spcPts val="0"/>
              </a:spcAft>
              <a:buFont typeface="+mj-lt"/>
              <a:buAutoNum type="arabicPeriod"/>
              <a:defRPr/>
            </a:pPr>
            <a:r>
              <a:rPr lang="zh-CN" altLang="en-US" sz="2800" b="1" dirty="0">
                <a:effectLst>
                  <a:outerShdw blurRad="38100" dist="38100" dir="2700000" algn="tl">
                    <a:srgbClr val="000000">
                      <a:alpha val="43137"/>
                    </a:srgbClr>
                  </a:outerShdw>
                </a:effectLst>
                <a:latin typeface="Times New Roman" panose="02020603050405020304" pitchFamily="18" charset="0"/>
                <a:ea typeface="新宋体" panose="02010609030101010101" charset="-122"/>
              </a:rPr>
              <a:t>输出高电平 </a:t>
            </a:r>
            <a:r>
              <a:rPr lang="en-US" altLang="zh-CN" sz="2800" b="1" i="1" dirty="0" err="1">
                <a:effectLst>
                  <a:outerShdw blurRad="38100" dist="38100" dir="2700000" algn="tl">
                    <a:srgbClr val="000000">
                      <a:alpha val="43137"/>
                    </a:srgbClr>
                  </a:outerShdw>
                </a:effectLst>
                <a:latin typeface="Times New Roman" panose="02020603050405020304" pitchFamily="18" charset="0"/>
                <a:ea typeface="新宋体" panose="02010609030101010101" charset="-122"/>
              </a:rPr>
              <a:t>V</a:t>
            </a:r>
            <a:r>
              <a:rPr lang="en-US" altLang="zh-CN" sz="2800" b="1" i="1" baseline="-25000" dirty="0" err="1">
                <a:effectLst>
                  <a:outerShdw blurRad="38100" dist="38100" dir="2700000" algn="tl">
                    <a:srgbClr val="000000">
                      <a:alpha val="43137"/>
                    </a:srgbClr>
                  </a:outerShdw>
                </a:effectLst>
                <a:latin typeface="Times New Roman" panose="02020603050405020304" pitchFamily="18" charset="0"/>
                <a:ea typeface="新宋体" panose="02010609030101010101" charset="-122"/>
              </a:rPr>
              <a:t>oH</a:t>
            </a:r>
            <a:endParaRPr lang="en-US" altLang="zh-CN" sz="2800" b="1" i="1" baseline="-25000" dirty="0">
              <a:effectLst>
                <a:outerShdw blurRad="38100" dist="38100" dir="2700000" algn="tl">
                  <a:srgbClr val="000000">
                    <a:alpha val="43137"/>
                  </a:srgbClr>
                </a:outerShdw>
              </a:effectLst>
              <a:latin typeface="Times New Roman" panose="02020603050405020304" pitchFamily="18" charset="0"/>
              <a:ea typeface="新宋体" panose="02010609030101010101" charset="-122"/>
            </a:endParaRPr>
          </a:p>
          <a:p>
            <a:pPr marL="514350" indent="-514350" fontAlgn="auto">
              <a:lnSpc>
                <a:spcPct val="150000"/>
              </a:lnSpc>
              <a:spcBef>
                <a:spcPct val="20000"/>
              </a:spcBef>
              <a:spcAft>
                <a:spcPts val="0"/>
              </a:spcAft>
              <a:buFont typeface="+mj-lt"/>
              <a:buAutoNum type="arabicPeriod"/>
              <a:defRPr/>
            </a:pPr>
            <a:r>
              <a:rPr lang="zh-CN" altLang="en-US" sz="2800" b="1" dirty="0">
                <a:effectLst>
                  <a:outerShdw blurRad="38100" dist="38100" dir="2700000" algn="tl">
                    <a:srgbClr val="000000">
                      <a:alpha val="43137"/>
                    </a:srgbClr>
                  </a:outerShdw>
                </a:effectLst>
                <a:latin typeface="Times New Roman" panose="02020603050405020304" pitchFamily="18" charset="0"/>
                <a:ea typeface="新宋体" panose="02010609030101010101" charset="-122"/>
              </a:rPr>
              <a:t>输出低电平 </a:t>
            </a:r>
            <a:r>
              <a:rPr lang="en-US" altLang="zh-CN" sz="2800" b="1" i="1" dirty="0" err="1">
                <a:effectLst>
                  <a:outerShdw blurRad="38100" dist="38100" dir="2700000" algn="tl">
                    <a:srgbClr val="000000">
                      <a:alpha val="43137"/>
                    </a:srgbClr>
                  </a:outerShdw>
                </a:effectLst>
                <a:latin typeface="Times New Roman" panose="02020603050405020304" pitchFamily="18" charset="0"/>
                <a:ea typeface="新宋体" panose="02010609030101010101" charset="-122"/>
              </a:rPr>
              <a:t>V</a:t>
            </a:r>
            <a:r>
              <a:rPr lang="en-US" altLang="zh-CN" sz="2800" b="1" i="1" baseline="-25000" dirty="0" err="1">
                <a:effectLst>
                  <a:outerShdw blurRad="38100" dist="38100" dir="2700000" algn="tl">
                    <a:srgbClr val="000000">
                      <a:alpha val="43137"/>
                    </a:srgbClr>
                  </a:outerShdw>
                </a:effectLst>
                <a:latin typeface="Times New Roman" panose="02020603050405020304" pitchFamily="18" charset="0"/>
                <a:ea typeface="新宋体" panose="02010609030101010101" charset="-122"/>
              </a:rPr>
              <a:t>oL</a:t>
            </a:r>
            <a:endParaRPr lang="en-US" altLang="zh-CN" sz="2800" b="1" i="1" baseline="-25000" dirty="0">
              <a:effectLst>
                <a:outerShdw blurRad="38100" dist="38100" dir="2700000" algn="tl">
                  <a:srgbClr val="000000">
                    <a:alpha val="43137"/>
                  </a:srgbClr>
                </a:outerShdw>
              </a:effectLst>
              <a:latin typeface="Times New Roman" panose="02020603050405020304" pitchFamily="18" charset="0"/>
              <a:ea typeface="新宋体" panose="02010609030101010101" charset="-122"/>
            </a:endParaRPr>
          </a:p>
          <a:p>
            <a:pPr marL="514350" indent="-514350" fontAlgn="auto">
              <a:lnSpc>
                <a:spcPct val="150000"/>
              </a:lnSpc>
              <a:spcBef>
                <a:spcPct val="20000"/>
              </a:spcBef>
              <a:spcAft>
                <a:spcPts val="0"/>
              </a:spcAft>
              <a:buFont typeface="+mj-lt"/>
              <a:buAutoNum type="arabicPeriod"/>
              <a:defRPr/>
            </a:pPr>
            <a:r>
              <a:rPr lang="zh-CN" altLang="en-US" sz="2800" b="1" dirty="0">
                <a:effectLst>
                  <a:outerShdw blurRad="38100" dist="38100" dir="2700000" algn="tl">
                    <a:srgbClr val="000000">
                      <a:alpha val="43137"/>
                    </a:srgbClr>
                  </a:outerShdw>
                </a:effectLst>
                <a:latin typeface="Times New Roman" panose="02020603050405020304" pitchFamily="18" charset="0"/>
                <a:ea typeface="新宋体" panose="02010609030101010101" charset="-122"/>
              </a:rPr>
              <a:t>电压传输特性</a:t>
            </a:r>
            <a:endParaRPr lang="en-US" altLang="zh-CN" sz="2800" b="1" dirty="0">
              <a:effectLst>
                <a:outerShdw blurRad="38100" dist="38100" dir="2700000" algn="tl">
                  <a:srgbClr val="000000">
                    <a:alpha val="43137"/>
                  </a:srgbClr>
                </a:outerShdw>
              </a:effectLst>
              <a:latin typeface="Times New Roman" panose="02020603050405020304" pitchFamily="18" charset="0"/>
              <a:ea typeface="新宋体" panose="02010609030101010101" charset="-122"/>
            </a:endParaRPr>
          </a:p>
          <a:p>
            <a:pPr marL="514350" indent="-514350" fontAlgn="auto">
              <a:lnSpc>
                <a:spcPct val="150000"/>
              </a:lnSpc>
              <a:spcBef>
                <a:spcPct val="20000"/>
              </a:spcBef>
              <a:spcAft>
                <a:spcPts val="0"/>
              </a:spcAft>
              <a:buFont typeface="+mj-lt"/>
              <a:buAutoNum type="arabicPeriod"/>
              <a:defRPr/>
            </a:pPr>
            <a:r>
              <a:rPr lang="zh-CN" altLang="en-US" sz="2800" b="1" dirty="0">
                <a:effectLst>
                  <a:outerShdw blurRad="38100" dist="38100" dir="2700000" algn="tl">
                    <a:srgbClr val="000000">
                      <a:alpha val="43137"/>
                    </a:srgbClr>
                  </a:outerShdw>
                </a:effectLst>
                <a:latin typeface="Times New Roman" panose="02020603050405020304" pitchFamily="18" charset="0"/>
                <a:ea typeface="新宋体" panose="02010609030101010101" charset="-122"/>
              </a:rPr>
              <a:t>关门电平 </a:t>
            </a:r>
            <a:r>
              <a:rPr lang="en-US" altLang="zh-CN" sz="2800" b="1" i="1" dirty="0">
                <a:effectLst>
                  <a:outerShdw blurRad="38100" dist="38100" dir="2700000" algn="tl">
                    <a:srgbClr val="000000">
                      <a:alpha val="43137"/>
                    </a:srgbClr>
                  </a:outerShdw>
                </a:effectLst>
                <a:latin typeface="Times New Roman" panose="02020603050405020304" pitchFamily="18" charset="0"/>
                <a:ea typeface="新宋体" panose="02010609030101010101" charset="-122"/>
              </a:rPr>
              <a:t>V</a:t>
            </a:r>
            <a:r>
              <a:rPr lang="en-US" altLang="zh-CN" sz="2800" b="1" baseline="-25000" dirty="0">
                <a:effectLst>
                  <a:outerShdw blurRad="38100" dist="38100" dir="2700000" algn="tl">
                    <a:srgbClr val="000000">
                      <a:alpha val="43137"/>
                    </a:srgbClr>
                  </a:outerShdw>
                </a:effectLst>
                <a:latin typeface="Times New Roman" panose="02020603050405020304" pitchFamily="18" charset="0"/>
                <a:ea typeface="新宋体" panose="02010609030101010101" charset="-122"/>
              </a:rPr>
              <a:t>OFF</a:t>
            </a:r>
            <a:endParaRPr lang="zh-CN" altLang="en-US" sz="2800" b="1" baseline="-25000" dirty="0">
              <a:effectLst>
                <a:outerShdw blurRad="38100" dist="38100" dir="2700000" algn="tl">
                  <a:srgbClr val="000000">
                    <a:alpha val="43137"/>
                  </a:srgbClr>
                </a:outerShdw>
              </a:effectLst>
              <a:latin typeface="Times New Roman" panose="02020603050405020304" pitchFamily="18" charset="0"/>
              <a:ea typeface="新宋体" panose="02010609030101010101" charset="-122"/>
            </a:endParaRPr>
          </a:p>
          <a:p>
            <a:pPr marL="514350" indent="-514350" fontAlgn="auto">
              <a:lnSpc>
                <a:spcPct val="150000"/>
              </a:lnSpc>
              <a:spcBef>
                <a:spcPct val="20000"/>
              </a:spcBef>
              <a:spcAft>
                <a:spcPts val="0"/>
              </a:spcAft>
              <a:buFont typeface="+mj-lt"/>
              <a:buAutoNum type="arabicPeriod"/>
              <a:defRPr/>
            </a:pPr>
            <a:r>
              <a:rPr lang="zh-CN" altLang="en-US" sz="2800" b="1" dirty="0">
                <a:effectLst>
                  <a:outerShdw blurRad="38100" dist="38100" dir="2700000" algn="tl">
                    <a:srgbClr val="000000">
                      <a:alpha val="43137"/>
                    </a:srgbClr>
                  </a:outerShdw>
                </a:effectLst>
                <a:latin typeface="Times New Roman" panose="02020603050405020304" pitchFamily="18" charset="0"/>
                <a:ea typeface="新宋体" panose="02010609030101010101" charset="-122"/>
              </a:rPr>
              <a:t>开门电平 </a:t>
            </a:r>
            <a:r>
              <a:rPr lang="en-US" altLang="zh-CN" sz="2800" b="1" i="1" dirty="0">
                <a:effectLst>
                  <a:outerShdw blurRad="38100" dist="38100" dir="2700000" algn="tl">
                    <a:srgbClr val="000000">
                      <a:alpha val="43137"/>
                    </a:srgbClr>
                  </a:outerShdw>
                </a:effectLst>
                <a:latin typeface="Times New Roman" panose="02020603050405020304" pitchFamily="18" charset="0"/>
                <a:ea typeface="新宋体" panose="02010609030101010101" charset="-122"/>
              </a:rPr>
              <a:t>V</a:t>
            </a:r>
            <a:r>
              <a:rPr lang="en-US" altLang="zh-CN" sz="2800" b="1" baseline="-25000" dirty="0">
                <a:effectLst>
                  <a:outerShdw blurRad="38100" dist="38100" dir="2700000" algn="tl">
                    <a:srgbClr val="000000">
                      <a:alpha val="43137"/>
                    </a:srgbClr>
                  </a:outerShdw>
                </a:effectLst>
                <a:latin typeface="Times New Roman" panose="02020603050405020304" pitchFamily="18" charset="0"/>
                <a:ea typeface="新宋体" panose="02010609030101010101" charset="-122"/>
              </a:rPr>
              <a:t>ON</a:t>
            </a:r>
            <a:endParaRPr lang="en-US" altLang="zh-CN" sz="2800" b="1" dirty="0">
              <a:effectLst>
                <a:outerShdw blurRad="38100" dist="38100" dir="2700000" algn="tl">
                  <a:srgbClr val="000000">
                    <a:alpha val="43137"/>
                  </a:srgbClr>
                </a:outerShdw>
              </a:effectLst>
              <a:latin typeface="Times New Roman" panose="02020603050405020304" pitchFamily="18" charset="0"/>
              <a:ea typeface="新宋体" panose="02010609030101010101" charset="-122"/>
            </a:endParaRPr>
          </a:p>
          <a:p>
            <a:pPr marL="514350" indent="-514350" fontAlgn="auto">
              <a:lnSpc>
                <a:spcPct val="150000"/>
              </a:lnSpc>
              <a:spcBef>
                <a:spcPct val="20000"/>
              </a:spcBef>
              <a:spcAft>
                <a:spcPts val="0"/>
              </a:spcAft>
              <a:buFont typeface="+mj-lt"/>
              <a:buAutoNum type="arabicPeriod"/>
              <a:defRPr/>
            </a:pPr>
            <a:endParaRPr lang="en-US" altLang="zh-CN" sz="2800" b="1" baseline="-25000" dirty="0">
              <a:effectLst>
                <a:outerShdw blurRad="38100" dist="38100" dir="2700000" algn="tl">
                  <a:srgbClr val="000000">
                    <a:alpha val="43137"/>
                  </a:srgbClr>
                </a:outerShdw>
              </a:effectLst>
              <a:latin typeface="Times New Roman" panose="02020603050405020304" pitchFamily="18" charset="0"/>
              <a:ea typeface="新宋体" panose="02010609030101010101" charset="-122"/>
            </a:endParaRPr>
          </a:p>
        </p:txBody>
      </p:sp>
      <p:sp>
        <p:nvSpPr>
          <p:cNvPr id="4" name="文本框 3"/>
          <p:cNvSpPr txBox="1"/>
          <p:nvPr/>
        </p:nvSpPr>
        <p:spPr>
          <a:xfrm>
            <a:off x="4519930" y="1962785"/>
            <a:ext cx="4166870" cy="4676140"/>
          </a:xfrm>
          <a:prstGeom prst="rect">
            <a:avLst/>
          </a:prstGeom>
          <a:noFill/>
        </p:spPr>
        <p:txBody>
          <a:bodyPr wrap="square" rtlCol="0">
            <a:spAutoFit/>
          </a:bodyPr>
          <a:lstStyle/>
          <a:p>
            <a:pPr indent="0" fontAlgn="auto">
              <a:lnSpc>
                <a:spcPct val="150000"/>
              </a:lnSpc>
              <a:spcBef>
                <a:spcPct val="20000"/>
              </a:spcBef>
              <a:spcAft>
                <a:spcPts val="0"/>
              </a:spcAft>
              <a:buFont typeface="+mj-lt"/>
              <a:buNone/>
              <a:defRPr/>
            </a:pPr>
            <a:r>
              <a:rPr lang="en-US" altLang="zh-CN" sz="2800" b="1" dirty="0">
                <a:effectLst>
                  <a:outerShdw blurRad="38100" dist="38100" dir="2700000" algn="tl">
                    <a:srgbClr val="000000">
                      <a:alpha val="43137"/>
                    </a:srgbClr>
                  </a:outerShdw>
                </a:effectLst>
                <a:latin typeface="Times New Roman" panose="02020603050405020304" pitchFamily="18" charset="0"/>
                <a:ea typeface="新宋体" panose="02010609030101010101" charset="-122"/>
                <a:sym typeface="+mn-ea"/>
              </a:rPr>
              <a:t>7.</a:t>
            </a:r>
            <a:r>
              <a:rPr lang="zh-CN" altLang="en-US" sz="2800" b="1" dirty="0">
                <a:effectLst>
                  <a:outerShdw blurRad="38100" dist="38100" dir="2700000" algn="tl">
                    <a:srgbClr val="000000">
                      <a:alpha val="43137"/>
                    </a:srgbClr>
                  </a:outerShdw>
                </a:effectLst>
                <a:latin typeface="Times New Roman" panose="02020603050405020304" pitchFamily="18" charset="0"/>
                <a:ea typeface="新宋体" panose="02010609030101010101" charset="-122"/>
                <a:sym typeface="+mn-ea"/>
              </a:rPr>
              <a:t>噪音容限</a:t>
            </a:r>
            <a:endParaRPr lang="en-US" altLang="zh-CN" sz="2800" b="1" dirty="0">
              <a:effectLst>
                <a:outerShdw blurRad="38100" dist="38100" dir="2700000" algn="tl">
                  <a:srgbClr val="000000">
                    <a:alpha val="43137"/>
                  </a:srgbClr>
                </a:outerShdw>
              </a:effectLst>
              <a:latin typeface="Times New Roman" panose="02020603050405020304" pitchFamily="18" charset="0"/>
              <a:ea typeface="新宋体" panose="02010609030101010101" charset="-122"/>
            </a:endParaRPr>
          </a:p>
          <a:p>
            <a:pPr indent="0" fontAlgn="auto">
              <a:lnSpc>
                <a:spcPct val="150000"/>
              </a:lnSpc>
              <a:spcBef>
                <a:spcPct val="20000"/>
              </a:spcBef>
              <a:spcAft>
                <a:spcPts val="0"/>
              </a:spcAft>
              <a:buFont typeface="+mj-lt"/>
              <a:buNone/>
              <a:defRPr/>
            </a:pPr>
            <a:r>
              <a:rPr lang="en-US" altLang="zh-CN" sz="2800" b="1" dirty="0">
                <a:effectLst>
                  <a:outerShdw blurRad="38100" dist="38100" dir="2700000" algn="tl">
                    <a:srgbClr val="000000">
                      <a:alpha val="43137"/>
                    </a:srgbClr>
                  </a:outerShdw>
                </a:effectLst>
                <a:latin typeface="Times New Roman" panose="02020603050405020304" pitchFamily="18" charset="0"/>
                <a:ea typeface="新宋体" panose="02010609030101010101" charset="-122"/>
                <a:sym typeface="+mn-ea"/>
              </a:rPr>
              <a:t>8.</a:t>
            </a:r>
            <a:r>
              <a:rPr lang="zh-CN" altLang="en-US" sz="2800" b="1" dirty="0">
                <a:effectLst>
                  <a:outerShdw blurRad="38100" dist="38100" dir="2700000" algn="tl">
                    <a:srgbClr val="000000">
                      <a:alpha val="43137"/>
                    </a:srgbClr>
                  </a:outerShdw>
                </a:effectLst>
                <a:latin typeface="Times New Roman" panose="02020603050405020304" pitchFamily="18" charset="0"/>
                <a:ea typeface="新宋体" panose="02010609030101010101" charset="-122"/>
                <a:sym typeface="+mn-ea"/>
              </a:rPr>
              <a:t>平均传输延迟时间 </a:t>
            </a:r>
            <a:r>
              <a:rPr lang="en-US" altLang="zh-CN" sz="2800" b="1" i="1" dirty="0" err="1">
                <a:effectLst>
                  <a:outerShdw blurRad="38100" dist="38100" dir="2700000" algn="tl">
                    <a:srgbClr val="000000">
                      <a:alpha val="43137"/>
                    </a:srgbClr>
                  </a:outerShdw>
                </a:effectLst>
                <a:latin typeface="Times New Roman" panose="02020603050405020304" pitchFamily="18" charset="0"/>
                <a:ea typeface="新宋体" panose="02010609030101010101" charset="-122"/>
                <a:sym typeface="+mn-ea"/>
              </a:rPr>
              <a:t>t</a:t>
            </a:r>
            <a:r>
              <a:rPr lang="en-US" altLang="zh-CN" sz="2800" b="1" i="1" baseline="-25000" dirty="0" err="1">
                <a:effectLst>
                  <a:outerShdw blurRad="38100" dist="38100" dir="2700000" algn="tl">
                    <a:srgbClr val="000000">
                      <a:alpha val="43137"/>
                    </a:srgbClr>
                  </a:outerShdw>
                </a:effectLst>
                <a:latin typeface="Times New Roman" panose="02020603050405020304" pitchFamily="18" charset="0"/>
                <a:ea typeface="新宋体" panose="02010609030101010101" charset="-122"/>
                <a:sym typeface="+mn-ea"/>
              </a:rPr>
              <a:t>pd</a:t>
            </a:r>
            <a:endParaRPr lang="en-US" altLang="zh-CN" sz="2800" b="1" i="1" baseline="-25000" dirty="0">
              <a:effectLst>
                <a:outerShdw blurRad="38100" dist="38100" dir="2700000" algn="tl">
                  <a:srgbClr val="000000">
                    <a:alpha val="43137"/>
                  </a:srgbClr>
                </a:outerShdw>
              </a:effectLst>
              <a:latin typeface="Times New Roman" panose="02020603050405020304" pitchFamily="18" charset="0"/>
              <a:ea typeface="新宋体" panose="02010609030101010101" charset="-122"/>
            </a:endParaRPr>
          </a:p>
          <a:p>
            <a:pPr indent="0" fontAlgn="auto">
              <a:lnSpc>
                <a:spcPct val="150000"/>
              </a:lnSpc>
              <a:spcBef>
                <a:spcPct val="20000"/>
              </a:spcBef>
              <a:spcAft>
                <a:spcPts val="0"/>
              </a:spcAft>
              <a:buFont typeface="+mj-lt"/>
              <a:buNone/>
              <a:defRPr/>
            </a:pPr>
            <a:r>
              <a:rPr lang="en-US" altLang="zh-CN" sz="2800" b="1" dirty="0">
                <a:effectLst>
                  <a:outerShdw blurRad="38100" dist="38100" dir="2700000" algn="tl">
                    <a:srgbClr val="000000">
                      <a:alpha val="43137"/>
                    </a:srgbClr>
                  </a:outerShdw>
                </a:effectLst>
                <a:latin typeface="Times New Roman" panose="02020603050405020304" pitchFamily="18" charset="0"/>
                <a:ea typeface="新宋体" panose="02010609030101010101" charset="-122"/>
                <a:sym typeface="+mn-ea"/>
              </a:rPr>
              <a:t>9.</a:t>
            </a:r>
            <a:r>
              <a:rPr lang="zh-CN" altLang="en-US" sz="2800" b="1" dirty="0">
                <a:effectLst>
                  <a:outerShdw blurRad="38100" dist="38100" dir="2700000" algn="tl">
                    <a:srgbClr val="000000">
                      <a:alpha val="43137"/>
                    </a:srgbClr>
                  </a:outerShdw>
                </a:effectLst>
                <a:latin typeface="Times New Roman" panose="02020603050405020304" pitchFamily="18" charset="0"/>
                <a:ea typeface="新宋体" panose="02010609030101010101" charset="-122"/>
                <a:sym typeface="+mn-ea"/>
              </a:rPr>
              <a:t>低电平输入电流 </a:t>
            </a:r>
            <a:r>
              <a:rPr lang="en-US" altLang="zh-CN" sz="2800" b="1" i="1" dirty="0" err="1">
                <a:effectLst>
                  <a:outerShdw blurRad="38100" dist="38100" dir="2700000" algn="tl">
                    <a:srgbClr val="000000">
                      <a:alpha val="43137"/>
                    </a:srgbClr>
                  </a:outerShdw>
                </a:effectLst>
                <a:latin typeface="Times New Roman" panose="02020603050405020304" pitchFamily="18" charset="0"/>
                <a:ea typeface="新宋体" panose="02010609030101010101" charset="-122"/>
                <a:sym typeface="+mn-ea"/>
              </a:rPr>
              <a:t>I</a:t>
            </a:r>
            <a:r>
              <a:rPr lang="en-US" altLang="zh-CN" sz="2800" b="1" i="1" baseline="-25000" dirty="0" err="1">
                <a:effectLst>
                  <a:outerShdw blurRad="38100" dist="38100" dir="2700000" algn="tl">
                    <a:srgbClr val="000000">
                      <a:alpha val="43137"/>
                    </a:srgbClr>
                  </a:outerShdw>
                </a:effectLst>
                <a:latin typeface="Times New Roman" panose="02020603050405020304" pitchFamily="18" charset="0"/>
                <a:ea typeface="新宋体" panose="02010609030101010101" charset="-122"/>
                <a:sym typeface="+mn-ea"/>
              </a:rPr>
              <a:t>iL</a:t>
            </a:r>
            <a:endParaRPr lang="en-US" altLang="zh-CN" sz="2800" b="1" i="1" baseline="-25000" dirty="0">
              <a:effectLst>
                <a:outerShdw blurRad="38100" dist="38100" dir="2700000" algn="tl">
                  <a:srgbClr val="000000">
                    <a:alpha val="43137"/>
                  </a:srgbClr>
                </a:outerShdw>
              </a:effectLst>
              <a:latin typeface="Times New Roman" panose="02020603050405020304" pitchFamily="18" charset="0"/>
              <a:ea typeface="新宋体" panose="02010609030101010101" charset="-122"/>
            </a:endParaRPr>
          </a:p>
          <a:p>
            <a:pPr indent="0" fontAlgn="auto">
              <a:lnSpc>
                <a:spcPct val="150000"/>
              </a:lnSpc>
              <a:spcBef>
                <a:spcPct val="20000"/>
              </a:spcBef>
              <a:spcAft>
                <a:spcPts val="0"/>
              </a:spcAft>
              <a:buFont typeface="+mj-lt"/>
              <a:buNone/>
              <a:defRPr/>
            </a:pPr>
            <a:r>
              <a:rPr lang="en-US" altLang="zh-CN" sz="2800" b="1" dirty="0">
                <a:effectLst>
                  <a:outerShdw blurRad="38100" dist="38100" dir="2700000" algn="tl">
                    <a:srgbClr val="000000">
                      <a:alpha val="43137"/>
                    </a:srgbClr>
                  </a:outerShdw>
                </a:effectLst>
                <a:latin typeface="Times New Roman" panose="02020603050405020304" pitchFamily="18" charset="0"/>
                <a:ea typeface="新宋体" panose="02010609030101010101" charset="-122"/>
                <a:sym typeface="+mn-ea"/>
              </a:rPr>
              <a:t>10.</a:t>
            </a:r>
            <a:r>
              <a:rPr lang="zh-CN" altLang="en-US" sz="2800" b="1" dirty="0">
                <a:effectLst>
                  <a:outerShdw blurRad="38100" dist="38100" dir="2700000" algn="tl">
                    <a:srgbClr val="000000">
                      <a:alpha val="43137"/>
                    </a:srgbClr>
                  </a:outerShdw>
                </a:effectLst>
                <a:latin typeface="Times New Roman" panose="02020603050405020304" pitchFamily="18" charset="0"/>
                <a:ea typeface="新宋体" panose="02010609030101010101" charset="-122"/>
                <a:sym typeface="+mn-ea"/>
              </a:rPr>
              <a:t>高电平输入电流 </a:t>
            </a:r>
            <a:r>
              <a:rPr lang="en-US" altLang="zh-CN" sz="2800" b="1" i="1" dirty="0" err="1">
                <a:effectLst>
                  <a:outerShdw blurRad="38100" dist="38100" dir="2700000" algn="tl">
                    <a:srgbClr val="000000">
                      <a:alpha val="43137"/>
                    </a:srgbClr>
                  </a:outerShdw>
                </a:effectLst>
                <a:latin typeface="Times New Roman" panose="02020603050405020304" pitchFamily="18" charset="0"/>
                <a:ea typeface="新宋体" panose="02010609030101010101" charset="-122"/>
                <a:sym typeface="+mn-ea"/>
              </a:rPr>
              <a:t>I</a:t>
            </a:r>
            <a:r>
              <a:rPr lang="en-US" altLang="zh-CN" sz="2800" b="1" i="1" baseline="-25000" dirty="0" err="1">
                <a:effectLst>
                  <a:outerShdw blurRad="38100" dist="38100" dir="2700000" algn="tl">
                    <a:srgbClr val="000000">
                      <a:alpha val="43137"/>
                    </a:srgbClr>
                  </a:outerShdw>
                </a:effectLst>
                <a:latin typeface="Times New Roman" panose="02020603050405020304" pitchFamily="18" charset="0"/>
                <a:ea typeface="新宋体" panose="02010609030101010101" charset="-122"/>
                <a:sym typeface="+mn-ea"/>
              </a:rPr>
              <a:t>iH</a:t>
            </a:r>
            <a:endParaRPr lang="en-US" altLang="zh-CN" sz="2800" b="1" i="1" baseline="-25000" dirty="0">
              <a:effectLst>
                <a:outerShdw blurRad="38100" dist="38100" dir="2700000" algn="tl">
                  <a:srgbClr val="000000">
                    <a:alpha val="43137"/>
                  </a:srgbClr>
                </a:outerShdw>
              </a:effectLst>
              <a:latin typeface="Times New Roman" panose="02020603050405020304" pitchFamily="18" charset="0"/>
              <a:ea typeface="新宋体" panose="02010609030101010101" charset="-122"/>
            </a:endParaRPr>
          </a:p>
          <a:p>
            <a:pPr indent="0" fontAlgn="auto">
              <a:lnSpc>
                <a:spcPct val="150000"/>
              </a:lnSpc>
              <a:spcBef>
                <a:spcPct val="20000"/>
              </a:spcBef>
              <a:spcAft>
                <a:spcPts val="0"/>
              </a:spcAft>
              <a:buFont typeface="+mj-lt"/>
              <a:buNone/>
              <a:defRPr/>
            </a:pPr>
            <a:r>
              <a:rPr lang="en-US" altLang="zh-CN" sz="2800" b="1" dirty="0">
                <a:effectLst>
                  <a:outerShdw blurRad="38100" dist="38100" dir="2700000" algn="tl">
                    <a:srgbClr val="000000">
                      <a:alpha val="43137"/>
                    </a:srgbClr>
                  </a:outerShdw>
                </a:effectLst>
                <a:latin typeface="Times New Roman" panose="02020603050405020304" pitchFamily="18" charset="0"/>
                <a:ea typeface="新宋体" panose="02010609030101010101" charset="-122"/>
                <a:sym typeface="+mn-ea"/>
              </a:rPr>
              <a:t>11.</a:t>
            </a:r>
            <a:r>
              <a:rPr lang="zh-CN" altLang="en-US" sz="2800" b="1" dirty="0">
                <a:effectLst>
                  <a:outerShdw blurRad="38100" dist="38100" dir="2700000" algn="tl">
                    <a:srgbClr val="000000">
                      <a:alpha val="43137"/>
                    </a:srgbClr>
                  </a:outerShdw>
                </a:effectLst>
                <a:latin typeface="Times New Roman" panose="02020603050405020304" pitchFamily="18" charset="0"/>
                <a:ea typeface="新宋体" panose="02010609030101010101" charset="-122"/>
                <a:sym typeface="+mn-ea"/>
              </a:rPr>
              <a:t>空载导通功耗 </a:t>
            </a:r>
            <a:r>
              <a:rPr lang="en-US" altLang="zh-CN" sz="2800" b="1" i="1" dirty="0">
                <a:effectLst>
                  <a:outerShdw blurRad="38100" dist="38100" dir="2700000" algn="tl">
                    <a:srgbClr val="000000">
                      <a:alpha val="43137"/>
                    </a:srgbClr>
                  </a:outerShdw>
                </a:effectLst>
                <a:latin typeface="Times New Roman" panose="02020603050405020304" pitchFamily="18" charset="0"/>
                <a:ea typeface="新宋体" panose="02010609030101010101" charset="-122"/>
                <a:sym typeface="+mn-ea"/>
              </a:rPr>
              <a:t>P</a:t>
            </a:r>
            <a:r>
              <a:rPr lang="en-US" altLang="zh-CN" sz="2800" b="1" baseline="-25000" dirty="0">
                <a:effectLst>
                  <a:outerShdw blurRad="38100" dist="38100" dir="2700000" algn="tl">
                    <a:srgbClr val="000000">
                      <a:alpha val="43137"/>
                    </a:srgbClr>
                  </a:outerShdw>
                </a:effectLst>
                <a:latin typeface="Times New Roman" panose="02020603050405020304" pitchFamily="18" charset="0"/>
                <a:ea typeface="新宋体" panose="02010609030101010101" charset="-122"/>
                <a:sym typeface="+mn-ea"/>
              </a:rPr>
              <a:t>ON</a:t>
            </a:r>
            <a:endParaRPr lang="en-US" altLang="zh-CN" sz="2800" b="1" baseline="-25000" dirty="0">
              <a:effectLst>
                <a:outerShdw blurRad="38100" dist="38100" dir="2700000" algn="tl">
                  <a:srgbClr val="000000">
                    <a:alpha val="43137"/>
                  </a:srgbClr>
                </a:outerShdw>
              </a:effectLst>
              <a:latin typeface="Times New Roman" panose="02020603050405020304" pitchFamily="18" charset="0"/>
              <a:ea typeface="新宋体" panose="02010609030101010101" charset="-122"/>
            </a:endParaRPr>
          </a:p>
          <a:p>
            <a:pPr indent="0" fontAlgn="auto">
              <a:lnSpc>
                <a:spcPct val="150000"/>
              </a:lnSpc>
              <a:spcBef>
                <a:spcPct val="20000"/>
              </a:spcBef>
              <a:spcAft>
                <a:spcPts val="0"/>
              </a:spcAft>
              <a:buFont typeface="+mj-lt"/>
              <a:buNone/>
              <a:defRPr/>
            </a:pPr>
            <a:r>
              <a:rPr lang="en-US" altLang="zh-CN" sz="2800" b="1" dirty="0">
                <a:effectLst>
                  <a:outerShdw blurRad="38100" dist="38100" dir="2700000" algn="tl">
                    <a:srgbClr val="000000">
                      <a:alpha val="43137"/>
                    </a:srgbClr>
                  </a:outerShdw>
                </a:effectLst>
                <a:latin typeface="Times New Roman" panose="02020603050405020304" pitchFamily="18" charset="0"/>
                <a:ea typeface="新宋体" panose="02010609030101010101" charset="-122"/>
                <a:sym typeface="+mn-ea"/>
              </a:rPr>
              <a:t>12.</a:t>
            </a:r>
            <a:r>
              <a:rPr lang="zh-CN" altLang="en-US" sz="2800" b="1" dirty="0">
                <a:effectLst>
                  <a:outerShdw blurRad="38100" dist="38100" dir="2700000" algn="tl">
                    <a:srgbClr val="000000">
                      <a:alpha val="43137"/>
                    </a:srgbClr>
                  </a:outerShdw>
                </a:effectLst>
                <a:latin typeface="Times New Roman" panose="02020603050405020304" pitchFamily="18" charset="0"/>
                <a:ea typeface="新宋体" panose="02010609030101010101" charset="-122"/>
                <a:sym typeface="+mn-ea"/>
              </a:rPr>
              <a:t>空载截止功耗 </a:t>
            </a:r>
            <a:r>
              <a:rPr lang="en-US" altLang="zh-CN" sz="2800" b="1" i="1" dirty="0">
                <a:effectLst>
                  <a:outerShdw blurRad="38100" dist="38100" dir="2700000" algn="tl">
                    <a:srgbClr val="000000">
                      <a:alpha val="43137"/>
                    </a:srgbClr>
                  </a:outerShdw>
                </a:effectLst>
                <a:latin typeface="Times New Roman" panose="02020603050405020304" pitchFamily="18" charset="0"/>
                <a:ea typeface="新宋体" panose="02010609030101010101" charset="-122"/>
                <a:sym typeface="+mn-ea"/>
              </a:rPr>
              <a:t>P</a:t>
            </a:r>
            <a:r>
              <a:rPr lang="en-US" altLang="zh-CN" sz="2800" b="1" baseline="-25000" dirty="0">
                <a:effectLst>
                  <a:outerShdw blurRad="38100" dist="38100" dir="2700000" algn="tl">
                    <a:srgbClr val="000000">
                      <a:alpha val="43137"/>
                    </a:srgbClr>
                  </a:outerShdw>
                </a:effectLst>
                <a:latin typeface="Times New Roman" panose="02020603050405020304" pitchFamily="18" charset="0"/>
                <a:ea typeface="新宋体" panose="02010609030101010101" charset="-122"/>
                <a:sym typeface="+mn-ea"/>
              </a:rPr>
              <a:t>OFF</a:t>
            </a:r>
            <a:endParaRPr lang="en-US" altLang="zh-CN" sz="2800" b="1" baseline="-25000" dirty="0">
              <a:effectLst>
                <a:outerShdw blurRad="38100" dist="38100" dir="2700000" algn="tl">
                  <a:srgbClr val="000000">
                    <a:alpha val="43137"/>
                  </a:srgbClr>
                </a:outerShdw>
              </a:effectLst>
              <a:latin typeface="Times New Roman" panose="02020603050405020304" pitchFamily="18" charset="0"/>
              <a:ea typeface="新宋体" panose="02010609030101010101" charset="-122"/>
            </a:endParaRPr>
          </a:p>
          <a:p>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扇出系数（负载能力）</a:t>
            </a:r>
            <a:r>
              <a:rPr lang="en-US" altLang="zh-CN" i="1" dirty="0"/>
              <a:t>N</a:t>
            </a:r>
            <a:r>
              <a:rPr lang="en-US" altLang="zh-CN" i="1" baseline="-25000" dirty="0"/>
              <a:t>o</a:t>
            </a:r>
            <a:endParaRPr lang="zh-CN" altLang="en-US" dirty="0"/>
          </a:p>
        </p:txBody>
      </p:sp>
      <p:sp>
        <p:nvSpPr>
          <p:cNvPr id="4" name="内容占位符 4"/>
          <p:cNvSpPr>
            <a:spLocks noGrp="1"/>
          </p:cNvSpPr>
          <p:nvPr>
            <p:ph idx="1"/>
          </p:nvPr>
        </p:nvSpPr>
        <p:spPr>
          <a:xfrm>
            <a:off x="457200" y="1340485"/>
            <a:ext cx="8229600" cy="1825625"/>
          </a:xfrm>
        </p:spPr>
        <p:txBody>
          <a:bodyPr>
            <a:normAutofit fontScale="75000" lnSpcReduction="20000"/>
          </a:bodyPr>
          <a:lstStyle/>
          <a:p>
            <a:pPr eaLnBrk="1" fontAlgn="auto" hangingPunct="1">
              <a:spcAft>
                <a:spcPts val="0"/>
              </a:spcAft>
              <a:defRPr/>
            </a:pPr>
            <a:r>
              <a:rPr lang="zh-CN" altLang="en-US" dirty="0">
                <a:solidFill>
                  <a:srgbClr val="FF0000"/>
                </a:solidFill>
                <a:effectLst/>
                <a:latin typeface="楷体_GB2312" pitchFamily="49" charset="-122"/>
                <a:ea typeface="楷体_GB2312" pitchFamily="49" charset="-122"/>
              </a:rPr>
              <a:t>扇出系数</a:t>
            </a:r>
            <a:r>
              <a:rPr lang="zh-CN" altLang="en-US" dirty="0"/>
              <a:t>是数字逻辑器件用来衡量其输出负载能力的一个参数，表征器件的</a:t>
            </a:r>
            <a:r>
              <a:rPr lang="zh-CN" altLang="en-US" dirty="0">
                <a:latin typeface="楷体_GB2312" pitchFamily="49" charset="-122"/>
                <a:ea typeface="楷体_GB2312" pitchFamily="49" charset="-122"/>
              </a:rPr>
              <a:t>额定输出能力</a:t>
            </a:r>
            <a:r>
              <a:rPr lang="zh-CN" altLang="en-US" dirty="0"/>
              <a:t>。逻辑器件是二值量化器件，其输出负载能力可折算成驱动多少个</a:t>
            </a:r>
            <a:r>
              <a:rPr lang="zh-CN" altLang="en-US" dirty="0">
                <a:solidFill>
                  <a:srgbClr val="FF0000"/>
                </a:solidFill>
              </a:rPr>
              <a:t>同类型逻辑门的数目</a:t>
            </a:r>
            <a:r>
              <a:rPr lang="zh-CN" altLang="en-US" dirty="0"/>
              <a:t>。在额定输出电压范围内，器件</a:t>
            </a:r>
            <a:r>
              <a:rPr lang="zh-CN" altLang="en-US" dirty="0">
                <a:solidFill>
                  <a:srgbClr val="FF0000"/>
                </a:solidFill>
              </a:rPr>
              <a:t>能带动的同型号门的数目</a:t>
            </a:r>
            <a:r>
              <a:rPr lang="zh-CN" altLang="en-US" dirty="0"/>
              <a:t>称为</a:t>
            </a:r>
            <a:r>
              <a:rPr lang="zh-CN" altLang="en-US" sz="3100" dirty="0">
                <a:solidFill>
                  <a:srgbClr val="FF0000"/>
                </a:solidFill>
                <a:effectLst/>
                <a:latin typeface="楷体_GB2312" pitchFamily="49" charset="-122"/>
                <a:ea typeface="楷体_GB2312" pitchFamily="49" charset="-122"/>
              </a:rPr>
              <a:t>扇出系数</a:t>
            </a:r>
            <a:r>
              <a:rPr lang="zh-CN" altLang="en-US" dirty="0"/>
              <a:t>。一般产品规定要求 ≥8。</a:t>
            </a:r>
          </a:p>
        </p:txBody>
      </p:sp>
      <p:graphicFrame>
        <p:nvGraphicFramePr>
          <p:cNvPr id="5" name="电路图"/>
          <p:cNvGraphicFramePr>
            <a:graphicFrameLocks noChangeAspect="1"/>
          </p:cNvGraphicFramePr>
          <p:nvPr/>
        </p:nvGraphicFramePr>
        <p:xfrm>
          <a:off x="4343846" y="3339107"/>
          <a:ext cx="4692650" cy="2970213"/>
        </p:xfrm>
        <a:graphic>
          <a:graphicData uri="http://schemas.openxmlformats.org/presentationml/2006/ole">
            <mc:AlternateContent xmlns:mc="http://schemas.openxmlformats.org/markup-compatibility/2006">
              <mc:Choice xmlns:v="urn:schemas-microsoft-com:vml" Requires="v">
                <p:oleObj spid="_x0000_s5166" name="Visio" r:id="rId3" imgW="2858770" imgH="1809750" progId="">
                  <p:embed/>
                </p:oleObj>
              </mc:Choice>
              <mc:Fallback>
                <p:oleObj name="Visio" r:id="rId3" imgW="2858770" imgH="1809750" progId="">
                  <p:embed/>
                  <p:pic>
                    <p:nvPicPr>
                      <p:cNvPr id="0" name="图片 514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43846" y="3339107"/>
                        <a:ext cx="4692650" cy="297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内容占位符 4"/>
          <p:cNvSpPr txBox="1"/>
          <p:nvPr/>
        </p:nvSpPr>
        <p:spPr>
          <a:xfrm>
            <a:off x="457200" y="3310086"/>
            <a:ext cx="3900488" cy="3143250"/>
          </a:xfrm>
          <a:prstGeom prst="rect">
            <a:avLst/>
          </a:prstGeom>
        </p:spPr>
        <p:txBody>
          <a:bodyPr/>
          <a:lstStyle/>
          <a:p>
            <a:pPr marL="342900" indent="-342900" fontAlgn="auto">
              <a:lnSpc>
                <a:spcPct val="150000"/>
              </a:lnSpc>
              <a:spcBef>
                <a:spcPct val="20000"/>
              </a:spcBef>
              <a:spcAft>
                <a:spcPts val="0"/>
              </a:spcAft>
              <a:buFont typeface="Arial" panose="020B0604020202020204" pitchFamily="34" charset="0"/>
              <a:buChar char="•"/>
              <a:defRPr/>
            </a:pPr>
            <a:r>
              <a:rPr lang="en-US" altLang="zh-CN" sz="2200" b="1"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rPr>
              <a:t>74LS00</a:t>
            </a:r>
            <a:r>
              <a:rPr lang="zh-CN" altLang="en-US" sz="2200" b="1"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rPr>
              <a:t>与非门输入电路</a:t>
            </a:r>
          </a:p>
          <a:p>
            <a:pPr marL="717550" lvl="1" indent="-260350" fontAlgn="auto">
              <a:lnSpc>
                <a:spcPct val="150000"/>
              </a:lnSpc>
              <a:spcBef>
                <a:spcPct val="20000"/>
              </a:spcBef>
              <a:spcAft>
                <a:spcPts val="0"/>
              </a:spcAft>
              <a:buFont typeface="Arial" panose="020B0604020202020204" pitchFamily="34" charset="0"/>
              <a:buChar char="•"/>
              <a:defRPr/>
            </a:pPr>
            <a:r>
              <a:rPr lang="zh-CN" altLang="en-US" sz="2200" b="1"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rPr>
              <a:t>输入</a:t>
            </a:r>
            <a:r>
              <a:rPr lang="en-US" altLang="zh-CN" sz="2200" b="1" i="1"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rPr>
              <a:t>A</a:t>
            </a:r>
            <a:r>
              <a:rPr lang="zh-CN" altLang="en-US" sz="2200" b="1"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rPr>
              <a:t>和</a:t>
            </a:r>
            <a:r>
              <a:rPr lang="en-US" altLang="zh-CN" sz="2200" b="1" i="1"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rPr>
              <a:t>B</a:t>
            </a:r>
            <a:r>
              <a:rPr lang="zh-CN" altLang="en-US" sz="2200" b="1"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rPr>
              <a:t>为高电平时，</a:t>
            </a:r>
            <a:r>
              <a:rPr lang="en-US" altLang="zh-CN" sz="2200" b="1" i="1"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rPr>
              <a:t>T</a:t>
            </a:r>
            <a:r>
              <a:rPr lang="en-US" altLang="zh-CN" sz="2200" b="1" baseline="-25000"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rPr>
              <a:t>1</a:t>
            </a:r>
            <a:r>
              <a:rPr lang="zh-CN" altLang="en-US" sz="2200" b="1"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rPr>
              <a:t>截止，驱动电流很小</a:t>
            </a:r>
          </a:p>
          <a:p>
            <a:pPr marL="717550" lvl="1" indent="-260350" fontAlgn="auto">
              <a:lnSpc>
                <a:spcPct val="150000"/>
              </a:lnSpc>
              <a:spcBef>
                <a:spcPct val="20000"/>
              </a:spcBef>
              <a:spcAft>
                <a:spcPts val="0"/>
              </a:spcAft>
              <a:buFont typeface="Arial" panose="020B0604020202020204" pitchFamily="34" charset="0"/>
              <a:buChar char="•"/>
              <a:defRPr/>
            </a:pPr>
            <a:r>
              <a:rPr lang="zh-CN" altLang="en-US" sz="2200" b="1"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rPr>
              <a:t>输入</a:t>
            </a:r>
            <a:r>
              <a:rPr lang="en-US" altLang="zh-CN" sz="2200" b="1" i="1"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rPr>
              <a:t>A</a:t>
            </a:r>
            <a:r>
              <a:rPr lang="zh-CN" altLang="en-US" sz="2200" b="1"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rPr>
              <a:t>或</a:t>
            </a:r>
            <a:r>
              <a:rPr lang="en-US" altLang="zh-CN" sz="2200" b="1" i="1"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rPr>
              <a:t>B</a:t>
            </a:r>
            <a:r>
              <a:rPr lang="zh-CN" altLang="en-US" sz="2200" b="1"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rPr>
              <a:t>为低电平时，</a:t>
            </a:r>
            <a:r>
              <a:rPr lang="en-US" altLang="zh-CN" sz="2200" b="1" i="1"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rPr>
              <a:t>T</a:t>
            </a:r>
            <a:r>
              <a:rPr lang="en-US" altLang="zh-CN" sz="2200" b="1" baseline="-25000"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rPr>
              <a:t>1</a:t>
            </a:r>
            <a:r>
              <a:rPr lang="zh-CN" altLang="en-US" sz="2200" b="1"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rPr>
              <a:t>导通，驱动电流较大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74LS00</a:t>
            </a:r>
            <a:r>
              <a:rPr lang="zh-CN" altLang="en-US" dirty="0"/>
              <a:t>与非门扇出系数测量</a:t>
            </a:r>
          </a:p>
        </p:txBody>
      </p:sp>
      <p:sp>
        <p:nvSpPr>
          <p:cNvPr id="4" name="内容占位符 4"/>
          <p:cNvSpPr>
            <a:spLocks noGrp="1"/>
          </p:cNvSpPr>
          <p:nvPr>
            <p:ph idx="1"/>
          </p:nvPr>
        </p:nvSpPr>
        <p:spPr>
          <a:xfrm>
            <a:off x="457200" y="1291580"/>
            <a:ext cx="8229600" cy="2857500"/>
          </a:xfrm>
        </p:spPr>
        <p:txBody>
          <a:bodyPr>
            <a:normAutofit/>
          </a:bodyPr>
          <a:lstStyle/>
          <a:p>
            <a:pPr eaLnBrk="1" fontAlgn="auto" hangingPunct="1">
              <a:spcAft>
                <a:spcPts val="0"/>
              </a:spcAft>
              <a:defRPr/>
            </a:pPr>
            <a:r>
              <a:rPr lang="en-US" altLang="zh-CN" sz="2200" dirty="0"/>
              <a:t>TTL</a:t>
            </a:r>
            <a:r>
              <a:rPr lang="zh-CN" altLang="en-US" sz="2200" dirty="0"/>
              <a:t>的扇出驱动只要测量输出端为额定低电平时，输出端能吸收多少电流。一般在输出端电压达到最大允许值（</a:t>
            </a:r>
            <a:r>
              <a:rPr lang="zh-CN" altLang="en-US" sz="2200" dirty="0">
                <a:latin typeface="+mn-ea"/>
              </a:rPr>
              <a:t>≤</a:t>
            </a:r>
            <a:r>
              <a:rPr lang="zh-CN" altLang="en-US" sz="2200" dirty="0"/>
              <a:t> </a:t>
            </a:r>
            <a:r>
              <a:rPr lang="en-US" altLang="zh-CN" sz="2200" dirty="0"/>
              <a:t>0.4V</a:t>
            </a:r>
            <a:r>
              <a:rPr lang="zh-CN" altLang="en-US" sz="2200" dirty="0"/>
              <a:t>）时测量这个电流，它也称作</a:t>
            </a:r>
            <a:r>
              <a:rPr lang="zh-CN" altLang="en-US" sz="2200" dirty="0">
                <a:solidFill>
                  <a:srgbClr val="FF0000"/>
                </a:solidFill>
                <a:effectLst/>
                <a:latin typeface="楷体_GB2312" pitchFamily="49" charset="-122"/>
                <a:ea typeface="楷体_GB2312" pitchFamily="49" charset="-122"/>
              </a:rPr>
              <a:t>最大灌入电流 </a:t>
            </a:r>
            <a:r>
              <a:rPr lang="en-US" altLang="zh-CN" sz="2200" i="1" dirty="0" err="1"/>
              <a:t>I</a:t>
            </a:r>
            <a:r>
              <a:rPr lang="en-US" altLang="zh-CN" sz="2200" i="1" baseline="-25000" dirty="0" err="1"/>
              <a:t>oLmax</a:t>
            </a:r>
            <a:r>
              <a:rPr lang="zh-CN" altLang="en-US" sz="2200" dirty="0"/>
              <a:t>。将这个电流与</a:t>
            </a:r>
            <a:r>
              <a:rPr lang="zh-CN" altLang="en-US" sz="2200" dirty="0">
                <a:solidFill>
                  <a:srgbClr val="FF0000"/>
                </a:solidFill>
              </a:rPr>
              <a:t>低电平输入电流</a:t>
            </a:r>
            <a:r>
              <a:rPr lang="en-US" altLang="zh-CN" sz="2200" i="1" dirty="0" err="1">
                <a:solidFill>
                  <a:srgbClr val="FF0000"/>
                </a:solidFill>
              </a:rPr>
              <a:t>I</a:t>
            </a:r>
            <a:r>
              <a:rPr lang="en-US" altLang="zh-CN" sz="2200" i="1" baseline="-25000" dirty="0" err="1">
                <a:solidFill>
                  <a:srgbClr val="FF0000"/>
                </a:solidFill>
              </a:rPr>
              <a:t>iL</a:t>
            </a:r>
            <a:r>
              <a:rPr lang="en-US" altLang="zh-CN" sz="2200" i="1" dirty="0"/>
              <a:t> </a:t>
            </a:r>
            <a:r>
              <a:rPr lang="zh-CN" altLang="en-US" sz="2200" dirty="0"/>
              <a:t>相除即可获得</a:t>
            </a:r>
            <a:r>
              <a:rPr lang="en-US" altLang="zh-CN" sz="2200" dirty="0"/>
              <a:t>TTL</a:t>
            </a:r>
            <a:r>
              <a:rPr lang="zh-CN" altLang="en-US" sz="2200" dirty="0"/>
              <a:t>的 </a:t>
            </a:r>
            <a:r>
              <a:rPr lang="zh-CN" altLang="en-US" sz="2200" dirty="0">
                <a:solidFill>
                  <a:srgbClr val="FF0000"/>
                </a:solidFill>
                <a:effectLst/>
                <a:latin typeface="楷体_GB2312" pitchFamily="49" charset="-122"/>
                <a:ea typeface="楷体_GB2312" pitchFamily="49" charset="-122"/>
              </a:rPr>
              <a:t>扇出系数</a:t>
            </a:r>
          </a:p>
          <a:p>
            <a:pPr eaLnBrk="1" fontAlgn="auto" hangingPunct="1">
              <a:spcAft>
                <a:spcPts val="0"/>
              </a:spcAft>
              <a:defRPr/>
            </a:pPr>
            <a:r>
              <a:rPr lang="zh-CN" altLang="en-US" sz="2200" dirty="0">
                <a:solidFill>
                  <a:srgbClr val="FF0000"/>
                </a:solidFill>
                <a:effectLst/>
                <a:latin typeface="楷体_GB2312" pitchFamily="49" charset="-122"/>
                <a:ea typeface="楷体_GB2312" pitchFamily="49" charset="-122"/>
              </a:rPr>
              <a:t> </a:t>
            </a:r>
            <a:r>
              <a:rPr lang="en-US" altLang="zh-CN" sz="2400" i="1" dirty="0"/>
              <a:t>N</a:t>
            </a:r>
            <a:r>
              <a:rPr lang="en-US" altLang="zh-CN" sz="2400" i="1" baseline="-25000" dirty="0"/>
              <a:t>o </a:t>
            </a:r>
            <a:r>
              <a:rPr lang="en-US" altLang="zh-CN" sz="2400" dirty="0"/>
              <a:t>= </a:t>
            </a:r>
            <a:r>
              <a:rPr lang="en-US" altLang="zh-CN" sz="2400" i="1" dirty="0" err="1"/>
              <a:t>I</a:t>
            </a:r>
            <a:r>
              <a:rPr lang="en-US" altLang="zh-CN" sz="2400" i="1" baseline="-25000" dirty="0" err="1"/>
              <a:t>oL</a:t>
            </a:r>
            <a:r>
              <a:rPr lang="en-US" altLang="zh-CN" sz="2400" baseline="-25000" dirty="0" err="1"/>
              <a:t>max</a:t>
            </a:r>
            <a:r>
              <a:rPr lang="en-US" altLang="zh-CN" sz="2400" baseline="-25000" dirty="0"/>
              <a:t> </a:t>
            </a:r>
            <a:r>
              <a:rPr lang="en-US" altLang="zh-CN" sz="2400" dirty="0">
                <a:solidFill>
                  <a:prstClr val="black"/>
                </a:solidFill>
                <a:effectLst>
                  <a:outerShdw blurRad="50800" dist="38100" dir="2700000" algn="tl" rotWithShape="0">
                    <a:prstClr val="black">
                      <a:alpha val="40000"/>
                    </a:prstClr>
                  </a:outerShdw>
                </a:effectLst>
              </a:rPr>
              <a:t> ∕</a:t>
            </a:r>
            <a:r>
              <a:rPr lang="en-US" altLang="zh-CN" sz="2400" dirty="0"/>
              <a:t> </a:t>
            </a:r>
            <a:r>
              <a:rPr lang="en-US" altLang="zh-CN" sz="2400" i="1" dirty="0" err="1"/>
              <a:t>I</a:t>
            </a:r>
            <a:r>
              <a:rPr lang="en-US" altLang="zh-CN" sz="2400" i="1" baseline="-25000" dirty="0" err="1"/>
              <a:t>iL    </a:t>
            </a:r>
            <a:endParaRPr lang="en-US" altLang="zh-CN" sz="2400" i="1" baseline="-25000" dirty="0"/>
          </a:p>
        </p:txBody>
      </p:sp>
      <p:sp>
        <p:nvSpPr>
          <p:cNvPr id="6" name="矩形 5"/>
          <p:cNvSpPr/>
          <p:nvPr/>
        </p:nvSpPr>
        <p:spPr>
          <a:xfrm>
            <a:off x="539552" y="3156983"/>
            <a:ext cx="5572125" cy="3448957"/>
          </a:xfrm>
          <a:prstGeom prst="rect">
            <a:avLst/>
          </a:prstGeom>
        </p:spPr>
        <p:txBody>
          <a:bodyPr>
            <a:spAutoFit/>
          </a:bodyPr>
          <a:lstStyle/>
          <a:p>
            <a:pPr marL="342900" indent="-342900" fontAlgn="auto">
              <a:lnSpc>
                <a:spcPct val="150000"/>
              </a:lnSpc>
              <a:spcBef>
                <a:spcPct val="20000"/>
              </a:spcBef>
              <a:spcAft>
                <a:spcPts val="0"/>
              </a:spcAft>
              <a:buFont typeface="Arial" panose="020B0604020202020204" pitchFamily="34" charset="0"/>
              <a:buChar char="•"/>
              <a:defRPr/>
            </a:pPr>
            <a:r>
              <a:rPr lang="zh-CN" altLang="en-US" sz="2200" b="1"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最大灌电流</a:t>
            </a:r>
            <a:r>
              <a:rPr lang="en-US" altLang="zh-CN" sz="2200" b="1" i="1" dirty="0" err="1">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I</a:t>
            </a:r>
            <a:r>
              <a:rPr lang="en-US" altLang="zh-CN" sz="2200" b="1" i="1" baseline="-25000" dirty="0" err="1">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oL</a:t>
            </a:r>
            <a:r>
              <a:rPr lang="en-US" altLang="zh-CN" sz="2200" b="1" baseline="-25000" dirty="0" err="1">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max</a:t>
            </a:r>
            <a:r>
              <a:rPr lang="zh-CN" altLang="en-US" sz="2200" b="1"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测量：将输入端</a:t>
            </a:r>
            <a:r>
              <a:rPr lang="en-US" altLang="zh-CN" sz="2200" b="1" i="1"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A,B</a:t>
            </a:r>
            <a:r>
              <a:rPr lang="zh-CN" altLang="en-US" sz="2200" b="1"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悬空或接高电平，调节</a:t>
            </a:r>
            <a:r>
              <a:rPr lang="en-US" altLang="zh-CN" sz="2200" b="1" i="1"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W</a:t>
            </a:r>
            <a:r>
              <a:rPr lang="zh-CN" altLang="en-US" sz="2200" b="1"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使电压表读数为</a:t>
            </a:r>
            <a:r>
              <a:rPr lang="en-US" altLang="zh-CN" sz="2200" b="1" dirty="0">
                <a:solidFill>
                  <a:srgbClr val="FF0000"/>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0.4V</a:t>
            </a:r>
            <a:r>
              <a:rPr lang="zh-CN" altLang="en-US" sz="2200" b="1"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时，电流表上读数即是</a:t>
            </a:r>
            <a:r>
              <a:rPr lang="en-US" altLang="zh-CN" sz="2200" b="1" i="1" dirty="0" err="1">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I</a:t>
            </a:r>
            <a:r>
              <a:rPr lang="en-US" altLang="zh-CN" sz="2200" b="1" i="1" baseline="-25000" dirty="0" err="1">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oL</a:t>
            </a:r>
            <a:r>
              <a:rPr lang="en-US" altLang="zh-CN" sz="2200" b="1" baseline="-25000" dirty="0" err="1">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max</a:t>
            </a:r>
            <a:r>
              <a:rPr lang="zh-CN" altLang="en-US" sz="2200" b="1"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；也可通过公式 </a:t>
            </a:r>
            <a:r>
              <a:rPr lang="en-US" altLang="zh-CN" sz="2200" b="1" i="1" dirty="0" err="1">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I</a:t>
            </a:r>
            <a:r>
              <a:rPr lang="en-US" altLang="zh-CN" sz="2200" b="1" i="1" baseline="-25000" dirty="0" err="1">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oL</a:t>
            </a:r>
            <a:r>
              <a:rPr lang="en-US" altLang="zh-CN" sz="2200" b="1" baseline="-25000" dirty="0" err="1">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max</a:t>
            </a:r>
            <a:r>
              <a:rPr lang="en-US" altLang="zh-CN" sz="2200" b="1"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 = ( </a:t>
            </a:r>
            <a:r>
              <a:rPr lang="en-US" altLang="zh-CN" sz="2200" b="1" i="1"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V</a:t>
            </a:r>
            <a:r>
              <a:rPr lang="en-US" altLang="zh-CN" sz="2200" b="1" baseline="-25000"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CC </a:t>
            </a:r>
            <a:r>
              <a:rPr lang="en-US" altLang="zh-CN" sz="2200" b="1"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− 0.4 ) ∕ ( </a:t>
            </a:r>
            <a:r>
              <a:rPr lang="en-US" altLang="zh-CN" sz="2200" b="1" i="1"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R </a:t>
            </a:r>
            <a:r>
              <a:rPr lang="en-US" altLang="zh-CN" sz="2200" b="1"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 </a:t>
            </a:r>
            <a:r>
              <a:rPr lang="en-US" altLang="zh-CN" sz="2200" b="1" i="1"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R</a:t>
            </a:r>
            <a:r>
              <a:rPr lang="en-US" altLang="zh-CN" sz="2200" b="1" i="1" baseline="-25000"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W</a:t>
            </a:r>
            <a:r>
              <a:rPr lang="en-US" altLang="zh-CN" sz="2200" b="1" i="1"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 </a:t>
            </a:r>
            <a:r>
              <a:rPr lang="en-US" altLang="zh-CN" sz="2200" b="1"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 </a:t>
            </a:r>
            <a:r>
              <a:rPr lang="zh-CN" altLang="en-US" sz="2200" b="1"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计算</a:t>
            </a:r>
            <a:endParaRPr lang="en-US" altLang="zh-CN" sz="2200" b="1" baseline="-25000"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endParaRPr>
          </a:p>
          <a:p>
            <a:pPr marL="342900" indent="-342900" fontAlgn="auto">
              <a:lnSpc>
                <a:spcPct val="150000"/>
              </a:lnSpc>
              <a:spcBef>
                <a:spcPct val="20000"/>
              </a:spcBef>
              <a:spcAft>
                <a:spcPts val="0"/>
              </a:spcAft>
              <a:buFont typeface="Arial" panose="020B0604020202020204" pitchFamily="34" charset="0"/>
              <a:buChar char="•"/>
              <a:defRPr/>
            </a:pPr>
            <a:r>
              <a:rPr lang="zh-CN" altLang="en-US" sz="2200" b="1"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然后代入上面的公式计算扇出系数</a:t>
            </a:r>
            <a:r>
              <a:rPr lang="en-US" altLang="zh-CN" sz="2200" b="1" i="1"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N</a:t>
            </a:r>
            <a:r>
              <a:rPr lang="en-US" altLang="zh-CN" sz="2200" b="1" i="1" baseline="-25000"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o</a:t>
            </a:r>
          </a:p>
          <a:p>
            <a:pPr fontAlgn="auto">
              <a:lnSpc>
                <a:spcPct val="150000"/>
              </a:lnSpc>
              <a:spcBef>
                <a:spcPct val="20000"/>
              </a:spcBef>
              <a:spcAft>
                <a:spcPts val="0"/>
              </a:spcAft>
              <a:defRPr/>
            </a:pPr>
            <a:r>
              <a:rPr lang="zh-CN" altLang="en-US" sz="1600" dirty="0">
                <a:solidFill>
                  <a:srgbClr val="FF0000"/>
                </a:solidFill>
                <a:latin typeface="楷体_GB2312" pitchFamily="49" charset="-122"/>
                <a:ea typeface="楷体_GB2312" pitchFamily="49" charset="-122"/>
              </a:rPr>
              <a:t>最大灌入电流 </a:t>
            </a:r>
            <a:r>
              <a:rPr lang="en-US" altLang="zh-CN" sz="1600" i="1" dirty="0" err="1"/>
              <a:t>I</a:t>
            </a:r>
            <a:r>
              <a:rPr lang="en-US" altLang="zh-CN" sz="1600" i="1" baseline="-25000" dirty="0" err="1"/>
              <a:t>oLmax</a:t>
            </a:r>
            <a:r>
              <a:rPr lang="en-US" altLang="zh-CN" sz="1600" i="1" baseline="-25000" dirty="0"/>
              <a:t> :</a:t>
            </a:r>
            <a:r>
              <a:rPr lang="en-US" altLang="zh-CN" sz="2400" b="1" baseline="-25000" dirty="0">
                <a:solidFill>
                  <a:srgbClr val="FF0000"/>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F</a:t>
            </a:r>
            <a:r>
              <a:rPr lang="zh-CN" altLang="en-US" sz="2400" b="1" baseline="-25000" dirty="0">
                <a:solidFill>
                  <a:srgbClr val="FF0000"/>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输出低电位</a:t>
            </a:r>
            <a:r>
              <a:rPr lang="zh-CN" altLang="en-US" b="1" baseline="-25000" dirty="0">
                <a:solidFill>
                  <a:srgbClr val="FF0000"/>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a:t>
            </a:r>
            <a:r>
              <a:rPr lang="zh-CN" altLang="en-US" dirty="0">
                <a:solidFill>
                  <a:srgbClr val="FF0000"/>
                </a:solidFill>
                <a:latin typeface="+mn-ea"/>
              </a:rPr>
              <a:t> ≤</a:t>
            </a:r>
            <a:r>
              <a:rPr lang="zh-CN" altLang="en-US" dirty="0">
                <a:solidFill>
                  <a:srgbClr val="FF0000"/>
                </a:solidFill>
              </a:rPr>
              <a:t> </a:t>
            </a:r>
            <a:r>
              <a:rPr lang="en-US" altLang="zh-CN" dirty="0">
                <a:solidFill>
                  <a:srgbClr val="FF0000"/>
                </a:solidFill>
              </a:rPr>
              <a:t>0.4V</a:t>
            </a:r>
            <a:r>
              <a:rPr lang="zh-CN" altLang="en-US" dirty="0">
                <a:solidFill>
                  <a:srgbClr val="FF0000"/>
                </a:solidFill>
              </a:rPr>
              <a:t>时低电位临点</a:t>
            </a:r>
            <a:r>
              <a:rPr lang="en-US" altLang="zh-CN" dirty="0">
                <a:solidFill>
                  <a:srgbClr val="FF0000"/>
                </a:solidFill>
              </a:rPr>
              <a:t> </a:t>
            </a:r>
            <a:r>
              <a:rPr lang="zh-CN" altLang="en-US" b="1" baseline="-25000" dirty="0">
                <a:solidFill>
                  <a:srgbClr val="FF0000"/>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a:t>
            </a:r>
            <a:endParaRPr lang="en-US" altLang="zh-CN" b="1" baseline="-25000" dirty="0">
              <a:solidFill>
                <a:srgbClr val="FF0000"/>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endParaRPr>
          </a:p>
          <a:p>
            <a:pPr fontAlgn="auto">
              <a:lnSpc>
                <a:spcPct val="150000"/>
              </a:lnSpc>
              <a:spcBef>
                <a:spcPct val="20000"/>
              </a:spcBef>
              <a:spcAft>
                <a:spcPts val="0"/>
              </a:spcAft>
              <a:defRPr/>
            </a:pPr>
            <a:r>
              <a:rPr lang="en-US" altLang="zh-CN" b="1" baseline="-25000" dirty="0">
                <a:solidFill>
                  <a:srgbClr val="FF0000"/>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                    A,B</a:t>
            </a:r>
            <a:r>
              <a:rPr lang="zh-CN" altLang="en-US" b="1" baseline="-25000" dirty="0">
                <a:solidFill>
                  <a:srgbClr val="FF0000"/>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是高电位</a:t>
            </a:r>
            <a:endParaRPr lang="en-US" altLang="zh-CN" b="1" baseline="-25000" dirty="0">
              <a:solidFill>
                <a:srgbClr val="FF0000"/>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endParaRPr>
          </a:p>
        </p:txBody>
      </p:sp>
      <p:pic>
        <p:nvPicPr>
          <p:cNvPr id="6174" name="Picture 3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00750" y="2885123"/>
            <a:ext cx="3057525" cy="3762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低电平输入电流 </a:t>
            </a:r>
            <a:r>
              <a:rPr lang="en-US" altLang="zh-CN" i="1" dirty="0" err="1"/>
              <a:t>I</a:t>
            </a:r>
            <a:r>
              <a:rPr lang="en-US" altLang="zh-CN" i="1" baseline="-25000" dirty="0" err="1"/>
              <a:t>iL</a:t>
            </a:r>
            <a:endParaRPr lang="zh-CN" altLang="en-US" dirty="0"/>
          </a:p>
        </p:txBody>
      </p:sp>
      <p:sp>
        <p:nvSpPr>
          <p:cNvPr id="3" name="内容占位符 2"/>
          <p:cNvSpPr>
            <a:spLocks noGrp="1"/>
          </p:cNvSpPr>
          <p:nvPr>
            <p:ph idx="1"/>
          </p:nvPr>
        </p:nvSpPr>
        <p:spPr>
          <a:xfrm>
            <a:off x="457200" y="1340768"/>
            <a:ext cx="8229600" cy="4525963"/>
          </a:xfrm>
        </p:spPr>
        <p:txBody>
          <a:bodyPr>
            <a:normAutofit/>
          </a:bodyPr>
          <a:lstStyle/>
          <a:p>
            <a:pPr>
              <a:defRPr/>
            </a:pPr>
            <a:r>
              <a:rPr lang="zh-CN" altLang="en-US" sz="2800" dirty="0">
                <a:solidFill>
                  <a:srgbClr val="FF0000"/>
                </a:solidFill>
                <a:latin typeface="楷体_GB2312" pitchFamily="49" charset="-122"/>
                <a:ea typeface="楷体_GB2312" pitchFamily="49" charset="-122"/>
              </a:rPr>
              <a:t>低电平输入电流</a:t>
            </a:r>
            <a:r>
              <a:rPr lang="en-US" altLang="zh-CN" sz="2800" i="1" dirty="0" err="1"/>
              <a:t>I</a:t>
            </a:r>
            <a:r>
              <a:rPr lang="en-US" altLang="zh-CN" sz="2800" i="1" baseline="-25000" dirty="0" err="1"/>
              <a:t>iL</a:t>
            </a:r>
            <a:r>
              <a:rPr lang="zh-CN" altLang="en-US" sz="2800" dirty="0"/>
              <a:t>指输入端接地时流过此输入端的电流，也称为</a:t>
            </a:r>
            <a:r>
              <a:rPr lang="zh-CN" altLang="en-US" sz="2800" dirty="0">
                <a:solidFill>
                  <a:srgbClr val="FF0000"/>
                </a:solidFill>
                <a:latin typeface="楷体_GB2312" pitchFamily="49" charset="-122"/>
                <a:ea typeface="楷体_GB2312" pitchFamily="49" charset="-122"/>
              </a:rPr>
              <a:t>输入短路电流</a:t>
            </a:r>
            <a:r>
              <a:rPr lang="zh-CN" altLang="en-US" sz="2800" dirty="0"/>
              <a:t>，可衡量低电平输入电阻特性</a:t>
            </a:r>
            <a:endParaRPr lang="en-US" altLang="zh-CN" sz="2800" dirty="0"/>
          </a:p>
          <a:p>
            <a:pPr>
              <a:defRPr/>
            </a:pPr>
            <a:r>
              <a:rPr lang="zh-CN" altLang="en-US" sz="2800" dirty="0"/>
              <a:t>在</a:t>
            </a:r>
            <a:r>
              <a:rPr lang="en-US" altLang="zh-CN" sz="2800" dirty="0"/>
              <a:t>74LS00</a:t>
            </a:r>
            <a:r>
              <a:rPr lang="zh-CN" altLang="en-US" sz="2800" dirty="0"/>
              <a:t>中是指</a:t>
            </a:r>
            <a:r>
              <a:rPr lang="zh-CN" altLang="en-US" sz="2800" dirty="0">
                <a:solidFill>
                  <a:srgbClr val="FF0000"/>
                </a:solidFill>
              </a:rPr>
              <a:t>一</a:t>
            </a:r>
            <a:r>
              <a:rPr lang="zh-CN" altLang="en-US" sz="2800" dirty="0"/>
              <a:t>个输入</a:t>
            </a:r>
            <a:r>
              <a:rPr lang="zh-CN" altLang="en-US" sz="2800" dirty="0">
                <a:solidFill>
                  <a:srgbClr val="FF0000"/>
                </a:solidFill>
              </a:rPr>
              <a:t>端接地</a:t>
            </a:r>
            <a:r>
              <a:rPr lang="zh-CN" altLang="en-US" sz="2800" dirty="0"/>
              <a:t>，另</a:t>
            </a:r>
            <a:r>
              <a:rPr lang="zh-CN" altLang="en-US" sz="2800" dirty="0">
                <a:solidFill>
                  <a:srgbClr val="FF0000"/>
                </a:solidFill>
              </a:rPr>
              <a:t>一</a:t>
            </a:r>
            <a:r>
              <a:rPr lang="zh-CN" altLang="en-US" sz="2800" dirty="0"/>
              <a:t>个输入</a:t>
            </a:r>
            <a:r>
              <a:rPr lang="zh-CN" altLang="en-US" sz="2800" dirty="0">
                <a:solidFill>
                  <a:srgbClr val="FF0000"/>
                </a:solidFill>
              </a:rPr>
              <a:t>端悬空</a:t>
            </a:r>
            <a:r>
              <a:rPr lang="zh-CN" altLang="en-US" sz="2800" dirty="0"/>
              <a:t>时输入端流出的电流</a:t>
            </a:r>
          </a:p>
          <a:p>
            <a:endParaRPr lang="zh-CN" altLang="en-US" sz="2800" dirty="0"/>
          </a:p>
        </p:txBody>
      </p:sp>
      <p:graphicFrame>
        <p:nvGraphicFramePr>
          <p:cNvPr id="4" name="对象 3"/>
          <p:cNvGraphicFramePr>
            <a:graphicFrameLocks noChangeAspect="1"/>
          </p:cNvGraphicFramePr>
          <p:nvPr/>
        </p:nvGraphicFramePr>
        <p:xfrm>
          <a:off x="3244761" y="3652728"/>
          <a:ext cx="5441950" cy="3028950"/>
        </p:xfrm>
        <a:graphic>
          <a:graphicData uri="http://schemas.openxmlformats.org/presentationml/2006/ole">
            <mc:AlternateContent xmlns:mc="http://schemas.openxmlformats.org/markup-compatibility/2006">
              <mc:Choice xmlns:v="urn:schemas-microsoft-com:vml" Requires="v">
                <p:oleObj spid="_x0000_s12337" name="Visio" r:id="rId3" imgW="2940685" imgH="1640840" progId="Visio.Drawing.11">
                  <p:embed/>
                </p:oleObj>
              </mc:Choice>
              <mc:Fallback>
                <p:oleObj name="Visio" r:id="rId3" imgW="2940685" imgH="1640840" progId="Visio.Drawing.11">
                  <p:embed/>
                  <p:pic>
                    <p:nvPicPr>
                      <p:cNvPr id="0" name="电路图"/>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44761" y="3652728"/>
                        <a:ext cx="5441950" cy="302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对象 4"/>
          <p:cNvGraphicFramePr/>
          <p:nvPr/>
        </p:nvGraphicFramePr>
        <p:xfrm>
          <a:off x="594995" y="3978910"/>
          <a:ext cx="2649855" cy="2564130"/>
        </p:xfrm>
        <a:graphic>
          <a:graphicData uri="http://schemas.openxmlformats.org/presentationml/2006/ole">
            <mc:AlternateContent xmlns:mc="http://schemas.openxmlformats.org/markup-compatibility/2006">
              <mc:Choice xmlns:v="urn:schemas-microsoft-com:vml" Requires="v">
                <p:oleObj spid="_x0000_s12338" r:id="rId5" imgW="2647950" imgH="2562225" progId="Paint.Picture">
                  <p:embed/>
                </p:oleObj>
              </mc:Choice>
              <mc:Fallback>
                <p:oleObj r:id="rId5" imgW="2647950" imgH="2562225" progId="Paint.Picture">
                  <p:embed/>
                  <p:pic>
                    <p:nvPicPr>
                      <p:cNvPr id="0" name="图片 5"/>
                      <p:cNvPicPr/>
                      <p:nvPr/>
                    </p:nvPicPr>
                    <p:blipFill>
                      <a:blip r:embed="rId6"/>
                      <a:stretch>
                        <a:fillRect/>
                      </a:stretch>
                    </p:blipFill>
                    <p:spPr>
                      <a:xfrm>
                        <a:off x="594995" y="3978910"/>
                        <a:ext cx="2649855" cy="256413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常用逻辑电平标准</a:t>
            </a:r>
          </a:p>
        </p:txBody>
      </p:sp>
      <p:sp>
        <p:nvSpPr>
          <p:cNvPr id="3" name="内容占位符 2"/>
          <p:cNvSpPr>
            <a:spLocks noGrp="1"/>
          </p:cNvSpPr>
          <p:nvPr>
            <p:ph idx="1"/>
          </p:nvPr>
        </p:nvSpPr>
        <p:spPr/>
        <p:txBody>
          <a:bodyPr>
            <a:normAutofit/>
          </a:bodyPr>
          <a:lstStyle/>
          <a:p>
            <a:r>
              <a:rPr lang="zh-CN" altLang="en-US" sz="2800" dirty="0">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本课程使用的芯片电平主要是</a:t>
            </a:r>
            <a:r>
              <a:rPr lang="en-US" altLang="zh-CN" sz="2800" dirty="0">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TTL</a:t>
            </a:r>
            <a:r>
              <a:rPr lang="zh-CN" altLang="en-US" sz="2800" dirty="0">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和</a:t>
            </a:r>
            <a:r>
              <a:rPr lang="en-US" altLang="zh-CN" sz="2800" dirty="0">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COMS</a:t>
            </a:r>
            <a:endParaRPr lang="zh-CN" altLang="en-US" sz="2800" dirty="0">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endParaRPr>
          </a:p>
          <a:p>
            <a:endParaRPr lang="zh-CN" altLang="en-US" sz="2800" dirty="0"/>
          </a:p>
        </p:txBody>
      </p:sp>
      <p:graphicFrame>
        <p:nvGraphicFramePr>
          <p:cNvPr id="4" name="表格"/>
          <p:cNvGraphicFramePr>
            <a:graphicFrameLocks noGrp="1"/>
          </p:cNvGraphicFramePr>
          <p:nvPr/>
        </p:nvGraphicFramePr>
        <p:xfrm>
          <a:off x="428625" y="2308246"/>
          <a:ext cx="8215313" cy="3929066"/>
        </p:xfrm>
        <a:graphic>
          <a:graphicData uri="http://schemas.openxmlformats.org/drawingml/2006/table">
            <a:tbl>
              <a:tblPr firstRow="1" bandRow="1">
                <a:tableStyleId>{BC89EF96-8CEA-46FF-86C4-4CE0E7609802}</a:tableStyleId>
              </a:tblPr>
              <a:tblGrid>
                <a:gridCol w="1285873">
                  <a:extLst>
                    <a:ext uri="{9D8B030D-6E8A-4147-A177-3AD203B41FA5}">
                      <a16:colId xmlns:a16="http://schemas.microsoft.com/office/drawing/2014/main" val="20000"/>
                    </a:ext>
                  </a:extLst>
                </a:gridCol>
                <a:gridCol w="1204086">
                  <a:extLst>
                    <a:ext uri="{9D8B030D-6E8A-4147-A177-3AD203B41FA5}">
                      <a16:colId xmlns:a16="http://schemas.microsoft.com/office/drawing/2014/main" val="20001"/>
                    </a:ext>
                  </a:extLst>
                </a:gridCol>
                <a:gridCol w="1153352">
                  <a:extLst>
                    <a:ext uri="{9D8B030D-6E8A-4147-A177-3AD203B41FA5}">
                      <a16:colId xmlns:a16="http://schemas.microsoft.com/office/drawing/2014/main" val="20002"/>
                    </a:ext>
                  </a:extLst>
                </a:gridCol>
                <a:gridCol w="1030669">
                  <a:extLst>
                    <a:ext uri="{9D8B030D-6E8A-4147-A177-3AD203B41FA5}">
                      <a16:colId xmlns:a16="http://schemas.microsoft.com/office/drawing/2014/main" val="20003"/>
                    </a:ext>
                  </a:extLst>
                </a:gridCol>
                <a:gridCol w="1183894">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gridCol w="1214439">
                  <a:extLst>
                    <a:ext uri="{9D8B030D-6E8A-4147-A177-3AD203B41FA5}">
                      <a16:colId xmlns:a16="http://schemas.microsoft.com/office/drawing/2014/main" val="20006"/>
                    </a:ext>
                  </a:extLst>
                </a:gridCol>
              </a:tblGrid>
              <a:tr h="492815">
                <a:tc>
                  <a:txBody>
                    <a:bodyPr/>
                    <a:lstStyle/>
                    <a:p>
                      <a:pPr marL="0" algn="ctr" rtl="0" eaLnBrk="1" latinLnBrk="0" hangingPunct="1"/>
                      <a:r>
                        <a:rPr kumimoji="0" lang="zh-CN" altLang="en-US" sz="2000" b="1" kern="1200" dirty="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逻辑电平</a:t>
                      </a: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alpha val="20000"/>
                      </a:schemeClr>
                    </a:solidFill>
                  </a:tcPr>
                </a:tc>
                <a:tc>
                  <a:txBody>
                    <a:bodyPr/>
                    <a:lstStyle/>
                    <a:p>
                      <a:pPr marL="0" algn="ctr" rtl="0" eaLnBrk="1" latinLnBrk="0" hangingPunct="1"/>
                      <a:r>
                        <a:rPr kumimoji="0" lang="en-US" altLang="zh-CN" sz="2000" b="1" i="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V</a:t>
                      </a:r>
                      <a:r>
                        <a:rPr kumimoji="0" lang="en-US" altLang="zh-CN" sz="2000" b="1" i="1" kern="1200" baseline="-250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CC</a:t>
                      </a:r>
                      <a:r>
                        <a:rPr kumimoji="0" lang="en-US" altLang="zh-CN" sz="2000" b="1" i="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 / V</a:t>
                      </a:r>
                      <a:endParaRPr kumimoji="0" lang="zh-CN" altLang="en-US" sz="2000" b="1" i="1" kern="1200" baseline="-250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alpha val="20000"/>
                      </a:schemeClr>
                    </a:solidFill>
                  </a:tcPr>
                </a:tc>
                <a:tc>
                  <a:txBody>
                    <a:bodyPr/>
                    <a:lstStyle/>
                    <a:p>
                      <a:pPr marL="0" algn="ctr" rtl="0" eaLnBrk="1" latinLnBrk="0" hangingPunct="1"/>
                      <a:r>
                        <a:rPr kumimoji="0" lang="en-US" altLang="zh-CN" sz="2000" b="1" i="1" kern="1200" dirty="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V</a:t>
                      </a:r>
                      <a:r>
                        <a:rPr kumimoji="0" lang="en-US" altLang="zh-CN" sz="2000" b="1" i="1" kern="1200" baseline="-25000" dirty="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OH</a:t>
                      </a:r>
                      <a:r>
                        <a:rPr kumimoji="0" lang="en-US" altLang="zh-CN" sz="2000" b="1" i="1" kern="1200" dirty="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 / V</a:t>
                      </a:r>
                      <a:endParaRPr kumimoji="0" lang="zh-CN" altLang="en-US" sz="2000" b="1" i="1" kern="1200" baseline="-25000" dirty="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alpha val="20000"/>
                      </a:schemeClr>
                    </a:solidFill>
                  </a:tcPr>
                </a:tc>
                <a:tc>
                  <a:txBody>
                    <a:bodyPr/>
                    <a:lstStyle/>
                    <a:p>
                      <a:pPr marL="0" algn="ctr" rtl="0" eaLnBrk="1" latinLnBrk="0" hangingPunct="1"/>
                      <a:r>
                        <a:rPr kumimoji="0" lang="en-US" altLang="zh-CN" sz="2000" b="1" i="1" kern="1200" dirty="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V</a:t>
                      </a:r>
                      <a:r>
                        <a:rPr kumimoji="0" lang="en-US" altLang="zh-CN" sz="2000" b="1" i="1" kern="1200" baseline="-25000" dirty="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OL</a:t>
                      </a:r>
                      <a:r>
                        <a:rPr kumimoji="0" lang="en-US" altLang="zh-CN" sz="2000" b="1" i="1" kern="1200" dirty="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 / V</a:t>
                      </a:r>
                      <a:endParaRPr kumimoji="0" lang="zh-CN" altLang="en-US" sz="2000" b="1" i="1" kern="1200" baseline="-25000" dirty="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alpha val="20000"/>
                      </a:schemeClr>
                    </a:solidFill>
                  </a:tcPr>
                </a:tc>
                <a:tc>
                  <a:txBody>
                    <a:bodyPr/>
                    <a:lstStyle/>
                    <a:p>
                      <a:pPr marL="0" algn="ctr" rtl="0" eaLnBrk="1" latinLnBrk="0" hangingPunct="1"/>
                      <a:r>
                        <a:rPr kumimoji="0" lang="en-US" altLang="zh-CN" sz="2000" b="1" i="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V</a:t>
                      </a:r>
                      <a:r>
                        <a:rPr kumimoji="0" lang="en-US" altLang="zh-CN" sz="2000" b="1" i="1" kern="1200" baseline="-250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IH</a:t>
                      </a:r>
                      <a:r>
                        <a:rPr kumimoji="0" lang="en-US" altLang="zh-CN" sz="2000" b="1" i="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 / V</a:t>
                      </a:r>
                      <a:endParaRPr kumimoji="0" lang="zh-CN" altLang="en-US" sz="2000" b="1" i="1" kern="1200" baseline="-250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alpha val="20000"/>
                      </a:schemeClr>
                    </a:solidFill>
                  </a:tcPr>
                </a:tc>
                <a:tc>
                  <a:txBody>
                    <a:bodyPr/>
                    <a:lstStyle/>
                    <a:p>
                      <a:pPr marL="0" algn="ctr" rtl="0" eaLnBrk="1" latinLnBrk="0" hangingPunct="1"/>
                      <a:r>
                        <a:rPr kumimoji="0" lang="en-US" altLang="zh-CN" sz="2000" b="1" i="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V</a:t>
                      </a:r>
                      <a:r>
                        <a:rPr kumimoji="0" lang="en-US" altLang="zh-CN" sz="2000" b="1" i="1" kern="1200" baseline="-250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IL</a:t>
                      </a:r>
                      <a:r>
                        <a:rPr kumimoji="0" lang="en-US" altLang="zh-CN" sz="2000" b="1" i="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 / V</a:t>
                      </a:r>
                      <a:endParaRPr kumimoji="0" lang="zh-CN" altLang="en-US" sz="2000" b="1" i="1" kern="1200" baseline="-250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alpha val="20000"/>
                      </a:schemeClr>
                    </a:solidFill>
                  </a:tcPr>
                </a:tc>
                <a:tc>
                  <a:txBody>
                    <a:bodyPr/>
                    <a:lstStyle/>
                    <a:p>
                      <a:pPr marL="0" algn="ctr" rtl="0" eaLnBrk="1" latinLnBrk="0" hangingPunct="1"/>
                      <a:r>
                        <a:rPr kumimoji="0" lang="zh-CN" altLang="en-US" sz="2000" b="1" kern="1200" dirty="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说明</a:t>
                      </a: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alpha val="20000"/>
                      </a:schemeClr>
                    </a:solidFill>
                  </a:tcPr>
                </a:tc>
                <a:extLst>
                  <a:ext uri="{0D108BD9-81ED-4DB2-BD59-A6C34878D82A}">
                    <a16:rowId xmlns:a16="http://schemas.microsoft.com/office/drawing/2014/main" val="10000"/>
                  </a:ext>
                </a:extLst>
              </a:tr>
              <a:tr h="490893">
                <a:tc>
                  <a:txBody>
                    <a:bodyPr/>
                    <a:lstStyle/>
                    <a:p>
                      <a:pPr marL="0" algn="ctr" rtl="0" eaLnBrk="1" latinLnBrk="0" hangingPunct="1"/>
                      <a:r>
                        <a:rPr kumimoji="0" lang="en-US" altLang="zh-CN" sz="20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TTL</a:t>
                      </a:r>
                      <a:endParaRPr kumimoji="0" lang="zh-CN" altLang="en-US" sz="20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alpha val="20000"/>
                      </a:schemeClr>
                    </a:solidFill>
                  </a:tcPr>
                </a:tc>
                <a:tc>
                  <a:txBody>
                    <a:bodyPr/>
                    <a:lstStyle/>
                    <a:p>
                      <a:pPr marL="0" algn="ctr" rtl="0" eaLnBrk="1" latinLnBrk="0" hangingPunct="1"/>
                      <a:r>
                        <a:rPr kumimoji="0" lang="en-US" altLang="zh-CN"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5.0</a:t>
                      </a:r>
                      <a:endParaRPr kumimoji="0" lang="zh-CN" altLang="en-US"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rtl="0" eaLnBrk="1" latinLnBrk="0" hangingPunct="1"/>
                      <a:r>
                        <a:rPr kumimoji="0" lang="zh-CN" altLang="en-US" sz="2200" b="1" kern="1200" dirty="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 </a:t>
                      </a:r>
                      <a:r>
                        <a:rPr kumimoji="0" lang="en-US" altLang="zh-CN" sz="2200" b="1" kern="1200" dirty="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2.4</a:t>
                      </a:r>
                      <a:endParaRPr kumimoji="0" lang="zh-CN" altLang="en-US" sz="2200" b="1" kern="1200" dirty="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rtl="0" eaLnBrk="1" latinLnBrk="0" hangingPunct="1"/>
                      <a:r>
                        <a:rPr kumimoji="0" lang="zh-CN" altLang="en-US" sz="2200" b="1" kern="1200" dirty="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 </a:t>
                      </a:r>
                      <a:r>
                        <a:rPr kumimoji="0" lang="en-US" altLang="zh-CN" sz="2200" b="1" kern="1200" dirty="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0.4</a:t>
                      </a:r>
                      <a:endParaRPr kumimoji="0" lang="zh-CN" altLang="en-US" sz="2200" b="1" kern="1200" dirty="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rtl="0" eaLnBrk="1" latinLnBrk="0" hangingPunct="1"/>
                      <a:r>
                        <a:rPr kumimoji="0" lang="zh-CN" altLang="en-US"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 </a:t>
                      </a:r>
                      <a:r>
                        <a:rPr kumimoji="0" lang="en-US" altLang="zh-CN"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2.0</a:t>
                      </a:r>
                      <a:endParaRPr kumimoji="0" lang="zh-CN" altLang="en-US"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rtl="0" eaLnBrk="1" latinLnBrk="0" hangingPunct="1"/>
                      <a:r>
                        <a:rPr kumimoji="0" lang="zh-CN" altLang="en-US"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 </a:t>
                      </a:r>
                      <a:r>
                        <a:rPr kumimoji="0" lang="en-US" altLang="zh-CN"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0.8</a:t>
                      </a:r>
                      <a:endParaRPr kumimoji="0" lang="zh-CN" altLang="en-US"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marL="0" algn="ctr" rtl="0" eaLnBrk="1" latinLnBrk="0" hangingPunct="1"/>
                      <a:r>
                        <a:rPr kumimoji="0" lang="zh-CN" altLang="en-US" sz="20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输入脚悬空时默认为高电平</a:t>
                      </a: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9089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kumimoji="0" lang="en-US" altLang="zh-CN" sz="20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LVTTL</a:t>
                      </a:r>
                      <a:endParaRPr kumimoji="0" lang="zh-CN" altLang="en-US" sz="20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alpha val="20000"/>
                      </a:schemeClr>
                    </a:solidFill>
                  </a:tcPr>
                </a:tc>
                <a:tc>
                  <a:txBody>
                    <a:bodyPr/>
                    <a:lstStyle/>
                    <a:p>
                      <a:pPr marL="0" algn="ctr" rtl="0" eaLnBrk="1" latinLnBrk="0" hangingPunct="1"/>
                      <a:r>
                        <a:rPr kumimoji="0" lang="en-US" altLang="zh-CN"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3.3</a:t>
                      </a:r>
                      <a:endParaRPr kumimoji="0" lang="zh-CN" altLang="en-US"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latinLnBrk="0" hangingPunct="1"/>
                      <a:r>
                        <a:rPr kumimoji="0" lang="zh-CN" altLang="en-US"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 </a:t>
                      </a:r>
                      <a:r>
                        <a:rPr kumimoji="0" lang="en-US" altLang="zh-CN"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2.4</a:t>
                      </a:r>
                      <a:endParaRPr kumimoji="0" lang="zh-CN" altLang="en-US"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latinLnBrk="0" hangingPunct="1"/>
                      <a:r>
                        <a:rPr kumimoji="0" lang="zh-CN" altLang="en-US"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 </a:t>
                      </a:r>
                      <a:r>
                        <a:rPr kumimoji="0" lang="en-US" altLang="zh-CN"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0.4</a:t>
                      </a:r>
                      <a:endParaRPr kumimoji="0" lang="zh-CN" altLang="en-US"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latinLnBrk="0" hangingPunct="1"/>
                      <a:r>
                        <a:rPr kumimoji="0" lang="zh-CN" altLang="en-US"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 </a:t>
                      </a:r>
                      <a:r>
                        <a:rPr kumimoji="0" lang="en-US" altLang="zh-CN"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2.0</a:t>
                      </a:r>
                      <a:endParaRPr kumimoji="0" lang="zh-CN" altLang="en-US"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latinLnBrk="0" hangingPunct="1"/>
                      <a:r>
                        <a:rPr kumimoji="0" lang="zh-CN" altLang="en-US"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 </a:t>
                      </a:r>
                      <a:r>
                        <a:rPr kumimoji="0" lang="en-US" altLang="zh-CN"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0.8</a:t>
                      </a:r>
                      <a:endParaRPr kumimoji="0" lang="zh-CN" altLang="en-US"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zh-CN"/>
                    </a:p>
                  </a:txBody>
                  <a:tcPr anchor="ctr"/>
                </a:tc>
                <a:extLst>
                  <a:ext uri="{0D108BD9-81ED-4DB2-BD59-A6C34878D82A}">
                    <a16:rowId xmlns:a16="http://schemas.microsoft.com/office/drawing/2014/main" val="10002"/>
                  </a:ext>
                </a:extLst>
              </a:tr>
              <a:tr h="49089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kumimoji="0" lang="en-US" altLang="zh-CN" sz="20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LVTTL</a:t>
                      </a:r>
                      <a:endParaRPr kumimoji="0" lang="zh-CN" altLang="en-US" sz="20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alpha val="20000"/>
                      </a:schemeClr>
                    </a:solidFill>
                  </a:tcPr>
                </a:tc>
                <a:tc>
                  <a:txBody>
                    <a:bodyPr/>
                    <a:lstStyle/>
                    <a:p>
                      <a:pPr marL="0" algn="ctr" rtl="0" eaLnBrk="1" latinLnBrk="0" hangingPunct="1"/>
                      <a:r>
                        <a:rPr kumimoji="0" lang="en-US" altLang="zh-CN"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2.5</a:t>
                      </a:r>
                      <a:endParaRPr kumimoji="0" lang="zh-CN" altLang="en-US"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rtl="0" eaLnBrk="1" latinLnBrk="0" hangingPunct="1"/>
                      <a:r>
                        <a:rPr kumimoji="0" lang="zh-CN" altLang="en-US"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 </a:t>
                      </a:r>
                      <a:r>
                        <a:rPr kumimoji="0" lang="en-US" altLang="zh-CN"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2.0</a:t>
                      </a:r>
                      <a:endParaRPr kumimoji="0" lang="zh-CN" altLang="en-US"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rtl="0" eaLnBrk="1" latinLnBrk="0" hangingPunct="1"/>
                      <a:r>
                        <a:rPr kumimoji="0" lang="zh-CN" altLang="en-US"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 </a:t>
                      </a:r>
                      <a:r>
                        <a:rPr kumimoji="0" lang="en-US" altLang="zh-CN"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0.2</a:t>
                      </a:r>
                      <a:endParaRPr kumimoji="0" lang="zh-CN" altLang="en-US"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rtl="0" eaLnBrk="1" latinLnBrk="0" hangingPunct="1"/>
                      <a:r>
                        <a:rPr kumimoji="0" lang="zh-CN" altLang="en-US"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 </a:t>
                      </a:r>
                      <a:r>
                        <a:rPr kumimoji="0" lang="en-US" altLang="zh-CN"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1.7</a:t>
                      </a:r>
                      <a:endParaRPr kumimoji="0" lang="zh-CN" altLang="en-US"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rtl="0" eaLnBrk="1" latinLnBrk="0" hangingPunct="1"/>
                      <a:r>
                        <a:rPr kumimoji="0" lang="zh-CN" altLang="en-US"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 </a:t>
                      </a:r>
                      <a:r>
                        <a:rPr kumimoji="0" lang="en-US" altLang="zh-CN"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0.7</a:t>
                      </a:r>
                      <a:endParaRPr kumimoji="0" lang="zh-CN" altLang="en-US"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p>
                  </a:txBody>
                  <a:tcPr anchor="ctr">
                    <a:noFill/>
                  </a:tcPr>
                </a:tc>
                <a:extLst>
                  <a:ext uri="{0D108BD9-81ED-4DB2-BD59-A6C34878D82A}">
                    <a16:rowId xmlns:a16="http://schemas.microsoft.com/office/drawing/2014/main" val="10003"/>
                  </a:ext>
                </a:extLst>
              </a:tr>
              <a:tr h="49089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kumimoji="0" lang="en-US" altLang="zh-CN" sz="2000" b="1" kern="1200" dirty="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CMOS</a:t>
                      </a:r>
                      <a:endParaRPr kumimoji="0" lang="zh-CN" altLang="en-US" sz="2000" b="1" kern="1200" dirty="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alpha val="20000"/>
                      </a:schemeClr>
                    </a:solidFill>
                  </a:tcPr>
                </a:tc>
                <a:tc>
                  <a:txBody>
                    <a:bodyPr/>
                    <a:lstStyle/>
                    <a:p>
                      <a:pPr marL="0" algn="ctr" rtl="0" eaLnBrk="1" latinLnBrk="0" hangingPunct="1"/>
                      <a:r>
                        <a:rPr kumimoji="0" lang="en-US" altLang="zh-CN"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5.0</a:t>
                      </a:r>
                      <a:endParaRPr kumimoji="0" lang="zh-CN" altLang="en-US"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rtl="0" eaLnBrk="1" latinLnBrk="0" hangingPunct="1"/>
                      <a:r>
                        <a:rPr kumimoji="0" lang="zh-CN" altLang="en-US"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 </a:t>
                      </a:r>
                      <a:r>
                        <a:rPr kumimoji="0" lang="en-US" altLang="zh-CN"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4.45</a:t>
                      </a:r>
                      <a:endParaRPr kumimoji="0" lang="zh-CN" altLang="en-US"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rtl="0" eaLnBrk="1" latinLnBrk="0" hangingPunct="1"/>
                      <a:r>
                        <a:rPr kumimoji="0" lang="zh-CN" altLang="en-US"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 </a:t>
                      </a:r>
                      <a:r>
                        <a:rPr kumimoji="0" lang="en-US" altLang="zh-CN"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0.5</a:t>
                      </a:r>
                      <a:endParaRPr kumimoji="0" lang="zh-CN" altLang="en-US"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rtl="0" eaLnBrk="1" latinLnBrk="0" hangingPunct="1"/>
                      <a:r>
                        <a:rPr kumimoji="0" lang="zh-CN" altLang="en-US"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 </a:t>
                      </a:r>
                      <a:r>
                        <a:rPr kumimoji="0" lang="en-US" altLang="zh-CN"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3.5</a:t>
                      </a:r>
                      <a:endParaRPr kumimoji="0" lang="zh-CN" altLang="en-US"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rtl="0" eaLnBrk="1" latinLnBrk="0" hangingPunct="1"/>
                      <a:r>
                        <a:rPr kumimoji="0" lang="zh-CN" altLang="en-US" sz="2200" b="1" kern="1200" dirty="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 </a:t>
                      </a:r>
                      <a:r>
                        <a:rPr kumimoji="0" lang="en-US" altLang="zh-CN" sz="2200" b="1" kern="1200" dirty="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1.5</a:t>
                      </a:r>
                      <a:endParaRPr kumimoji="0" lang="zh-CN" altLang="en-US" sz="2200" b="1" kern="1200" dirty="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marL="0" algn="ctr" rtl="0" eaLnBrk="1" latinLnBrk="0" hangingPunct="1"/>
                      <a:r>
                        <a:rPr lang="zh-CN" altLang="en-US" sz="2000" b="1" dirty="0">
                          <a:effectLst>
                            <a:outerShdw blurRad="38100" dist="38100" dir="2700000" algn="tl">
                              <a:srgbClr val="000000">
                                <a:alpha val="43137"/>
                              </a:srgbClr>
                            </a:outerShdw>
                          </a:effectLst>
                        </a:rPr>
                        <a:t>输入阻抗非常之大</a:t>
                      </a:r>
                      <a:endParaRPr kumimoji="0" lang="zh-CN" altLang="en-US" sz="2000" b="1" kern="1200" dirty="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49089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kumimoji="0" lang="en-US" altLang="zh-CN" sz="2000" b="1" kern="1200" dirty="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LVCMOS</a:t>
                      </a:r>
                      <a:endParaRPr kumimoji="0" lang="zh-CN" altLang="en-US" sz="2000" b="1" kern="1200" dirty="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alpha val="20000"/>
                      </a:schemeClr>
                    </a:solidFill>
                  </a:tcPr>
                </a:tc>
                <a:tc>
                  <a:txBody>
                    <a:bodyPr/>
                    <a:lstStyle/>
                    <a:p>
                      <a:pPr marL="0" algn="ctr" rtl="0" eaLnBrk="1" latinLnBrk="0" hangingPunct="1"/>
                      <a:r>
                        <a:rPr kumimoji="0" lang="en-US" altLang="zh-CN"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3.3</a:t>
                      </a:r>
                      <a:endParaRPr kumimoji="0" lang="zh-CN" altLang="en-US"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rtl="0" eaLnBrk="1" latinLnBrk="0" hangingPunct="1"/>
                      <a:r>
                        <a:rPr kumimoji="0" lang="zh-CN" altLang="en-US"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 </a:t>
                      </a:r>
                      <a:r>
                        <a:rPr kumimoji="0" lang="en-US" altLang="zh-CN"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3.2</a:t>
                      </a:r>
                      <a:endParaRPr kumimoji="0" lang="zh-CN" altLang="en-US"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rtl="0" eaLnBrk="1" latinLnBrk="0" hangingPunct="1"/>
                      <a:r>
                        <a:rPr kumimoji="0" lang="zh-CN" altLang="en-US"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 </a:t>
                      </a:r>
                      <a:r>
                        <a:rPr kumimoji="0" lang="en-US" altLang="zh-CN"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0.1</a:t>
                      </a:r>
                      <a:endParaRPr kumimoji="0" lang="zh-CN" altLang="en-US"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rtl="0" eaLnBrk="1" latinLnBrk="0" hangingPunct="1"/>
                      <a:r>
                        <a:rPr kumimoji="0" lang="zh-CN" altLang="en-US"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 </a:t>
                      </a:r>
                      <a:r>
                        <a:rPr kumimoji="0" lang="en-US" altLang="zh-CN"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2.0V</a:t>
                      </a:r>
                      <a:endParaRPr kumimoji="0" lang="zh-CN" altLang="en-US"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rtl="0" eaLnBrk="1" latinLnBrk="0" hangingPunct="1"/>
                      <a:r>
                        <a:rPr kumimoji="0" lang="zh-CN" altLang="en-US"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 </a:t>
                      </a:r>
                      <a:r>
                        <a:rPr kumimoji="0" lang="en-US" altLang="zh-CN"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0.7</a:t>
                      </a:r>
                      <a:endParaRPr kumimoji="0" lang="zh-CN" altLang="en-US"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p>
                  </a:txBody>
                  <a:tcPr anchor="ctr">
                    <a:noFill/>
                  </a:tcPr>
                </a:tc>
                <a:extLst>
                  <a:ext uri="{0D108BD9-81ED-4DB2-BD59-A6C34878D82A}">
                    <a16:rowId xmlns:a16="http://schemas.microsoft.com/office/drawing/2014/main" val="10005"/>
                  </a:ext>
                </a:extLst>
              </a:tr>
              <a:tr h="49089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kumimoji="0" lang="en-US" altLang="zh-CN" sz="2000" b="1" kern="1200" baseline="0" dirty="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LVCM</a:t>
                      </a:r>
                      <a:r>
                        <a:rPr kumimoji="0" lang="en-US" altLang="zh-CN" sz="2000" b="1" kern="1200" dirty="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O</a:t>
                      </a:r>
                      <a:r>
                        <a:rPr kumimoji="0" lang="en-US" altLang="zh-CN" sz="2000" b="1" kern="1200" baseline="0" dirty="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S</a:t>
                      </a:r>
                      <a:endParaRPr kumimoji="0" lang="zh-CN" altLang="en-US" sz="2000" b="1" kern="1200" dirty="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alpha val="20000"/>
                      </a:schemeClr>
                    </a:solidFill>
                  </a:tcPr>
                </a:tc>
                <a:tc>
                  <a:txBody>
                    <a:bodyPr/>
                    <a:lstStyle/>
                    <a:p>
                      <a:pPr marL="0" algn="ctr" rtl="0" eaLnBrk="1" latinLnBrk="0" hangingPunct="1"/>
                      <a:r>
                        <a:rPr kumimoji="0" lang="en-US" altLang="zh-CN"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2.5</a:t>
                      </a:r>
                      <a:endParaRPr kumimoji="0" lang="zh-CN" altLang="en-US"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rtl="0" eaLnBrk="1" latinLnBrk="0" hangingPunct="1"/>
                      <a:r>
                        <a:rPr kumimoji="0" lang="zh-CN" altLang="en-US"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 </a:t>
                      </a:r>
                      <a:r>
                        <a:rPr kumimoji="0" lang="en-US" altLang="zh-CN"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2.0</a:t>
                      </a:r>
                      <a:endParaRPr kumimoji="0" lang="zh-CN" altLang="en-US"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rtl="0" eaLnBrk="1" latinLnBrk="0" hangingPunct="1"/>
                      <a:r>
                        <a:rPr kumimoji="0" lang="zh-CN" altLang="en-US"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 </a:t>
                      </a:r>
                      <a:r>
                        <a:rPr kumimoji="0" lang="en-US" altLang="zh-CN"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0.1</a:t>
                      </a:r>
                      <a:endParaRPr kumimoji="0" lang="zh-CN" altLang="en-US"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rtl="0" eaLnBrk="1" latinLnBrk="0" hangingPunct="1"/>
                      <a:r>
                        <a:rPr kumimoji="0" lang="zh-CN" altLang="en-US"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 </a:t>
                      </a:r>
                      <a:r>
                        <a:rPr kumimoji="0" lang="en-US" altLang="zh-CN"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1.7</a:t>
                      </a:r>
                      <a:endParaRPr kumimoji="0" lang="zh-CN" altLang="en-US"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rtl="0" eaLnBrk="1" latinLnBrk="0" hangingPunct="1"/>
                      <a:r>
                        <a:rPr kumimoji="0" lang="zh-CN" altLang="en-US"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 </a:t>
                      </a:r>
                      <a:r>
                        <a:rPr kumimoji="0" lang="en-US" altLang="zh-CN"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0.7</a:t>
                      </a:r>
                      <a:endParaRPr kumimoji="0" lang="zh-CN" altLang="en-US" sz="22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p>
                  </a:txBody>
                  <a:tcPr anchor="ctr">
                    <a:noFill/>
                  </a:tcPr>
                </a:tc>
                <a:extLst>
                  <a:ext uri="{0D108BD9-81ED-4DB2-BD59-A6C34878D82A}">
                    <a16:rowId xmlns:a16="http://schemas.microsoft.com/office/drawing/2014/main" val="10006"/>
                  </a:ext>
                </a:extLst>
              </a:tr>
              <a:tr h="490893">
                <a:tc>
                  <a:txBody>
                    <a:bodyPr/>
                    <a:lstStyle/>
                    <a:p>
                      <a:pPr marL="0" algn="ctr" rtl="0" eaLnBrk="1" latinLnBrk="0" hangingPunct="1"/>
                      <a:r>
                        <a:rPr kumimoji="0" lang="en-US" altLang="zh-CN" sz="2000" b="1" kern="1200" dirty="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RS232</a:t>
                      </a:r>
                      <a:endParaRPr kumimoji="0" lang="zh-CN" altLang="en-US" sz="2000" b="1" kern="1200" dirty="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alpha val="20000"/>
                      </a:schemeClr>
                    </a:solidFill>
                  </a:tcPr>
                </a:tc>
                <a:tc>
                  <a:txBody>
                    <a:bodyPr/>
                    <a:lstStyle/>
                    <a:p>
                      <a:pPr marL="0" algn="ctr" rtl="0" eaLnBrk="1" latinLnBrk="0" hangingPunct="1"/>
                      <a:r>
                        <a:rPr kumimoji="0" lang="en-US" altLang="zh-CN" sz="20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±12~15</a:t>
                      </a:r>
                      <a:endParaRPr kumimoji="0" lang="zh-CN" altLang="en-US" sz="20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rtl="0" eaLnBrk="1" latinLnBrk="0" hangingPunct="1"/>
                      <a:r>
                        <a:rPr kumimoji="0" lang="en-US" altLang="zh-CN" sz="2000" b="1" kern="1200">
                          <a:solidFill>
                            <a:schemeClr val="tx1"/>
                          </a:solidFill>
                          <a:effectLst>
                            <a:outerShdw blurRad="38100" dist="38100" dir="2700000" algn="tl">
                              <a:srgbClr val="000000">
                                <a:alpha val="43137"/>
                              </a:srgbClr>
                            </a:outerShdw>
                          </a:effectLst>
                          <a:latin typeface="Times New Roman" panose="02020603050405020304"/>
                          <a:ea typeface="新宋体" panose="02010609030101010101" charset="-122"/>
                          <a:cs typeface="Times New Roman" panose="02020603050405020304"/>
                        </a:rPr>
                        <a:t>−</a:t>
                      </a:r>
                      <a:r>
                        <a:rPr kumimoji="0" lang="en-US" altLang="zh-CN" sz="20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3 ~ </a:t>
                      </a:r>
                      <a:r>
                        <a:rPr kumimoji="0" lang="en-US" altLang="zh-CN" sz="2000" b="1" kern="1200">
                          <a:solidFill>
                            <a:schemeClr val="tx1"/>
                          </a:solidFill>
                          <a:effectLst>
                            <a:outerShdw blurRad="38100" dist="38100" dir="2700000" algn="tl">
                              <a:srgbClr val="000000">
                                <a:alpha val="43137"/>
                              </a:srgbClr>
                            </a:outerShdw>
                          </a:effectLst>
                          <a:latin typeface="Times New Roman" panose="02020603050405020304"/>
                          <a:ea typeface="新宋体" panose="02010609030101010101" charset="-122"/>
                          <a:cs typeface="Times New Roman" panose="02020603050405020304"/>
                        </a:rPr>
                        <a:t>−</a:t>
                      </a:r>
                      <a:r>
                        <a:rPr kumimoji="0" lang="en-US" altLang="zh-CN" sz="20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15</a:t>
                      </a:r>
                      <a:endParaRPr kumimoji="0" lang="zh-CN" altLang="en-US" sz="20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rtl="0" eaLnBrk="1" latinLnBrk="0" hangingPunct="1"/>
                      <a:r>
                        <a:rPr kumimoji="0" lang="en-US" altLang="zh-CN" sz="20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3 ~ 15</a:t>
                      </a:r>
                      <a:endParaRPr kumimoji="0" lang="zh-CN" altLang="en-US" sz="20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rtl="0" eaLnBrk="1" latinLnBrk="0" hangingPunct="1"/>
                      <a:r>
                        <a:rPr kumimoji="0" lang="en-US" altLang="zh-CN" sz="2000" b="1" kern="1200">
                          <a:solidFill>
                            <a:schemeClr val="tx1"/>
                          </a:solidFill>
                          <a:effectLst>
                            <a:outerShdw blurRad="38100" dist="38100" dir="2700000" algn="tl">
                              <a:srgbClr val="000000">
                                <a:alpha val="43137"/>
                              </a:srgbClr>
                            </a:outerShdw>
                          </a:effectLst>
                          <a:latin typeface="Times New Roman" panose="02020603050405020304"/>
                          <a:ea typeface="新宋体" panose="02010609030101010101" charset="-122"/>
                          <a:cs typeface="Times New Roman" panose="02020603050405020304"/>
                        </a:rPr>
                        <a:t>−</a:t>
                      </a:r>
                      <a:r>
                        <a:rPr kumimoji="0" lang="en-US" altLang="zh-CN" sz="20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3 ~ </a:t>
                      </a:r>
                      <a:r>
                        <a:rPr kumimoji="0" lang="en-US" altLang="zh-CN" sz="2000" b="1" kern="1200">
                          <a:solidFill>
                            <a:schemeClr val="tx1"/>
                          </a:solidFill>
                          <a:effectLst>
                            <a:outerShdw blurRad="38100" dist="38100" dir="2700000" algn="tl">
                              <a:srgbClr val="000000">
                                <a:alpha val="43137"/>
                              </a:srgbClr>
                            </a:outerShdw>
                          </a:effectLst>
                          <a:latin typeface="Times New Roman" panose="02020603050405020304"/>
                          <a:ea typeface="新宋体" panose="02010609030101010101" charset="-122"/>
                          <a:cs typeface="Times New Roman" panose="02020603050405020304"/>
                        </a:rPr>
                        <a:t>−</a:t>
                      </a:r>
                      <a:r>
                        <a:rPr kumimoji="0" lang="en-US" altLang="zh-CN" sz="20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15</a:t>
                      </a:r>
                      <a:endParaRPr kumimoji="0" lang="zh-CN" altLang="en-US" sz="20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rtl="0" eaLnBrk="1" latinLnBrk="0" hangingPunct="1"/>
                      <a:r>
                        <a:rPr kumimoji="0" lang="en-US" altLang="zh-CN" sz="20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rPr>
                        <a:t>3 ~ 15</a:t>
                      </a:r>
                      <a:endParaRPr kumimoji="0" lang="zh-CN" altLang="en-US" sz="2000" b="1" kern="1200">
                        <a:solidFill>
                          <a:schemeClr val="tx1"/>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rtl="0" eaLnBrk="1" latinLnBrk="0" hangingPunct="1"/>
                      <a:r>
                        <a:rPr lang="zh-CN" altLang="en-US" sz="2000" b="1" dirty="0">
                          <a:effectLst>
                            <a:outerShdw blurRad="38100" dist="38100" dir="2700000" algn="tl">
                              <a:srgbClr val="000000">
                                <a:alpha val="43137"/>
                              </a:srgbClr>
                            </a:outerShdw>
                          </a:effectLst>
                        </a:rPr>
                        <a:t>负逻辑</a:t>
                      </a: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输出高电平</a:t>
            </a:r>
            <a:r>
              <a:rPr lang="en-US" altLang="zh-CN" i="1" dirty="0" err="1"/>
              <a:t>V</a:t>
            </a:r>
            <a:r>
              <a:rPr lang="en-US" altLang="zh-CN" i="1" baseline="-25000" dirty="0" err="1"/>
              <a:t>oH</a:t>
            </a:r>
            <a:endParaRPr lang="zh-CN" altLang="en-US" dirty="0"/>
          </a:p>
        </p:txBody>
      </p:sp>
      <p:sp>
        <p:nvSpPr>
          <p:cNvPr id="3" name="内容占位符 2"/>
          <p:cNvSpPr>
            <a:spLocks noGrp="1"/>
          </p:cNvSpPr>
          <p:nvPr>
            <p:ph idx="1"/>
          </p:nvPr>
        </p:nvSpPr>
        <p:spPr/>
        <p:txBody>
          <a:bodyPr>
            <a:normAutofit/>
          </a:bodyPr>
          <a:lstStyle/>
          <a:p>
            <a:pPr>
              <a:defRPr/>
            </a:pPr>
            <a:r>
              <a:rPr lang="zh-CN" altLang="en-US" sz="2800" dirty="0">
                <a:solidFill>
                  <a:srgbClr val="FF0000"/>
                </a:solidFill>
                <a:latin typeface="楷体_GB2312" pitchFamily="49" charset="-122"/>
                <a:ea typeface="楷体_GB2312" pitchFamily="49" charset="-122"/>
              </a:rPr>
              <a:t>输出高电平</a:t>
            </a:r>
            <a:r>
              <a:rPr lang="en-US" altLang="zh-CN" sz="2800" i="1" dirty="0" err="1"/>
              <a:t>V</a:t>
            </a:r>
            <a:r>
              <a:rPr lang="en-US" altLang="zh-CN" sz="2800" i="1" baseline="-25000" dirty="0" err="1"/>
              <a:t>oH</a:t>
            </a:r>
            <a:r>
              <a:rPr lang="zh-CN" altLang="en-US" sz="2800" dirty="0"/>
              <a:t>是指当输出端为</a:t>
            </a:r>
            <a:r>
              <a:rPr lang="zh-CN" altLang="en-US" sz="2800" dirty="0">
                <a:solidFill>
                  <a:srgbClr val="FF0000"/>
                </a:solidFill>
              </a:rPr>
              <a:t>高电平时的电压</a:t>
            </a:r>
            <a:r>
              <a:rPr lang="zh-CN" altLang="en-US" sz="2800" dirty="0"/>
              <a:t>，一般</a:t>
            </a:r>
            <a:r>
              <a:rPr lang="zh-CN" altLang="en-US" sz="2800" dirty="0">
                <a:latin typeface="+mn-ea"/>
              </a:rPr>
              <a:t>大于</a:t>
            </a:r>
            <a:r>
              <a:rPr lang="en-US" altLang="zh-CN" sz="2800" dirty="0"/>
              <a:t>2.4V</a:t>
            </a:r>
            <a:r>
              <a:rPr lang="zh-CN" altLang="en-US" sz="2800" dirty="0"/>
              <a:t>，它可衡量输出端高电平负载特性</a:t>
            </a:r>
            <a:endParaRPr lang="en-US" altLang="zh-CN" sz="2800" dirty="0"/>
          </a:p>
          <a:p>
            <a:pPr>
              <a:defRPr/>
            </a:pPr>
            <a:r>
              <a:rPr lang="en-US" altLang="zh-CN" sz="2800" dirty="0"/>
              <a:t>74LS00</a:t>
            </a:r>
            <a:r>
              <a:rPr lang="zh-CN" altLang="en-US" sz="2800" dirty="0"/>
              <a:t>的</a:t>
            </a:r>
            <a:r>
              <a:rPr lang="en-US" altLang="zh-CN" sz="2800" i="1" dirty="0" err="1"/>
              <a:t>V</a:t>
            </a:r>
            <a:r>
              <a:rPr lang="en-US" altLang="zh-CN" sz="2800" i="1" baseline="-25000" dirty="0" err="1"/>
              <a:t>oH</a:t>
            </a:r>
            <a:r>
              <a:rPr lang="zh-CN" altLang="en-US" sz="2800" dirty="0"/>
              <a:t>是指在输入端接地或低电平时，输出端为高电平并输出</a:t>
            </a:r>
            <a:r>
              <a:rPr lang="en-US" altLang="zh-CN" sz="2800" dirty="0"/>
              <a:t>400μA</a:t>
            </a:r>
            <a:r>
              <a:rPr lang="zh-CN" altLang="en-US" sz="2800" dirty="0"/>
              <a:t>电流时测量的输出电平</a:t>
            </a:r>
          </a:p>
          <a:p>
            <a:r>
              <a:rPr lang="zh-CN" altLang="en-US" sz="2800" dirty="0">
                <a:solidFill>
                  <a:srgbClr val="FF0000"/>
                </a:solidFill>
              </a:rPr>
              <a:t>当</a:t>
            </a:r>
            <a:r>
              <a:rPr lang="en-US" altLang="zh-CN" sz="2800" dirty="0">
                <a:solidFill>
                  <a:srgbClr val="FF0000"/>
                </a:solidFill>
              </a:rPr>
              <a:t>i=</a:t>
            </a:r>
            <a:r>
              <a:rPr lang="en-US" altLang="zh-CN" sz="2800" dirty="0">
                <a:solidFill>
                  <a:srgbClr val="FF0000"/>
                </a:solidFill>
                <a:sym typeface="+mn-ea"/>
              </a:rPr>
              <a:t>400μA</a:t>
            </a:r>
            <a:r>
              <a:rPr lang="zh-CN" altLang="en-US" sz="2800" dirty="0">
                <a:solidFill>
                  <a:srgbClr val="FF0000"/>
                </a:solidFill>
                <a:sym typeface="+mn-ea"/>
              </a:rPr>
              <a:t>时</a:t>
            </a:r>
          </a:p>
          <a:p>
            <a:r>
              <a:rPr lang="en-US" altLang="zh-CN" sz="2800" i="1" dirty="0" err="1">
                <a:solidFill>
                  <a:srgbClr val="FF0000"/>
                </a:solidFill>
                <a:sym typeface="+mn-ea"/>
              </a:rPr>
              <a:t>V</a:t>
            </a:r>
            <a:r>
              <a:rPr lang="en-US" altLang="zh-CN" sz="2800" i="1" baseline="-25000" dirty="0" err="1">
                <a:solidFill>
                  <a:srgbClr val="FF0000"/>
                </a:solidFill>
                <a:sym typeface="+mn-ea"/>
              </a:rPr>
              <a:t>oH</a:t>
            </a:r>
            <a:r>
              <a:rPr lang="en-US" altLang="zh-CN" sz="2800" i="1" dirty="0" err="1">
                <a:solidFill>
                  <a:srgbClr val="FF0000"/>
                </a:solidFill>
                <a:sym typeface="+mn-ea"/>
              </a:rPr>
              <a:t>= </a:t>
            </a:r>
            <a:r>
              <a:rPr lang="zh-CN" altLang="en-US" sz="2800" dirty="0" err="1">
                <a:solidFill>
                  <a:srgbClr val="FF0000"/>
                </a:solidFill>
                <a:sym typeface="+mn-ea"/>
              </a:rPr>
              <a:t>对应</a:t>
            </a:r>
            <a:r>
              <a:rPr lang="zh-CN" altLang="en-US" sz="2800" dirty="0">
                <a:solidFill>
                  <a:srgbClr val="FF0000"/>
                </a:solidFill>
                <a:sym typeface="+mn-ea"/>
              </a:rPr>
              <a:t>输出电平</a:t>
            </a:r>
            <a:endParaRPr lang="zh-CN" altLang="en-US" sz="2800" baseline="-25000" dirty="0">
              <a:solidFill>
                <a:srgbClr val="FF0000"/>
              </a:solidFill>
              <a:sym typeface="+mn-ea"/>
            </a:endParaRPr>
          </a:p>
          <a:p>
            <a:endParaRPr lang="zh-CN" altLang="en-US" sz="2800" dirty="0">
              <a:solidFill>
                <a:srgbClr val="FF0000"/>
              </a:solidFill>
              <a:sym typeface="+mn-ea"/>
            </a:endParaRPr>
          </a:p>
        </p:txBody>
      </p:sp>
      <p:graphicFrame>
        <p:nvGraphicFramePr>
          <p:cNvPr id="6" name="对象 5"/>
          <p:cNvGraphicFramePr/>
          <p:nvPr/>
        </p:nvGraphicFramePr>
        <p:xfrm>
          <a:off x="4735830" y="3449955"/>
          <a:ext cx="3374390" cy="3145155"/>
        </p:xfrm>
        <a:graphic>
          <a:graphicData uri="http://schemas.openxmlformats.org/presentationml/2006/ole">
            <mc:AlternateContent xmlns:mc="http://schemas.openxmlformats.org/markup-compatibility/2006">
              <mc:Choice xmlns:v="urn:schemas-microsoft-com:vml" Requires="v">
                <p:oleObj spid="_x0000_s13327" r:id="rId3" imgW="3371850" imgH="3533775" progId="Paint.Picture">
                  <p:embed/>
                </p:oleObj>
              </mc:Choice>
              <mc:Fallback>
                <p:oleObj r:id="rId3" imgW="3371850" imgH="3533775" progId="Paint.Picture">
                  <p:embed/>
                  <p:pic>
                    <p:nvPicPr>
                      <p:cNvPr id="0" name="图片 6"/>
                      <p:cNvPicPr/>
                      <p:nvPr/>
                    </p:nvPicPr>
                    <p:blipFill>
                      <a:blip r:embed="rId4"/>
                      <a:stretch>
                        <a:fillRect/>
                      </a:stretch>
                    </p:blipFill>
                    <p:spPr>
                      <a:xfrm>
                        <a:off x="4735830" y="3449955"/>
                        <a:ext cx="3374390" cy="3145155"/>
                      </a:xfrm>
                      <a:prstGeom prst="rect">
                        <a:avLst/>
                      </a:prstGeom>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输出低电平</a:t>
            </a:r>
            <a:r>
              <a:rPr lang="en-US" altLang="zh-CN" i="1" dirty="0" err="1"/>
              <a:t>V</a:t>
            </a:r>
            <a:r>
              <a:rPr lang="en-US" altLang="zh-CN" i="1" baseline="-25000" dirty="0" err="1"/>
              <a:t>oL</a:t>
            </a:r>
            <a:endParaRPr lang="zh-CN" altLang="en-US" dirty="0"/>
          </a:p>
        </p:txBody>
      </p:sp>
      <p:sp>
        <p:nvSpPr>
          <p:cNvPr id="3" name="内容占位符 2"/>
          <p:cNvSpPr>
            <a:spLocks noGrp="1"/>
          </p:cNvSpPr>
          <p:nvPr>
            <p:ph idx="1"/>
          </p:nvPr>
        </p:nvSpPr>
        <p:spPr>
          <a:xfrm>
            <a:off x="457200" y="1600200"/>
            <a:ext cx="8435280" cy="4525963"/>
          </a:xfrm>
        </p:spPr>
        <p:txBody>
          <a:bodyPr>
            <a:normAutofit/>
          </a:bodyPr>
          <a:lstStyle/>
          <a:p>
            <a:pPr>
              <a:defRPr/>
            </a:pPr>
            <a:r>
              <a:rPr lang="zh-CN" altLang="en-US" sz="2800" dirty="0">
                <a:solidFill>
                  <a:srgbClr val="FF0000"/>
                </a:solidFill>
                <a:latin typeface="楷体_GB2312" pitchFamily="49" charset="-122"/>
                <a:ea typeface="楷体_GB2312" pitchFamily="49" charset="-122"/>
              </a:rPr>
              <a:t>输出低电平</a:t>
            </a:r>
            <a:r>
              <a:rPr lang="en-US" altLang="zh-CN" sz="2800" i="1" dirty="0" err="1"/>
              <a:t>V</a:t>
            </a:r>
            <a:r>
              <a:rPr lang="en-US" altLang="zh-CN" sz="2800" i="1" baseline="-25000" dirty="0" err="1"/>
              <a:t>oL</a:t>
            </a:r>
            <a:r>
              <a:rPr lang="zh-CN" altLang="en-US" sz="2800" dirty="0"/>
              <a:t>是指当输</a:t>
            </a:r>
            <a:r>
              <a:rPr lang="zh-CN" altLang="en-US" sz="2800" dirty="0">
                <a:solidFill>
                  <a:srgbClr val="FF0000"/>
                </a:solidFill>
              </a:rPr>
              <a:t>出端为低电平时</a:t>
            </a:r>
            <a:r>
              <a:rPr lang="zh-CN" altLang="en-US" sz="2800" dirty="0"/>
              <a:t>的输出电压，一般小于</a:t>
            </a:r>
            <a:r>
              <a:rPr lang="en-US" altLang="zh-CN" sz="2800" dirty="0"/>
              <a:t>0.4V</a:t>
            </a:r>
            <a:r>
              <a:rPr lang="zh-CN" altLang="en-US" sz="2800" dirty="0"/>
              <a:t>，可衡量输出端低电平负载特性</a:t>
            </a:r>
            <a:endParaRPr lang="en-US" altLang="zh-CN" sz="2800" dirty="0"/>
          </a:p>
          <a:p>
            <a:pPr>
              <a:defRPr/>
            </a:pPr>
            <a:r>
              <a:rPr lang="en-US" altLang="zh-CN" sz="2800" dirty="0"/>
              <a:t>74LS00</a:t>
            </a:r>
            <a:r>
              <a:rPr lang="zh-CN" altLang="en-US" sz="2800" dirty="0"/>
              <a:t>的</a:t>
            </a:r>
            <a:r>
              <a:rPr lang="en-US" altLang="zh-CN" sz="2800" i="1" dirty="0" err="1"/>
              <a:t>V</a:t>
            </a:r>
            <a:r>
              <a:rPr lang="en-US" altLang="zh-CN" sz="2800" i="1" baseline="-25000" dirty="0" err="1"/>
              <a:t>oL</a:t>
            </a:r>
            <a:r>
              <a:rPr lang="zh-CN" altLang="en-US" sz="2800" dirty="0"/>
              <a:t>是指在输入端接高电平时，输出端为低电平并灌入</a:t>
            </a:r>
            <a:r>
              <a:rPr lang="en-US" altLang="zh-CN" sz="2800" dirty="0"/>
              <a:t>4mA</a:t>
            </a:r>
            <a:r>
              <a:rPr lang="zh-CN" altLang="en-US" sz="2800" dirty="0"/>
              <a:t>电流时测量的输出电平</a:t>
            </a:r>
          </a:p>
          <a:p>
            <a:pPr marL="0" indent="0">
              <a:buNone/>
            </a:pPr>
            <a:r>
              <a:rPr lang="zh-CN" altLang="en-US" sz="2800" dirty="0">
                <a:solidFill>
                  <a:srgbClr val="FF0000"/>
                </a:solidFill>
                <a:sym typeface="+mn-ea"/>
              </a:rPr>
              <a:t>（</a:t>
            </a:r>
            <a:r>
              <a:rPr lang="en-US" altLang="zh-CN" sz="2800" dirty="0">
                <a:solidFill>
                  <a:srgbClr val="FF0000"/>
                </a:solidFill>
                <a:sym typeface="+mn-ea"/>
              </a:rPr>
              <a:t>1</a:t>
            </a:r>
            <a:r>
              <a:rPr lang="zh-CN" altLang="en-US" sz="2800" dirty="0">
                <a:solidFill>
                  <a:srgbClr val="FF0000"/>
                </a:solidFill>
                <a:sym typeface="+mn-ea"/>
              </a:rPr>
              <a:t>）</a:t>
            </a:r>
            <a:r>
              <a:rPr lang="en-US" altLang="zh-CN" sz="2800" dirty="0">
                <a:solidFill>
                  <a:srgbClr val="FF0000"/>
                </a:solidFill>
                <a:sym typeface="+mn-ea"/>
              </a:rPr>
              <a:t>74LS00</a:t>
            </a:r>
            <a:r>
              <a:rPr lang="zh-CN" altLang="en-US" sz="2800" dirty="0">
                <a:solidFill>
                  <a:srgbClr val="FF0000"/>
                </a:solidFill>
                <a:sym typeface="+mn-ea"/>
              </a:rPr>
              <a:t>输出低电平</a:t>
            </a:r>
          </a:p>
          <a:p>
            <a:pPr marL="0" indent="0">
              <a:buNone/>
            </a:pPr>
            <a:r>
              <a:rPr lang="zh-CN" altLang="en-US" sz="2800" dirty="0">
                <a:solidFill>
                  <a:srgbClr val="FF0000"/>
                </a:solidFill>
                <a:sym typeface="+mn-ea"/>
              </a:rPr>
              <a:t>（</a:t>
            </a:r>
            <a:r>
              <a:rPr lang="en-US" altLang="zh-CN" sz="2800" dirty="0">
                <a:solidFill>
                  <a:srgbClr val="FF0000"/>
                </a:solidFill>
                <a:sym typeface="+mn-ea"/>
              </a:rPr>
              <a:t>2</a:t>
            </a:r>
            <a:r>
              <a:rPr lang="zh-CN" altLang="en-US" sz="2800" dirty="0">
                <a:solidFill>
                  <a:srgbClr val="FF0000"/>
                </a:solidFill>
                <a:sym typeface="+mn-ea"/>
              </a:rPr>
              <a:t>）输出端灌入</a:t>
            </a:r>
            <a:r>
              <a:rPr lang="en-US" altLang="zh-CN" sz="2800" dirty="0">
                <a:solidFill>
                  <a:srgbClr val="FF0000"/>
                </a:solidFill>
                <a:sym typeface="+mn-ea"/>
              </a:rPr>
              <a:t>4mA</a:t>
            </a:r>
            <a:r>
              <a:rPr lang="zh-CN" altLang="en-US" sz="2800" dirty="0">
                <a:solidFill>
                  <a:srgbClr val="FF0000"/>
                </a:solidFill>
                <a:sym typeface="+mn-ea"/>
              </a:rPr>
              <a:t>电流</a:t>
            </a:r>
          </a:p>
          <a:p>
            <a:pPr marL="0" indent="0">
              <a:buNone/>
            </a:pPr>
            <a:r>
              <a:rPr lang="zh-CN" altLang="en-US" sz="2800" dirty="0">
                <a:solidFill>
                  <a:srgbClr val="FF0000"/>
                </a:solidFill>
                <a:sym typeface="+mn-ea"/>
              </a:rPr>
              <a:t>（</a:t>
            </a:r>
            <a:r>
              <a:rPr lang="en-US" altLang="zh-CN" sz="2800" dirty="0">
                <a:solidFill>
                  <a:srgbClr val="FF0000"/>
                </a:solidFill>
                <a:sym typeface="+mn-ea"/>
              </a:rPr>
              <a:t>3</a:t>
            </a:r>
            <a:r>
              <a:rPr lang="zh-CN" altLang="en-US" sz="2800" dirty="0">
                <a:solidFill>
                  <a:srgbClr val="FF0000"/>
                </a:solidFill>
                <a:sym typeface="+mn-ea"/>
              </a:rPr>
              <a:t>）</a:t>
            </a:r>
            <a:r>
              <a:rPr lang="en-US" altLang="zh-CN" sz="2800" i="1" dirty="0" err="1">
                <a:solidFill>
                  <a:srgbClr val="FF0000"/>
                </a:solidFill>
                <a:sym typeface="+mn-ea"/>
              </a:rPr>
              <a:t>V</a:t>
            </a:r>
            <a:r>
              <a:rPr lang="en-US" altLang="zh-CN" sz="2800" i="1" baseline="-25000" dirty="0" err="1">
                <a:solidFill>
                  <a:srgbClr val="FF0000"/>
                </a:solidFill>
                <a:sym typeface="+mn-ea"/>
              </a:rPr>
              <a:t>oL</a:t>
            </a:r>
            <a:r>
              <a:rPr lang="zh-CN" altLang="en-US" sz="2800" dirty="0">
                <a:solidFill>
                  <a:srgbClr val="FF0000"/>
                </a:solidFill>
                <a:sym typeface="+mn-ea"/>
              </a:rPr>
              <a:t>输出电平</a:t>
            </a:r>
          </a:p>
        </p:txBody>
      </p:sp>
      <p:graphicFrame>
        <p:nvGraphicFramePr>
          <p:cNvPr id="4" name="对象 3"/>
          <p:cNvGraphicFramePr/>
          <p:nvPr/>
        </p:nvGraphicFramePr>
        <p:xfrm>
          <a:off x="4716145" y="3484880"/>
          <a:ext cx="4346575" cy="3147695"/>
        </p:xfrm>
        <a:graphic>
          <a:graphicData uri="http://schemas.openxmlformats.org/presentationml/2006/ole">
            <mc:AlternateContent xmlns:mc="http://schemas.openxmlformats.org/markup-compatibility/2006">
              <mc:Choice xmlns:v="urn:schemas-microsoft-com:vml" Requires="v">
                <p:oleObj spid="_x0000_s14351" r:id="rId3" imgW="4343400" imgH="3571875" progId="Paint.Picture">
                  <p:embed/>
                </p:oleObj>
              </mc:Choice>
              <mc:Fallback>
                <p:oleObj r:id="rId3" imgW="4343400" imgH="3571875" progId="Paint.Picture">
                  <p:embed/>
                  <p:pic>
                    <p:nvPicPr>
                      <p:cNvPr id="0" name="图片 4"/>
                      <p:cNvPicPr/>
                      <p:nvPr/>
                    </p:nvPicPr>
                    <p:blipFill>
                      <a:blip r:embed="rId4"/>
                      <a:stretch>
                        <a:fillRect/>
                      </a:stretch>
                    </p:blipFill>
                    <p:spPr>
                      <a:xfrm>
                        <a:off x="4716145" y="3484880"/>
                        <a:ext cx="4346575" cy="3147695"/>
                      </a:xfrm>
                      <a:prstGeom prst="rect">
                        <a:avLst/>
                      </a:prstGeom>
                    </p:spPr>
                  </p:pic>
                </p:oleObj>
              </mc:Fallback>
            </mc:AlternateContent>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电压传输特性</a:t>
            </a:r>
          </a:p>
        </p:txBody>
      </p:sp>
      <p:sp>
        <p:nvSpPr>
          <p:cNvPr id="4" name="内容占位符 4"/>
          <p:cNvSpPr>
            <a:spLocks noGrp="1"/>
          </p:cNvSpPr>
          <p:nvPr>
            <p:ph idx="1"/>
          </p:nvPr>
        </p:nvSpPr>
        <p:spPr>
          <a:xfrm>
            <a:off x="457200" y="1268760"/>
            <a:ext cx="8229600" cy="1857375"/>
          </a:xfrm>
        </p:spPr>
        <p:txBody>
          <a:bodyPr>
            <a:normAutofit/>
          </a:bodyPr>
          <a:lstStyle/>
          <a:p>
            <a:pPr eaLnBrk="1" fontAlgn="auto" hangingPunct="1">
              <a:spcAft>
                <a:spcPts val="0"/>
              </a:spcAft>
              <a:defRPr/>
            </a:pPr>
            <a:r>
              <a:rPr lang="zh-CN" altLang="en-US" sz="2800" dirty="0">
                <a:solidFill>
                  <a:srgbClr val="FF0000"/>
                </a:solidFill>
                <a:effectLst/>
                <a:latin typeface="楷体_GB2312" pitchFamily="49" charset="-122"/>
                <a:ea typeface="楷体_GB2312" pitchFamily="49" charset="-122"/>
              </a:rPr>
              <a:t>电压传输特性</a:t>
            </a:r>
            <a:r>
              <a:rPr lang="zh-CN" altLang="en-US" sz="2800" dirty="0"/>
              <a:t>是指</a:t>
            </a:r>
            <a:r>
              <a:rPr lang="zh-CN" altLang="en-US" sz="2800" dirty="0">
                <a:solidFill>
                  <a:srgbClr val="FF0000"/>
                </a:solidFill>
              </a:rPr>
              <a:t>输出电压</a:t>
            </a:r>
            <a:r>
              <a:rPr lang="zh-CN" altLang="en-US" sz="2800" dirty="0"/>
              <a:t>随</a:t>
            </a:r>
            <a:r>
              <a:rPr lang="zh-CN" altLang="en-US" sz="2800" dirty="0">
                <a:solidFill>
                  <a:srgbClr val="FF0000"/>
                </a:solidFill>
              </a:rPr>
              <a:t>输入电压</a:t>
            </a:r>
            <a:r>
              <a:rPr lang="zh-CN" altLang="en-US" sz="2800" dirty="0"/>
              <a:t>而变化的关系特性。它可以充分显示出门输入输出的逻辑特征，可以反应出二值量化及门开关跃迁是一个连续过渡的过程。</a:t>
            </a:r>
            <a:endParaRPr lang="en-US" altLang="zh-CN" sz="2800" dirty="0"/>
          </a:p>
        </p:txBody>
      </p:sp>
      <p:graphicFrame>
        <p:nvGraphicFramePr>
          <p:cNvPr id="5" name="曲线图"/>
          <p:cNvGraphicFramePr>
            <a:graphicFrameLocks noChangeAspect="1"/>
          </p:cNvGraphicFramePr>
          <p:nvPr/>
        </p:nvGraphicFramePr>
        <p:xfrm>
          <a:off x="4383088" y="2544763"/>
          <a:ext cx="4332287" cy="4027487"/>
        </p:xfrm>
        <a:graphic>
          <a:graphicData uri="http://schemas.openxmlformats.org/presentationml/2006/ole">
            <mc:AlternateContent xmlns:mc="http://schemas.openxmlformats.org/markup-compatibility/2006">
              <mc:Choice xmlns:v="urn:schemas-microsoft-com:vml" Requires="v">
                <p:oleObj spid="_x0000_s7209" name="Visio" r:id="rId3" imgW="2752725" imgH="2743200" progId="">
                  <p:embed/>
                </p:oleObj>
              </mc:Choice>
              <mc:Fallback>
                <p:oleObj name="Visio" r:id="rId3" imgW="2752725" imgH="2743200" progId="">
                  <p:embed/>
                  <p:pic>
                    <p:nvPicPr>
                      <p:cNvPr id="0" name="图片 719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83088" y="2544763"/>
                        <a:ext cx="4332287" cy="4027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矩形 5"/>
          <p:cNvSpPr/>
          <p:nvPr/>
        </p:nvSpPr>
        <p:spPr>
          <a:xfrm>
            <a:off x="457200" y="2996952"/>
            <a:ext cx="3757613" cy="3786187"/>
          </a:xfrm>
          <a:prstGeom prst="rect">
            <a:avLst/>
          </a:prstGeom>
        </p:spPr>
        <p:txBody>
          <a:bodyPr>
            <a:spAutoFit/>
          </a:bodyPr>
          <a:lstStyle/>
          <a:p>
            <a:pPr marL="342900" indent="-342900" fontAlgn="auto">
              <a:lnSpc>
                <a:spcPct val="150000"/>
              </a:lnSpc>
              <a:spcBef>
                <a:spcPct val="20000"/>
              </a:spcBef>
              <a:spcAft>
                <a:spcPts val="0"/>
              </a:spcAft>
              <a:buFont typeface="Arial" panose="020B0604020202020204" pitchFamily="34" charset="0"/>
              <a:buChar char="•"/>
              <a:defRPr/>
            </a:pPr>
            <a:r>
              <a:rPr lang="en-US" altLang="zh-CN" sz="2400" b="1"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rPr>
              <a:t>74LS00</a:t>
            </a:r>
            <a:r>
              <a:rPr lang="zh-CN" altLang="en-US" sz="2400" b="1"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rPr>
              <a:t>的电压传输特性曲线如右图，图中标有四个开关参数</a:t>
            </a:r>
            <a:endParaRPr lang="en-US" altLang="zh-CN" sz="2400" b="1"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endParaRPr>
          </a:p>
          <a:p>
            <a:pPr marL="800100" lvl="1" indent="-342900" fontAlgn="auto">
              <a:spcBef>
                <a:spcPct val="20000"/>
              </a:spcBef>
              <a:spcAft>
                <a:spcPts val="0"/>
              </a:spcAft>
              <a:buFont typeface="Arial" panose="020B0604020202020204" pitchFamily="34" charset="0"/>
              <a:buChar char="•"/>
              <a:defRPr/>
            </a:pPr>
            <a:r>
              <a:rPr lang="zh-CN" altLang="en-US" sz="2200" b="1"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rPr>
              <a:t>输出高电平</a:t>
            </a:r>
            <a:r>
              <a:rPr lang="en-US" altLang="zh-CN" sz="2200" b="1" i="1" dirty="0" err="1">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rPr>
              <a:t>V</a:t>
            </a:r>
            <a:r>
              <a:rPr lang="en-US" altLang="zh-CN" sz="2200" b="1" i="1" baseline="-25000" dirty="0" err="1">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rPr>
              <a:t>oH</a:t>
            </a:r>
            <a:endParaRPr lang="en-US" altLang="zh-CN" sz="2200" b="1" i="1" baseline="-25000"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endParaRPr>
          </a:p>
          <a:p>
            <a:pPr marL="800100" lvl="1" indent="-342900" fontAlgn="auto">
              <a:spcBef>
                <a:spcPct val="20000"/>
              </a:spcBef>
              <a:spcAft>
                <a:spcPts val="0"/>
              </a:spcAft>
              <a:buFont typeface="Arial" panose="020B0604020202020204" pitchFamily="34" charset="0"/>
              <a:buChar char="•"/>
              <a:defRPr/>
            </a:pPr>
            <a:r>
              <a:rPr lang="zh-CN" altLang="en-US" sz="2200" b="1"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rPr>
              <a:t>输出低电平</a:t>
            </a:r>
            <a:r>
              <a:rPr lang="en-US" altLang="zh-CN" sz="2200" b="1" i="1" dirty="0" err="1">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rPr>
              <a:t>V</a:t>
            </a:r>
            <a:r>
              <a:rPr lang="en-US" altLang="zh-CN" sz="2200" b="1" i="1" baseline="-25000" dirty="0" err="1">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rPr>
              <a:t>oL</a:t>
            </a:r>
            <a:endParaRPr lang="en-US" altLang="zh-CN" sz="2200" b="1" i="1" baseline="-25000"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endParaRPr>
          </a:p>
          <a:p>
            <a:pPr marL="800100" lvl="1" indent="-342900" fontAlgn="auto">
              <a:spcBef>
                <a:spcPct val="20000"/>
              </a:spcBef>
              <a:spcAft>
                <a:spcPts val="0"/>
              </a:spcAft>
              <a:buFont typeface="Arial" panose="020B0604020202020204" pitchFamily="34" charset="0"/>
              <a:buChar char="•"/>
              <a:defRPr/>
            </a:pPr>
            <a:r>
              <a:rPr lang="zh-CN" altLang="en-US" sz="2200" b="1"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rPr>
              <a:t>开门电平</a:t>
            </a:r>
            <a:r>
              <a:rPr lang="en-US" altLang="zh-CN" sz="2200" b="1" i="1"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rPr>
              <a:t>V</a:t>
            </a:r>
            <a:r>
              <a:rPr lang="en-US" altLang="zh-CN" sz="2200" b="1" baseline="-25000"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rPr>
              <a:t>ON</a:t>
            </a:r>
          </a:p>
          <a:p>
            <a:pPr marL="800100" lvl="1" indent="-342900" fontAlgn="auto">
              <a:spcBef>
                <a:spcPct val="20000"/>
              </a:spcBef>
              <a:spcAft>
                <a:spcPts val="0"/>
              </a:spcAft>
              <a:buFont typeface="Arial" panose="020B0604020202020204" pitchFamily="34" charset="0"/>
              <a:buChar char="•"/>
              <a:defRPr/>
            </a:pPr>
            <a:r>
              <a:rPr lang="zh-CN" altLang="en-US" sz="2200" b="1"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rPr>
              <a:t>关门电平</a:t>
            </a:r>
            <a:r>
              <a:rPr lang="en-US" altLang="zh-CN" sz="2200" b="1" i="1"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rPr>
              <a:t>V</a:t>
            </a:r>
            <a:r>
              <a:rPr lang="en-US" altLang="zh-CN" sz="2200" b="1" baseline="-25000"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rPr>
              <a:t>OFF</a:t>
            </a:r>
            <a:r>
              <a:rPr lang="en-US" altLang="zh-CN" sz="2200" b="1"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rPr>
              <a:t> </a:t>
            </a:r>
          </a:p>
          <a:p>
            <a:pPr lvl="1" fontAlgn="auto">
              <a:spcBef>
                <a:spcPct val="20000"/>
              </a:spcBef>
              <a:spcAft>
                <a:spcPts val="0"/>
              </a:spcAft>
              <a:defRPr/>
            </a:pPr>
            <a:endParaRPr lang="zh-CN" altLang="en-US" sz="2200" b="1"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endParaRPr>
          </a:p>
        </p:txBody>
      </p:sp>
      <p:graphicFrame>
        <p:nvGraphicFramePr>
          <p:cNvPr id="7" name="表格"/>
          <p:cNvGraphicFramePr>
            <a:graphicFrameLocks noGrp="1"/>
          </p:cNvGraphicFramePr>
          <p:nvPr/>
        </p:nvGraphicFramePr>
        <p:xfrm>
          <a:off x="7070725" y="3033713"/>
          <a:ext cx="1304925" cy="1646238"/>
        </p:xfrm>
        <a:graphic>
          <a:graphicData uri="http://schemas.openxmlformats.org/drawingml/2006/table">
            <a:tbl>
              <a:tblPr firstRow="1" bandRow="1">
                <a:tableStyleId>{2D5ABB26-0587-4C30-8999-92F81FD0307C}</a:tableStyleId>
              </a:tblPr>
              <a:tblGrid>
                <a:gridCol w="468402">
                  <a:extLst>
                    <a:ext uri="{9D8B030D-6E8A-4147-A177-3AD203B41FA5}">
                      <a16:colId xmlns:a16="http://schemas.microsoft.com/office/drawing/2014/main" val="20000"/>
                    </a:ext>
                  </a:extLst>
                </a:gridCol>
                <a:gridCol w="836523">
                  <a:extLst>
                    <a:ext uri="{9D8B030D-6E8A-4147-A177-3AD203B41FA5}">
                      <a16:colId xmlns:a16="http://schemas.microsoft.com/office/drawing/2014/main" val="20001"/>
                    </a:ext>
                  </a:extLst>
                </a:gridCol>
              </a:tblGrid>
              <a:tr h="274373">
                <a:tc>
                  <a:txBody>
                    <a:bodyPr/>
                    <a:lstStyle/>
                    <a:p>
                      <a:pPr algn="ctr"/>
                      <a:r>
                        <a:rPr lang="en-US" altLang="zh-CN" sz="1800" i="1">
                          <a:latin typeface="Times New Roman" panose="02020603050405020304" pitchFamily="18" charset="0"/>
                          <a:ea typeface="新宋体" panose="02010609030101010101" charset="-122"/>
                        </a:rPr>
                        <a:t>i</a:t>
                      </a:r>
                      <a:endParaRPr lang="zh-CN" altLang="en-US" sz="1800"/>
                    </a:p>
                  </a:txBody>
                  <a:tcPr marL="0" marR="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altLang="zh-CN" sz="1800">
                          <a:latin typeface="Times New Roman" panose="02020603050405020304" pitchFamily="18" charset="0"/>
                          <a:ea typeface="新宋体" panose="02010609030101010101" charset="-122"/>
                        </a:rPr>
                        <a:t>input</a:t>
                      </a:r>
                      <a:endParaRPr lang="zh-CN" altLang="en-US" sz="1800"/>
                    </a:p>
                  </a:txBody>
                  <a:tcPr marL="0" marR="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extLst>
                  <a:ext uri="{0D108BD9-81ED-4DB2-BD59-A6C34878D82A}">
                    <a16:rowId xmlns:a16="http://schemas.microsoft.com/office/drawing/2014/main" val="10000"/>
                  </a:ext>
                </a:extLst>
              </a:tr>
              <a:tr h="27437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i="1">
                          <a:latin typeface="Times New Roman" panose="02020603050405020304" pitchFamily="18" charset="0"/>
                          <a:ea typeface="新宋体" panose="02010609030101010101" charset="-122"/>
                        </a:rPr>
                        <a:t>o</a:t>
                      </a:r>
                      <a:endParaRPr lang="zh-CN" altLang="en-US" sz="1800"/>
                    </a:p>
                  </a:txBody>
                  <a:tcPr marL="0" marR="0" marT="0" marB="0" anchor="ctr">
                    <a:lnL w="12700" cap="flat" cmpd="sng" algn="ctr">
                      <a:solidFill>
                        <a:schemeClr val="tx1"/>
                      </a:solidFill>
                      <a:prstDash val="solid"/>
                      <a:round/>
                      <a:headEnd type="none" w="med" len="med"/>
                      <a:tailEnd type="none" w="med" len="med"/>
                    </a:lnL>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altLang="zh-CN" sz="1800">
                          <a:latin typeface="Times New Roman" panose="02020603050405020304" pitchFamily="18" charset="0"/>
                          <a:ea typeface="新宋体" panose="02010609030101010101" charset="-122"/>
                        </a:rPr>
                        <a:t>output</a:t>
                      </a:r>
                      <a:endParaRPr lang="zh-CN" altLang="en-US" sz="1800"/>
                    </a:p>
                  </a:txBody>
                  <a:tcPr marL="0" marR="0" marT="0" marB="0" anchor="ctr">
                    <a:lnR w="12700" cap="flat" cmpd="sng" algn="ctr">
                      <a:solidFill>
                        <a:schemeClr val="tx1"/>
                      </a:solidFill>
                      <a:prstDash val="solid"/>
                      <a:round/>
                      <a:headEnd type="none" w="med" len="med"/>
                      <a:tailEnd type="none" w="med" len="med"/>
                    </a:ln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extLst>
                  <a:ext uri="{0D108BD9-81ED-4DB2-BD59-A6C34878D82A}">
                    <a16:rowId xmlns:a16="http://schemas.microsoft.com/office/drawing/2014/main" val="10001"/>
                  </a:ext>
                </a:extLst>
              </a:tr>
              <a:tr h="27437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i="1">
                          <a:latin typeface="Times New Roman" panose="02020603050405020304" pitchFamily="18" charset="0"/>
                          <a:ea typeface="新宋体" panose="02010609030101010101" charset="-122"/>
                        </a:rPr>
                        <a:t>n</a:t>
                      </a:r>
                      <a:endParaRPr lang="zh-CN" altLang="en-US" sz="1800"/>
                    </a:p>
                  </a:txBody>
                  <a:tcPr marL="0" marR="0" marT="0" marB="0" anchor="ctr">
                    <a:lnL w="12700" cap="flat" cmpd="sng" algn="ctr">
                      <a:solidFill>
                        <a:schemeClr val="tx1"/>
                      </a:solidFill>
                      <a:prstDash val="solid"/>
                      <a:round/>
                      <a:headEnd type="none" w="med" len="med"/>
                      <a:tailEnd type="none" w="med" len="med"/>
                    </a:lnL>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altLang="zh-CN" sz="1800">
                          <a:latin typeface="Times New Roman" panose="02020603050405020304" pitchFamily="18" charset="0"/>
                          <a:ea typeface="新宋体" panose="02010609030101010101" charset="-122"/>
                        </a:rPr>
                        <a:t>noise</a:t>
                      </a:r>
                      <a:endParaRPr lang="zh-CN" altLang="en-US" sz="1800"/>
                    </a:p>
                  </a:txBody>
                  <a:tcPr marL="0" marR="0" marT="0" marB="0" anchor="ctr">
                    <a:lnR w="12700" cap="flat" cmpd="sng" algn="ctr">
                      <a:solidFill>
                        <a:schemeClr val="tx1"/>
                      </a:solidFill>
                      <a:prstDash val="solid"/>
                      <a:round/>
                      <a:headEnd type="none" w="med" len="med"/>
                      <a:tailEnd type="none" w="med" len="med"/>
                    </a:ln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extLst>
                  <a:ext uri="{0D108BD9-81ED-4DB2-BD59-A6C34878D82A}">
                    <a16:rowId xmlns:a16="http://schemas.microsoft.com/office/drawing/2014/main" val="10002"/>
                  </a:ext>
                </a:extLst>
              </a:tr>
              <a:tr h="27437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i="1">
                          <a:latin typeface="Times New Roman" panose="02020603050405020304" pitchFamily="18" charset="0"/>
                          <a:ea typeface="新宋体" panose="02010609030101010101" charset="-122"/>
                        </a:rPr>
                        <a:t>s</a:t>
                      </a:r>
                      <a:endParaRPr lang="zh-CN" altLang="en-US" sz="1800"/>
                    </a:p>
                  </a:txBody>
                  <a:tcPr marL="0" marR="0" marT="0" marB="0" anchor="ctr">
                    <a:lnL w="12700" cap="flat" cmpd="sng" algn="ctr">
                      <a:solidFill>
                        <a:schemeClr val="tx1"/>
                      </a:solidFill>
                      <a:prstDash val="solid"/>
                      <a:round/>
                      <a:headEnd type="none" w="med" len="med"/>
                      <a:tailEnd type="none" w="med" len="med"/>
                    </a:lnL>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altLang="zh-CN" sz="1800">
                          <a:latin typeface="Times New Roman" panose="02020603050405020304" pitchFamily="18" charset="0"/>
                          <a:ea typeface="新宋体" panose="02010609030101010101" charset="-122"/>
                        </a:rPr>
                        <a:t>source</a:t>
                      </a:r>
                      <a:endParaRPr lang="zh-CN" altLang="en-US" sz="1800"/>
                    </a:p>
                  </a:txBody>
                  <a:tcPr marL="0" marR="0" marT="0" marB="0" anchor="ctr">
                    <a:lnR w="12700" cap="flat" cmpd="sng" algn="ctr">
                      <a:solidFill>
                        <a:schemeClr val="tx1"/>
                      </a:solidFill>
                      <a:prstDash val="solid"/>
                      <a:round/>
                      <a:headEnd type="none" w="med" len="med"/>
                      <a:tailEnd type="none" w="med" len="med"/>
                    </a:ln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extLst>
                  <a:ext uri="{0D108BD9-81ED-4DB2-BD59-A6C34878D82A}">
                    <a16:rowId xmlns:a16="http://schemas.microsoft.com/office/drawing/2014/main" val="10003"/>
                  </a:ext>
                </a:extLst>
              </a:tr>
              <a:tr h="27437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i="1">
                          <a:latin typeface="Times New Roman" panose="02020603050405020304" pitchFamily="18" charset="0"/>
                          <a:ea typeface="新宋体" panose="02010609030101010101" charset="-122"/>
                        </a:rPr>
                        <a:t>H</a:t>
                      </a:r>
                      <a:endParaRPr lang="zh-CN" altLang="en-US" sz="1800"/>
                    </a:p>
                  </a:txBody>
                  <a:tcPr marL="0" marR="0" marT="0" marB="0" anchor="ctr">
                    <a:lnL w="12700" cap="flat" cmpd="sng" algn="ctr">
                      <a:solidFill>
                        <a:schemeClr val="tx1"/>
                      </a:solidFill>
                      <a:prstDash val="solid"/>
                      <a:round/>
                      <a:headEnd type="none" w="med" len="med"/>
                      <a:tailEnd type="none" w="med" len="med"/>
                    </a:lnL>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altLang="zh-CN" sz="1800">
                          <a:latin typeface="Times New Roman" panose="02020603050405020304" pitchFamily="18" charset="0"/>
                          <a:ea typeface="新宋体" panose="02010609030101010101" charset="-122"/>
                        </a:rPr>
                        <a:t>High</a:t>
                      </a:r>
                      <a:endParaRPr lang="zh-CN" altLang="en-US" sz="1800"/>
                    </a:p>
                  </a:txBody>
                  <a:tcPr marL="0" marR="0" marT="0" marB="0" anchor="ctr">
                    <a:lnR w="12700" cap="flat" cmpd="sng" algn="ctr">
                      <a:solidFill>
                        <a:schemeClr val="tx1"/>
                      </a:solidFill>
                      <a:prstDash val="solid"/>
                      <a:round/>
                      <a:headEnd type="none" w="med" len="med"/>
                      <a:tailEnd type="none" w="med" len="med"/>
                    </a:ln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extLst>
                  <a:ext uri="{0D108BD9-81ED-4DB2-BD59-A6C34878D82A}">
                    <a16:rowId xmlns:a16="http://schemas.microsoft.com/office/drawing/2014/main" val="10004"/>
                  </a:ext>
                </a:extLst>
              </a:tr>
              <a:tr h="27437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i="1">
                          <a:latin typeface="Times New Roman" panose="02020603050405020304" pitchFamily="18" charset="0"/>
                          <a:ea typeface="新宋体" panose="02010609030101010101" charset="-122"/>
                        </a:rPr>
                        <a:t>L</a:t>
                      </a:r>
                      <a:endParaRPr lang="zh-CN" altLang="en-US" sz="1800"/>
                    </a:p>
                  </a:txBody>
                  <a:tcPr marL="0" marR="0" marT="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altLang="zh-CN" sz="1800">
                          <a:latin typeface="Times New Roman" panose="02020603050405020304" pitchFamily="18" charset="0"/>
                          <a:ea typeface="新宋体" panose="02010609030101010101" charset="-122"/>
                        </a:rPr>
                        <a:t>Low</a:t>
                      </a:r>
                      <a:endParaRPr lang="zh-CN" altLang="en-US" sz="1800"/>
                    </a:p>
                  </a:txBody>
                  <a:tcPr marL="0" marR="0" marT="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对象 8"/>
          <p:cNvGraphicFramePr/>
          <p:nvPr/>
        </p:nvGraphicFramePr>
        <p:xfrm>
          <a:off x="4542790" y="2315845"/>
          <a:ext cx="3469640" cy="4051300"/>
        </p:xfrm>
        <a:graphic>
          <a:graphicData uri="http://schemas.openxmlformats.org/presentationml/2006/ole">
            <mc:AlternateContent xmlns:mc="http://schemas.openxmlformats.org/markup-compatibility/2006">
              <mc:Choice xmlns:v="urn:schemas-microsoft-com:vml" Requires="v">
                <p:oleObj spid="_x0000_s15375" r:id="rId3" imgW="3467100" imgH="4048125" progId="Paint.Picture">
                  <p:embed/>
                </p:oleObj>
              </mc:Choice>
              <mc:Fallback>
                <p:oleObj r:id="rId3" imgW="3467100" imgH="4048125" progId="Paint.Picture">
                  <p:embed/>
                  <p:pic>
                    <p:nvPicPr>
                      <p:cNvPr id="0" name="图片 9"/>
                      <p:cNvPicPr/>
                      <p:nvPr/>
                    </p:nvPicPr>
                    <p:blipFill>
                      <a:blip r:embed="rId4"/>
                      <a:stretch>
                        <a:fillRect/>
                      </a:stretch>
                    </p:blipFill>
                    <p:spPr>
                      <a:xfrm>
                        <a:off x="4542790" y="2315845"/>
                        <a:ext cx="3469640" cy="4051300"/>
                      </a:xfrm>
                      <a:prstGeom prst="rect">
                        <a:avLst/>
                      </a:prstGeom>
                    </p:spPr>
                  </p:pic>
                </p:oleObj>
              </mc:Fallback>
            </mc:AlternateContent>
          </a:graphicData>
        </a:graphic>
      </p:graphicFrame>
      <p:sp>
        <p:nvSpPr>
          <p:cNvPr id="2" name="标题 1"/>
          <p:cNvSpPr>
            <a:spLocks noGrp="1"/>
          </p:cNvSpPr>
          <p:nvPr>
            <p:ph type="title"/>
          </p:nvPr>
        </p:nvSpPr>
        <p:spPr/>
        <p:txBody>
          <a:bodyPr/>
          <a:lstStyle/>
          <a:p>
            <a:r>
              <a:rPr lang="zh-CN" altLang="en-US" dirty="0"/>
              <a:t>关门电平</a:t>
            </a:r>
            <a:r>
              <a:rPr lang="en-US" altLang="zh-CN" i="1" dirty="0"/>
              <a:t>V</a:t>
            </a:r>
            <a:r>
              <a:rPr lang="en-US" altLang="zh-CN" baseline="-25000" dirty="0"/>
              <a:t>OFF</a:t>
            </a:r>
            <a:endParaRPr lang="zh-CN" altLang="en-US" dirty="0"/>
          </a:p>
        </p:txBody>
      </p:sp>
      <p:sp>
        <p:nvSpPr>
          <p:cNvPr id="4" name="内容占位符 4"/>
          <p:cNvSpPr>
            <a:spLocks noGrp="1"/>
          </p:cNvSpPr>
          <p:nvPr>
            <p:ph idx="1"/>
          </p:nvPr>
        </p:nvSpPr>
        <p:spPr>
          <a:xfrm>
            <a:off x="457200" y="1268760"/>
            <a:ext cx="8229600" cy="1214437"/>
          </a:xfrm>
        </p:spPr>
        <p:txBody>
          <a:bodyPr>
            <a:normAutofit/>
          </a:bodyPr>
          <a:lstStyle/>
          <a:p>
            <a:pPr eaLnBrk="1" fontAlgn="auto" hangingPunct="1">
              <a:spcAft>
                <a:spcPts val="0"/>
              </a:spcAft>
              <a:defRPr/>
            </a:pPr>
            <a:r>
              <a:rPr lang="zh-CN" altLang="en-US" dirty="0">
                <a:solidFill>
                  <a:srgbClr val="FF0000"/>
                </a:solidFill>
                <a:effectLst/>
                <a:latin typeface="楷体_GB2312" pitchFamily="49" charset="-122"/>
                <a:ea typeface="楷体_GB2312" pitchFamily="49" charset="-122"/>
              </a:rPr>
              <a:t>关门电平</a:t>
            </a:r>
            <a:r>
              <a:rPr lang="en-US" altLang="zh-CN" i="1" dirty="0"/>
              <a:t>V</a:t>
            </a:r>
            <a:r>
              <a:rPr lang="en-US" altLang="zh-CN" baseline="-25000" dirty="0"/>
              <a:t>OFF</a:t>
            </a:r>
            <a:r>
              <a:rPr lang="zh-CN" altLang="en-US" dirty="0"/>
              <a:t>指使输出电压刚好达到输出转折至额定电平值时的最高输入低电平电压</a:t>
            </a:r>
            <a:endParaRPr lang="zh-CN" altLang="en-US" baseline="-25000" dirty="0"/>
          </a:p>
        </p:txBody>
      </p:sp>
      <p:sp>
        <p:nvSpPr>
          <p:cNvPr id="5" name="矩形 4"/>
          <p:cNvSpPr/>
          <p:nvPr/>
        </p:nvSpPr>
        <p:spPr>
          <a:xfrm>
            <a:off x="250825" y="2492896"/>
            <a:ext cx="4403725" cy="3490912"/>
          </a:xfrm>
          <a:prstGeom prst="rect">
            <a:avLst/>
          </a:prstGeom>
        </p:spPr>
        <p:txBody>
          <a:bodyPr>
            <a:spAutoFit/>
          </a:bodyPr>
          <a:lstStyle/>
          <a:p>
            <a:pPr marL="342900" indent="-342900" fontAlgn="auto">
              <a:lnSpc>
                <a:spcPct val="150000"/>
              </a:lnSpc>
              <a:spcBef>
                <a:spcPct val="20000"/>
              </a:spcBef>
              <a:spcAft>
                <a:spcPts val="0"/>
              </a:spcAft>
              <a:buFont typeface="Arial" panose="020B0604020202020204" pitchFamily="34" charset="0"/>
              <a:buChar char="•"/>
              <a:defRPr/>
            </a:pPr>
            <a:r>
              <a:rPr lang="en-US" altLang="zh-CN" sz="2400" b="1"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74LS00</a:t>
            </a:r>
            <a:r>
              <a:rPr lang="zh-CN" altLang="en-US" sz="2400" b="1"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的</a:t>
            </a:r>
            <a:r>
              <a:rPr lang="en-US" altLang="zh-CN" sz="2400" b="1" i="1"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rPr>
              <a:t>V</a:t>
            </a:r>
            <a:r>
              <a:rPr lang="en-US" altLang="zh-CN" sz="2400" b="1" baseline="-25000"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rPr>
              <a:t>OFF</a:t>
            </a:r>
            <a:r>
              <a:rPr lang="zh-CN" altLang="en-US" sz="2400" b="1"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是当输入电压由零逐渐上升、输出电压逐渐下降，当输出电压刚好降到额定最低高电平</a:t>
            </a:r>
            <a:r>
              <a:rPr lang="en-US" altLang="zh-CN" sz="2400" b="1"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2.4V</a:t>
            </a:r>
            <a:r>
              <a:rPr lang="zh-CN" altLang="en-US" sz="2400" b="1"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时的最高输入低电平电压。</a:t>
            </a:r>
            <a:endParaRPr lang="en-US" altLang="zh-CN" sz="2400" b="1"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endParaRPr>
          </a:p>
          <a:p>
            <a:pPr marL="342900" indent="-342900" fontAlgn="auto">
              <a:lnSpc>
                <a:spcPct val="150000"/>
              </a:lnSpc>
              <a:spcBef>
                <a:spcPct val="20000"/>
              </a:spcBef>
              <a:spcAft>
                <a:spcPts val="0"/>
              </a:spcAft>
              <a:buFont typeface="Arial" panose="020B0604020202020204" pitchFamily="34" charset="0"/>
              <a:buChar char="•"/>
              <a:defRPr/>
            </a:pPr>
            <a:r>
              <a:rPr lang="en-US" altLang="zh-CN" sz="2400" b="1" dirty="0" err="1">
                <a:solidFill>
                  <a:srgbClr val="FF0000"/>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Voff:V</a:t>
            </a:r>
            <a:r>
              <a:rPr lang="en-US" altLang="zh-CN" sz="1600" b="1" dirty="0" err="1">
                <a:solidFill>
                  <a:srgbClr val="FF0000"/>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out</a:t>
            </a:r>
            <a:r>
              <a:rPr lang="en-US" altLang="zh-CN" sz="2400" b="1" dirty="0">
                <a:solidFill>
                  <a:srgbClr val="FF0000"/>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=2.4</a:t>
            </a:r>
            <a:r>
              <a:rPr lang="zh-CN" altLang="en-US" sz="2400" b="1" dirty="0">
                <a:solidFill>
                  <a:srgbClr val="FF0000"/>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时的</a:t>
            </a:r>
            <a:r>
              <a:rPr lang="en-US" altLang="zh-CN" sz="2400" b="1" dirty="0">
                <a:solidFill>
                  <a:srgbClr val="FF0000"/>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V</a:t>
            </a:r>
            <a:r>
              <a:rPr lang="en-US" altLang="zh-CN" b="1" dirty="0">
                <a:solidFill>
                  <a:srgbClr val="FF0000"/>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i</a:t>
            </a:r>
            <a:r>
              <a:rPr lang="zh-CN" altLang="en-US" sz="2400" b="1" dirty="0">
                <a:solidFill>
                  <a:srgbClr val="FF0000"/>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的电压值</a:t>
            </a:r>
          </a:p>
        </p:txBody>
      </p:sp>
      <p:graphicFrame>
        <p:nvGraphicFramePr>
          <p:cNvPr id="7" name="表格"/>
          <p:cNvGraphicFramePr>
            <a:graphicFrameLocks noGrp="1"/>
          </p:cNvGraphicFramePr>
          <p:nvPr/>
        </p:nvGraphicFramePr>
        <p:xfrm>
          <a:off x="7356475" y="2873722"/>
          <a:ext cx="1304925" cy="1646132"/>
        </p:xfrm>
        <a:graphic>
          <a:graphicData uri="http://schemas.openxmlformats.org/drawingml/2006/table">
            <a:tbl>
              <a:tblPr firstRow="1" bandRow="1">
                <a:tableStyleId>{2D5ABB26-0587-4C30-8999-92F81FD0307C}</a:tableStyleId>
              </a:tblPr>
              <a:tblGrid>
                <a:gridCol w="468402">
                  <a:extLst>
                    <a:ext uri="{9D8B030D-6E8A-4147-A177-3AD203B41FA5}">
                      <a16:colId xmlns:a16="http://schemas.microsoft.com/office/drawing/2014/main" val="20000"/>
                    </a:ext>
                  </a:extLst>
                </a:gridCol>
                <a:gridCol w="836523">
                  <a:extLst>
                    <a:ext uri="{9D8B030D-6E8A-4147-A177-3AD203B41FA5}">
                      <a16:colId xmlns:a16="http://schemas.microsoft.com/office/drawing/2014/main" val="20001"/>
                    </a:ext>
                  </a:extLst>
                </a:gridCol>
              </a:tblGrid>
              <a:tr h="274373">
                <a:tc>
                  <a:txBody>
                    <a:bodyPr/>
                    <a:lstStyle/>
                    <a:p>
                      <a:pPr algn="ctr"/>
                      <a:r>
                        <a:rPr lang="en-US" altLang="zh-CN" sz="1800" i="1">
                          <a:latin typeface="Times New Roman" panose="02020603050405020304" pitchFamily="18" charset="0"/>
                          <a:ea typeface="新宋体" panose="02010609030101010101" charset="-122"/>
                        </a:rPr>
                        <a:t>i</a:t>
                      </a:r>
                      <a:endParaRPr lang="zh-CN" altLang="en-US" sz="1800"/>
                    </a:p>
                  </a:txBody>
                  <a:tcPr marL="0" marR="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altLang="zh-CN" sz="1800">
                          <a:latin typeface="Times New Roman" panose="02020603050405020304" pitchFamily="18" charset="0"/>
                          <a:ea typeface="新宋体" panose="02010609030101010101" charset="-122"/>
                        </a:rPr>
                        <a:t>input</a:t>
                      </a:r>
                      <a:endParaRPr lang="zh-CN" altLang="en-US" sz="1800"/>
                    </a:p>
                  </a:txBody>
                  <a:tcPr marL="0" marR="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extLst>
                  <a:ext uri="{0D108BD9-81ED-4DB2-BD59-A6C34878D82A}">
                    <a16:rowId xmlns:a16="http://schemas.microsoft.com/office/drawing/2014/main" val="10000"/>
                  </a:ext>
                </a:extLst>
              </a:tr>
              <a:tr h="27437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i="1">
                          <a:latin typeface="Times New Roman" panose="02020603050405020304" pitchFamily="18" charset="0"/>
                          <a:ea typeface="新宋体" panose="02010609030101010101" charset="-122"/>
                        </a:rPr>
                        <a:t>o</a:t>
                      </a:r>
                      <a:endParaRPr lang="zh-CN" altLang="en-US" sz="1800"/>
                    </a:p>
                  </a:txBody>
                  <a:tcPr marL="0" marR="0" marT="0" marB="0" anchor="ctr">
                    <a:lnL w="12700" cap="flat" cmpd="sng" algn="ctr">
                      <a:solidFill>
                        <a:schemeClr val="tx1"/>
                      </a:solidFill>
                      <a:prstDash val="solid"/>
                      <a:round/>
                      <a:headEnd type="none" w="med" len="med"/>
                      <a:tailEnd type="none" w="med" len="med"/>
                    </a:lnL>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altLang="zh-CN" sz="1800">
                          <a:latin typeface="Times New Roman" panose="02020603050405020304" pitchFamily="18" charset="0"/>
                          <a:ea typeface="新宋体" panose="02010609030101010101" charset="-122"/>
                        </a:rPr>
                        <a:t>output</a:t>
                      </a:r>
                      <a:endParaRPr lang="zh-CN" altLang="en-US" sz="1800"/>
                    </a:p>
                  </a:txBody>
                  <a:tcPr marL="0" marR="0" marT="0" marB="0" anchor="ctr">
                    <a:lnR w="12700" cap="flat" cmpd="sng" algn="ctr">
                      <a:solidFill>
                        <a:schemeClr val="tx1"/>
                      </a:solidFill>
                      <a:prstDash val="solid"/>
                      <a:round/>
                      <a:headEnd type="none" w="med" len="med"/>
                      <a:tailEnd type="none" w="med" len="med"/>
                    </a:ln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extLst>
                  <a:ext uri="{0D108BD9-81ED-4DB2-BD59-A6C34878D82A}">
                    <a16:rowId xmlns:a16="http://schemas.microsoft.com/office/drawing/2014/main" val="10001"/>
                  </a:ext>
                </a:extLst>
              </a:tr>
              <a:tr h="27437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i="1">
                          <a:latin typeface="Times New Roman" panose="02020603050405020304" pitchFamily="18" charset="0"/>
                          <a:ea typeface="新宋体" panose="02010609030101010101" charset="-122"/>
                        </a:rPr>
                        <a:t>n</a:t>
                      </a:r>
                      <a:endParaRPr lang="zh-CN" altLang="en-US" sz="1800"/>
                    </a:p>
                  </a:txBody>
                  <a:tcPr marL="0" marR="0" marT="0" marB="0" anchor="ctr">
                    <a:lnL w="12700" cap="flat" cmpd="sng" algn="ctr">
                      <a:solidFill>
                        <a:schemeClr val="tx1"/>
                      </a:solidFill>
                      <a:prstDash val="solid"/>
                      <a:round/>
                      <a:headEnd type="none" w="med" len="med"/>
                      <a:tailEnd type="none" w="med" len="med"/>
                    </a:lnL>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altLang="zh-CN" sz="1800">
                          <a:latin typeface="Times New Roman" panose="02020603050405020304" pitchFamily="18" charset="0"/>
                          <a:ea typeface="新宋体" panose="02010609030101010101" charset="-122"/>
                        </a:rPr>
                        <a:t>noise</a:t>
                      </a:r>
                      <a:endParaRPr lang="zh-CN" altLang="en-US" sz="1800"/>
                    </a:p>
                  </a:txBody>
                  <a:tcPr marL="0" marR="0" marT="0" marB="0" anchor="ctr">
                    <a:lnR w="12700" cap="flat" cmpd="sng" algn="ctr">
                      <a:solidFill>
                        <a:schemeClr val="tx1"/>
                      </a:solidFill>
                      <a:prstDash val="solid"/>
                      <a:round/>
                      <a:headEnd type="none" w="med" len="med"/>
                      <a:tailEnd type="none" w="med" len="med"/>
                    </a:ln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extLst>
                  <a:ext uri="{0D108BD9-81ED-4DB2-BD59-A6C34878D82A}">
                    <a16:rowId xmlns:a16="http://schemas.microsoft.com/office/drawing/2014/main" val="10002"/>
                  </a:ext>
                </a:extLst>
              </a:tr>
              <a:tr h="27432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i="1">
                          <a:latin typeface="Times New Roman" panose="02020603050405020304" pitchFamily="18" charset="0"/>
                          <a:ea typeface="新宋体" panose="02010609030101010101" charset="-122"/>
                        </a:rPr>
                        <a:t>s</a:t>
                      </a:r>
                      <a:endParaRPr lang="zh-CN" altLang="en-US" sz="1800"/>
                    </a:p>
                  </a:txBody>
                  <a:tcPr marL="0" marR="0" marT="0" marB="0" anchor="ctr">
                    <a:lnL w="12700" cap="flat" cmpd="sng" algn="ctr">
                      <a:solidFill>
                        <a:schemeClr val="tx1"/>
                      </a:solidFill>
                      <a:prstDash val="solid"/>
                      <a:round/>
                      <a:headEnd type="none" w="med" len="med"/>
                      <a:tailEnd type="none" w="med" len="med"/>
                    </a:lnL>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altLang="zh-CN" sz="1800" b="1">
                          <a:latin typeface="Times New Roman" panose="02020603050405020304" pitchFamily="18" charset="0"/>
                          <a:ea typeface="新宋体" panose="02010609030101010101" charset="-122"/>
                        </a:rPr>
                        <a:t>source</a:t>
                      </a:r>
                      <a:endParaRPr lang="zh-CN" altLang="en-US" sz="1800" b="1"/>
                    </a:p>
                  </a:txBody>
                  <a:tcPr marL="0" marR="0" marT="0" marB="0" anchor="ctr">
                    <a:lnR w="12700" cap="flat" cmpd="sng" algn="ctr">
                      <a:solidFill>
                        <a:schemeClr val="tx1"/>
                      </a:solidFill>
                      <a:prstDash val="solid"/>
                      <a:round/>
                      <a:headEnd type="none" w="med" len="med"/>
                      <a:tailEnd type="none" w="med" len="med"/>
                    </a:ln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extLst>
                  <a:ext uri="{0D108BD9-81ED-4DB2-BD59-A6C34878D82A}">
                    <a16:rowId xmlns:a16="http://schemas.microsoft.com/office/drawing/2014/main" val="10003"/>
                  </a:ext>
                </a:extLst>
              </a:tr>
              <a:tr h="27437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i="1">
                          <a:latin typeface="Times New Roman" panose="02020603050405020304" pitchFamily="18" charset="0"/>
                          <a:ea typeface="新宋体" panose="02010609030101010101" charset="-122"/>
                        </a:rPr>
                        <a:t>H</a:t>
                      </a:r>
                      <a:endParaRPr lang="zh-CN" altLang="en-US" sz="1800"/>
                    </a:p>
                  </a:txBody>
                  <a:tcPr marL="0" marR="0" marT="0" marB="0" anchor="ctr">
                    <a:lnL w="12700" cap="flat" cmpd="sng" algn="ctr">
                      <a:solidFill>
                        <a:schemeClr val="tx1"/>
                      </a:solidFill>
                      <a:prstDash val="solid"/>
                      <a:round/>
                      <a:headEnd type="none" w="med" len="med"/>
                      <a:tailEnd type="none" w="med" len="med"/>
                    </a:lnL>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altLang="zh-CN" sz="1800">
                          <a:latin typeface="Times New Roman" panose="02020603050405020304" pitchFamily="18" charset="0"/>
                          <a:ea typeface="新宋体" panose="02010609030101010101" charset="-122"/>
                        </a:rPr>
                        <a:t>High</a:t>
                      </a:r>
                      <a:endParaRPr lang="zh-CN" altLang="en-US" sz="1800"/>
                    </a:p>
                  </a:txBody>
                  <a:tcPr marL="0" marR="0" marT="0" marB="0" anchor="ctr">
                    <a:lnR w="12700" cap="flat" cmpd="sng" algn="ctr">
                      <a:solidFill>
                        <a:schemeClr val="tx1"/>
                      </a:solidFill>
                      <a:prstDash val="solid"/>
                      <a:round/>
                      <a:headEnd type="none" w="med" len="med"/>
                      <a:tailEnd type="none" w="med" len="med"/>
                    </a:ln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extLst>
                  <a:ext uri="{0D108BD9-81ED-4DB2-BD59-A6C34878D82A}">
                    <a16:rowId xmlns:a16="http://schemas.microsoft.com/office/drawing/2014/main" val="10004"/>
                  </a:ext>
                </a:extLst>
              </a:tr>
              <a:tr h="27432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i="1">
                          <a:latin typeface="Times New Roman" panose="02020603050405020304" pitchFamily="18" charset="0"/>
                          <a:ea typeface="新宋体" panose="02010609030101010101" charset="-122"/>
                        </a:rPr>
                        <a:t>L</a:t>
                      </a:r>
                      <a:endParaRPr lang="zh-CN" altLang="en-US" sz="1800"/>
                    </a:p>
                  </a:txBody>
                  <a:tcPr marL="0" marR="0" marT="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altLang="zh-CN" sz="1800">
                          <a:latin typeface="Times New Roman" panose="02020603050405020304" pitchFamily="18" charset="0"/>
                          <a:ea typeface="新宋体" panose="02010609030101010101" charset="-122"/>
                        </a:rPr>
                        <a:t>Low</a:t>
                      </a:r>
                      <a:endParaRPr lang="zh-CN" altLang="en-US" sz="1800"/>
                    </a:p>
                  </a:txBody>
                  <a:tcPr marL="0" marR="0" marT="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p:nvPr/>
        </p:nvGraphicFramePr>
        <p:xfrm>
          <a:off x="4726305" y="2275205"/>
          <a:ext cx="3211195" cy="4048125"/>
        </p:xfrm>
        <a:graphic>
          <a:graphicData uri="http://schemas.openxmlformats.org/presentationml/2006/ole">
            <mc:AlternateContent xmlns:mc="http://schemas.openxmlformats.org/markup-compatibility/2006">
              <mc:Choice xmlns:v="urn:schemas-microsoft-com:vml" Requires="v">
                <p:oleObj spid="_x0000_s16399" r:id="rId3" imgW="3467100" imgH="4048125" progId="Paint.Picture">
                  <p:embed/>
                </p:oleObj>
              </mc:Choice>
              <mc:Fallback>
                <p:oleObj r:id="rId3" imgW="3467100" imgH="4048125" progId="Paint.Picture">
                  <p:embed/>
                  <p:pic>
                    <p:nvPicPr>
                      <p:cNvPr id="0" name="图片 7"/>
                      <p:cNvPicPr/>
                      <p:nvPr/>
                    </p:nvPicPr>
                    <p:blipFill>
                      <a:blip r:embed="rId4"/>
                      <a:stretch>
                        <a:fillRect/>
                      </a:stretch>
                    </p:blipFill>
                    <p:spPr>
                      <a:xfrm>
                        <a:off x="4726305" y="2275205"/>
                        <a:ext cx="3211195" cy="4048125"/>
                      </a:xfrm>
                      <a:prstGeom prst="rect">
                        <a:avLst/>
                      </a:prstGeom>
                    </p:spPr>
                  </p:pic>
                </p:oleObj>
              </mc:Fallback>
            </mc:AlternateContent>
          </a:graphicData>
        </a:graphic>
      </p:graphicFrame>
      <p:sp>
        <p:nvSpPr>
          <p:cNvPr id="2" name="标题 1"/>
          <p:cNvSpPr>
            <a:spLocks noGrp="1"/>
          </p:cNvSpPr>
          <p:nvPr>
            <p:ph type="title"/>
          </p:nvPr>
        </p:nvSpPr>
        <p:spPr/>
        <p:txBody>
          <a:bodyPr/>
          <a:lstStyle/>
          <a:p>
            <a:r>
              <a:rPr lang="zh-CN" altLang="en-US" dirty="0"/>
              <a:t>开门电平</a:t>
            </a:r>
            <a:r>
              <a:rPr lang="en-US" altLang="zh-CN" i="1" dirty="0"/>
              <a:t>V</a:t>
            </a:r>
            <a:r>
              <a:rPr lang="en-US" altLang="zh-CN" baseline="-25000" dirty="0"/>
              <a:t>ON</a:t>
            </a:r>
            <a:endParaRPr lang="zh-CN" altLang="en-US" dirty="0"/>
          </a:p>
        </p:txBody>
      </p:sp>
      <p:sp>
        <p:nvSpPr>
          <p:cNvPr id="4" name="内容占位符 4"/>
          <p:cNvSpPr>
            <a:spLocks noGrp="1"/>
          </p:cNvSpPr>
          <p:nvPr>
            <p:ph idx="1"/>
          </p:nvPr>
        </p:nvSpPr>
        <p:spPr>
          <a:xfrm>
            <a:off x="457200" y="1309836"/>
            <a:ext cx="8229600" cy="1285875"/>
          </a:xfrm>
        </p:spPr>
        <p:txBody>
          <a:bodyPr>
            <a:normAutofit/>
          </a:bodyPr>
          <a:lstStyle/>
          <a:p>
            <a:pPr eaLnBrk="1" fontAlgn="auto" hangingPunct="1">
              <a:spcAft>
                <a:spcPts val="0"/>
              </a:spcAft>
              <a:defRPr/>
            </a:pPr>
            <a:r>
              <a:rPr lang="zh-CN" altLang="en-US" sz="2800" dirty="0">
                <a:solidFill>
                  <a:srgbClr val="FF0000"/>
                </a:solidFill>
                <a:effectLst/>
                <a:latin typeface="楷体_GB2312" pitchFamily="49" charset="-122"/>
                <a:ea typeface="楷体_GB2312" pitchFamily="49" charset="-122"/>
              </a:rPr>
              <a:t>开门电平</a:t>
            </a:r>
            <a:r>
              <a:rPr lang="en-US" altLang="zh-CN" sz="2800" i="1" dirty="0">
                <a:solidFill>
                  <a:prstClr val="black"/>
                </a:solidFill>
                <a:effectLst>
                  <a:outerShdw blurRad="50800" dist="38100" dir="2700000" algn="tl" rotWithShape="0">
                    <a:prstClr val="black">
                      <a:alpha val="40000"/>
                    </a:prstClr>
                  </a:outerShdw>
                </a:effectLst>
              </a:rPr>
              <a:t>V</a:t>
            </a:r>
            <a:r>
              <a:rPr lang="en-US" altLang="zh-CN" sz="2800" baseline="-25000" dirty="0">
                <a:solidFill>
                  <a:prstClr val="black"/>
                </a:solidFill>
                <a:effectLst>
                  <a:outerShdw blurRad="50800" dist="38100" dir="2700000" algn="tl" rotWithShape="0">
                    <a:prstClr val="black">
                      <a:alpha val="40000"/>
                    </a:prstClr>
                  </a:outerShdw>
                </a:effectLst>
              </a:rPr>
              <a:t>ON</a:t>
            </a:r>
            <a:r>
              <a:rPr lang="zh-CN" altLang="en-US" sz="2800" dirty="0"/>
              <a:t>指使输出电压刚好达到输出转折跃迁至另一状态额定电平值时的最低输入高电平电压</a:t>
            </a:r>
          </a:p>
        </p:txBody>
      </p:sp>
      <p:sp>
        <p:nvSpPr>
          <p:cNvPr id="5" name="矩形 4"/>
          <p:cNvSpPr/>
          <p:nvPr/>
        </p:nvSpPr>
        <p:spPr>
          <a:xfrm>
            <a:off x="323850" y="2348880"/>
            <a:ext cx="4402138" cy="3490913"/>
          </a:xfrm>
          <a:prstGeom prst="rect">
            <a:avLst/>
          </a:prstGeom>
        </p:spPr>
        <p:txBody>
          <a:bodyPr>
            <a:spAutoFit/>
          </a:bodyPr>
          <a:lstStyle/>
          <a:p>
            <a:pPr marL="342900" indent="-342900" fontAlgn="auto">
              <a:lnSpc>
                <a:spcPct val="150000"/>
              </a:lnSpc>
              <a:spcBef>
                <a:spcPct val="20000"/>
              </a:spcBef>
              <a:spcAft>
                <a:spcPts val="0"/>
              </a:spcAft>
              <a:buFont typeface="Arial" panose="020B0604020202020204" pitchFamily="34" charset="0"/>
              <a:buChar char="•"/>
              <a:defRPr/>
            </a:pPr>
            <a:r>
              <a:rPr lang="zh-CN" altLang="en-US" sz="2400" b="1"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在</a:t>
            </a:r>
            <a:r>
              <a:rPr lang="en-US" altLang="zh-CN" sz="2400" b="1"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74LS00</a:t>
            </a:r>
            <a:r>
              <a:rPr lang="zh-CN" altLang="en-US" sz="2400" b="1"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中是当输入电压由</a:t>
            </a:r>
            <a:r>
              <a:rPr lang="en-US" altLang="zh-CN" sz="2400" b="1" i="1"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V</a:t>
            </a:r>
            <a:r>
              <a:rPr lang="en-US" altLang="zh-CN" sz="2400" b="1" baseline="-25000"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OFF</a:t>
            </a:r>
            <a:r>
              <a:rPr lang="zh-CN" altLang="en-US" sz="2400" b="1"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继续上升，输出电压急剧下降，当输出电压刚好降到额定低电平</a:t>
            </a:r>
            <a:r>
              <a:rPr lang="en-US" altLang="zh-CN" sz="2400" b="1" dirty="0">
                <a:solidFill>
                  <a:srgbClr val="FF0000"/>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0.4V</a:t>
            </a:r>
            <a:r>
              <a:rPr lang="zh-CN" altLang="en-US" sz="2400" b="1" dirty="0">
                <a:solidFill>
                  <a:srgbClr val="FF0000"/>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时</a:t>
            </a:r>
            <a:r>
              <a:rPr lang="zh-CN" altLang="en-US" sz="2400" b="1"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的最低输入高电平电压称</a:t>
            </a:r>
            <a:r>
              <a:rPr lang="en-US" altLang="zh-CN" sz="2400" b="1" i="1"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V</a:t>
            </a:r>
            <a:r>
              <a:rPr lang="en-US" altLang="zh-CN" sz="2400" b="1" baseline="-25000"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ON</a:t>
            </a:r>
            <a:r>
              <a:rPr lang="en-US" altLang="zh-CN" sz="2400" b="1"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 </a:t>
            </a:r>
          </a:p>
          <a:p>
            <a:pPr marL="342900" indent="-342900" fontAlgn="auto">
              <a:lnSpc>
                <a:spcPct val="150000"/>
              </a:lnSpc>
              <a:spcBef>
                <a:spcPct val="20000"/>
              </a:spcBef>
              <a:spcAft>
                <a:spcPts val="0"/>
              </a:spcAft>
              <a:buFont typeface="Arial" panose="020B0604020202020204" pitchFamily="34" charset="0"/>
              <a:buChar char="•"/>
              <a:defRPr/>
            </a:pPr>
            <a:r>
              <a:rPr lang="en-US" altLang="zh-CN" sz="2400" b="1" dirty="0" err="1">
                <a:solidFill>
                  <a:srgbClr val="FF0000"/>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Von:V</a:t>
            </a:r>
            <a:r>
              <a:rPr lang="en-US" altLang="zh-CN" sz="1600" b="1" dirty="0" err="1">
                <a:solidFill>
                  <a:srgbClr val="FF0000"/>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out</a:t>
            </a:r>
            <a:r>
              <a:rPr lang="en-US" altLang="zh-CN" sz="2400" b="1" dirty="0">
                <a:solidFill>
                  <a:srgbClr val="FF0000"/>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=0.4</a:t>
            </a:r>
            <a:r>
              <a:rPr lang="zh-CN" altLang="en-US" sz="2400" b="1" dirty="0">
                <a:solidFill>
                  <a:srgbClr val="FF0000"/>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时的</a:t>
            </a:r>
            <a:r>
              <a:rPr lang="en-US" altLang="zh-CN" sz="2400" b="1" dirty="0">
                <a:solidFill>
                  <a:srgbClr val="FF0000"/>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Vi</a:t>
            </a:r>
            <a:r>
              <a:rPr lang="zh-CN" altLang="en-US" sz="2400" b="1" dirty="0">
                <a:solidFill>
                  <a:srgbClr val="FF0000"/>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的电压值</a:t>
            </a:r>
          </a:p>
        </p:txBody>
      </p:sp>
      <p:graphicFrame>
        <p:nvGraphicFramePr>
          <p:cNvPr id="7" name="表格"/>
          <p:cNvGraphicFramePr>
            <a:graphicFrameLocks noGrp="1"/>
          </p:cNvGraphicFramePr>
          <p:nvPr/>
        </p:nvGraphicFramePr>
        <p:xfrm>
          <a:off x="7356475" y="2914798"/>
          <a:ext cx="1304925" cy="1646238"/>
        </p:xfrm>
        <a:graphic>
          <a:graphicData uri="http://schemas.openxmlformats.org/drawingml/2006/table">
            <a:tbl>
              <a:tblPr firstRow="1" bandRow="1">
                <a:tableStyleId>{2D5ABB26-0587-4C30-8999-92F81FD0307C}</a:tableStyleId>
              </a:tblPr>
              <a:tblGrid>
                <a:gridCol w="468402">
                  <a:extLst>
                    <a:ext uri="{9D8B030D-6E8A-4147-A177-3AD203B41FA5}">
                      <a16:colId xmlns:a16="http://schemas.microsoft.com/office/drawing/2014/main" val="20000"/>
                    </a:ext>
                  </a:extLst>
                </a:gridCol>
                <a:gridCol w="836523">
                  <a:extLst>
                    <a:ext uri="{9D8B030D-6E8A-4147-A177-3AD203B41FA5}">
                      <a16:colId xmlns:a16="http://schemas.microsoft.com/office/drawing/2014/main" val="20001"/>
                    </a:ext>
                  </a:extLst>
                </a:gridCol>
              </a:tblGrid>
              <a:tr h="274373">
                <a:tc>
                  <a:txBody>
                    <a:bodyPr/>
                    <a:lstStyle/>
                    <a:p>
                      <a:pPr algn="ctr"/>
                      <a:r>
                        <a:rPr lang="en-US" altLang="zh-CN" sz="1800" i="1">
                          <a:latin typeface="Times New Roman" panose="02020603050405020304" pitchFamily="18" charset="0"/>
                          <a:ea typeface="新宋体" panose="02010609030101010101" charset="-122"/>
                        </a:rPr>
                        <a:t>i</a:t>
                      </a:r>
                      <a:endParaRPr lang="zh-CN" altLang="en-US" sz="1800"/>
                    </a:p>
                  </a:txBody>
                  <a:tcPr marL="0" marR="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altLang="zh-CN" sz="1800">
                          <a:latin typeface="Times New Roman" panose="02020603050405020304" pitchFamily="18" charset="0"/>
                          <a:ea typeface="新宋体" panose="02010609030101010101" charset="-122"/>
                        </a:rPr>
                        <a:t>input</a:t>
                      </a:r>
                      <a:endParaRPr lang="zh-CN" altLang="en-US" sz="1800"/>
                    </a:p>
                  </a:txBody>
                  <a:tcPr marL="0" marR="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extLst>
                  <a:ext uri="{0D108BD9-81ED-4DB2-BD59-A6C34878D82A}">
                    <a16:rowId xmlns:a16="http://schemas.microsoft.com/office/drawing/2014/main" val="10000"/>
                  </a:ext>
                </a:extLst>
              </a:tr>
              <a:tr h="27437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i="1">
                          <a:latin typeface="Times New Roman" panose="02020603050405020304" pitchFamily="18" charset="0"/>
                          <a:ea typeface="新宋体" panose="02010609030101010101" charset="-122"/>
                        </a:rPr>
                        <a:t>o</a:t>
                      </a:r>
                      <a:endParaRPr lang="zh-CN" altLang="en-US" sz="1800"/>
                    </a:p>
                  </a:txBody>
                  <a:tcPr marL="0" marR="0" marT="0" marB="0" anchor="ctr">
                    <a:lnL w="12700" cap="flat" cmpd="sng" algn="ctr">
                      <a:solidFill>
                        <a:schemeClr val="tx1"/>
                      </a:solidFill>
                      <a:prstDash val="solid"/>
                      <a:round/>
                      <a:headEnd type="none" w="med" len="med"/>
                      <a:tailEnd type="none" w="med" len="med"/>
                    </a:lnL>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altLang="zh-CN" sz="1800">
                          <a:latin typeface="Times New Roman" panose="02020603050405020304" pitchFamily="18" charset="0"/>
                          <a:ea typeface="新宋体" panose="02010609030101010101" charset="-122"/>
                        </a:rPr>
                        <a:t>output</a:t>
                      </a:r>
                      <a:endParaRPr lang="zh-CN" altLang="en-US" sz="1800"/>
                    </a:p>
                  </a:txBody>
                  <a:tcPr marL="0" marR="0" marT="0" marB="0" anchor="ctr">
                    <a:lnR w="12700" cap="flat" cmpd="sng" algn="ctr">
                      <a:solidFill>
                        <a:schemeClr val="tx1"/>
                      </a:solidFill>
                      <a:prstDash val="solid"/>
                      <a:round/>
                      <a:headEnd type="none" w="med" len="med"/>
                      <a:tailEnd type="none" w="med" len="med"/>
                    </a:ln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extLst>
                  <a:ext uri="{0D108BD9-81ED-4DB2-BD59-A6C34878D82A}">
                    <a16:rowId xmlns:a16="http://schemas.microsoft.com/office/drawing/2014/main" val="10001"/>
                  </a:ext>
                </a:extLst>
              </a:tr>
              <a:tr h="27437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i="1">
                          <a:latin typeface="Times New Roman" panose="02020603050405020304" pitchFamily="18" charset="0"/>
                          <a:ea typeface="新宋体" panose="02010609030101010101" charset="-122"/>
                        </a:rPr>
                        <a:t>n</a:t>
                      </a:r>
                      <a:endParaRPr lang="zh-CN" altLang="en-US" sz="1800"/>
                    </a:p>
                  </a:txBody>
                  <a:tcPr marL="0" marR="0" marT="0" marB="0" anchor="ctr">
                    <a:lnL w="12700" cap="flat" cmpd="sng" algn="ctr">
                      <a:solidFill>
                        <a:schemeClr val="tx1"/>
                      </a:solidFill>
                      <a:prstDash val="solid"/>
                      <a:round/>
                      <a:headEnd type="none" w="med" len="med"/>
                      <a:tailEnd type="none" w="med" len="med"/>
                    </a:lnL>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altLang="zh-CN" sz="1800">
                          <a:latin typeface="Times New Roman" panose="02020603050405020304" pitchFamily="18" charset="0"/>
                          <a:ea typeface="新宋体" panose="02010609030101010101" charset="-122"/>
                        </a:rPr>
                        <a:t>noise</a:t>
                      </a:r>
                      <a:endParaRPr lang="zh-CN" altLang="en-US" sz="1800"/>
                    </a:p>
                  </a:txBody>
                  <a:tcPr marL="0" marR="0" marT="0" marB="0" anchor="ctr">
                    <a:lnR w="12700" cap="flat" cmpd="sng" algn="ctr">
                      <a:solidFill>
                        <a:schemeClr val="tx1"/>
                      </a:solidFill>
                      <a:prstDash val="solid"/>
                      <a:round/>
                      <a:headEnd type="none" w="med" len="med"/>
                      <a:tailEnd type="none" w="med" len="med"/>
                    </a:ln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extLst>
                  <a:ext uri="{0D108BD9-81ED-4DB2-BD59-A6C34878D82A}">
                    <a16:rowId xmlns:a16="http://schemas.microsoft.com/office/drawing/2014/main" val="10002"/>
                  </a:ext>
                </a:extLst>
              </a:tr>
              <a:tr h="27437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i="1">
                          <a:latin typeface="Times New Roman" panose="02020603050405020304" pitchFamily="18" charset="0"/>
                          <a:ea typeface="新宋体" panose="02010609030101010101" charset="-122"/>
                        </a:rPr>
                        <a:t>s</a:t>
                      </a:r>
                      <a:endParaRPr lang="zh-CN" altLang="en-US" sz="1800"/>
                    </a:p>
                  </a:txBody>
                  <a:tcPr marL="0" marR="0" marT="0" marB="0" anchor="ctr">
                    <a:lnL w="12700" cap="flat" cmpd="sng" algn="ctr">
                      <a:solidFill>
                        <a:schemeClr val="tx1"/>
                      </a:solidFill>
                      <a:prstDash val="solid"/>
                      <a:round/>
                      <a:headEnd type="none" w="med" len="med"/>
                      <a:tailEnd type="none" w="med" len="med"/>
                    </a:lnL>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altLang="zh-CN" sz="1800">
                          <a:latin typeface="Times New Roman" panose="02020603050405020304" pitchFamily="18" charset="0"/>
                          <a:ea typeface="新宋体" panose="02010609030101010101" charset="-122"/>
                        </a:rPr>
                        <a:t>source</a:t>
                      </a:r>
                      <a:endParaRPr lang="zh-CN" altLang="en-US" sz="1800"/>
                    </a:p>
                  </a:txBody>
                  <a:tcPr marL="0" marR="0" marT="0" marB="0" anchor="ctr">
                    <a:lnR w="12700" cap="flat" cmpd="sng" algn="ctr">
                      <a:solidFill>
                        <a:schemeClr val="tx1"/>
                      </a:solidFill>
                      <a:prstDash val="solid"/>
                      <a:round/>
                      <a:headEnd type="none" w="med" len="med"/>
                      <a:tailEnd type="none" w="med" len="med"/>
                    </a:ln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extLst>
                  <a:ext uri="{0D108BD9-81ED-4DB2-BD59-A6C34878D82A}">
                    <a16:rowId xmlns:a16="http://schemas.microsoft.com/office/drawing/2014/main" val="10003"/>
                  </a:ext>
                </a:extLst>
              </a:tr>
              <a:tr h="27437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i="1">
                          <a:latin typeface="Times New Roman" panose="02020603050405020304" pitchFamily="18" charset="0"/>
                          <a:ea typeface="新宋体" panose="02010609030101010101" charset="-122"/>
                        </a:rPr>
                        <a:t>H</a:t>
                      </a:r>
                      <a:endParaRPr lang="zh-CN" altLang="en-US" sz="1800"/>
                    </a:p>
                  </a:txBody>
                  <a:tcPr marL="0" marR="0" marT="0" marB="0" anchor="ctr">
                    <a:lnL w="12700" cap="flat" cmpd="sng" algn="ctr">
                      <a:solidFill>
                        <a:schemeClr val="tx1"/>
                      </a:solidFill>
                      <a:prstDash val="solid"/>
                      <a:round/>
                      <a:headEnd type="none" w="med" len="med"/>
                      <a:tailEnd type="none" w="med" len="med"/>
                    </a:lnL>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altLang="zh-CN" sz="1800">
                          <a:latin typeface="Times New Roman" panose="02020603050405020304" pitchFamily="18" charset="0"/>
                          <a:ea typeface="新宋体" panose="02010609030101010101" charset="-122"/>
                        </a:rPr>
                        <a:t>High</a:t>
                      </a:r>
                      <a:endParaRPr lang="zh-CN" altLang="en-US" sz="1800"/>
                    </a:p>
                  </a:txBody>
                  <a:tcPr marL="0" marR="0" marT="0" marB="0" anchor="ctr">
                    <a:lnR w="12700" cap="flat" cmpd="sng" algn="ctr">
                      <a:solidFill>
                        <a:schemeClr val="tx1"/>
                      </a:solidFill>
                      <a:prstDash val="solid"/>
                      <a:round/>
                      <a:headEnd type="none" w="med" len="med"/>
                      <a:tailEnd type="none" w="med" len="med"/>
                    </a:ln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extLst>
                  <a:ext uri="{0D108BD9-81ED-4DB2-BD59-A6C34878D82A}">
                    <a16:rowId xmlns:a16="http://schemas.microsoft.com/office/drawing/2014/main" val="10004"/>
                  </a:ext>
                </a:extLst>
              </a:tr>
              <a:tr h="27437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i="1">
                          <a:latin typeface="Times New Roman" panose="02020603050405020304" pitchFamily="18" charset="0"/>
                          <a:ea typeface="新宋体" panose="02010609030101010101" charset="-122"/>
                        </a:rPr>
                        <a:t>L</a:t>
                      </a:r>
                      <a:endParaRPr lang="zh-CN" altLang="en-US" sz="1800"/>
                    </a:p>
                  </a:txBody>
                  <a:tcPr marL="0" marR="0" marT="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altLang="zh-CN" sz="1800">
                          <a:latin typeface="Times New Roman" panose="02020603050405020304" pitchFamily="18" charset="0"/>
                          <a:ea typeface="新宋体" panose="02010609030101010101" charset="-122"/>
                        </a:rPr>
                        <a:t>Low</a:t>
                      </a:r>
                      <a:endParaRPr lang="zh-CN" altLang="en-US" sz="1800"/>
                    </a:p>
                  </a:txBody>
                  <a:tcPr marL="0" marR="0" marT="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fr-FR" dirty="0"/>
              <a:t>噪音容限（</a:t>
            </a:r>
            <a:r>
              <a:rPr lang="fr-FR" altLang="zh-CN" dirty="0"/>
              <a:t>Noise Margin</a:t>
            </a:r>
            <a:r>
              <a:rPr lang="zh-CN" altLang="fr-FR" dirty="0"/>
              <a:t>）</a:t>
            </a:r>
            <a:endParaRPr lang="zh-CN" altLang="en-US" dirty="0"/>
          </a:p>
        </p:txBody>
      </p:sp>
      <p:sp>
        <p:nvSpPr>
          <p:cNvPr id="3" name="内容占位符 2"/>
          <p:cNvSpPr>
            <a:spLocks noGrp="1"/>
          </p:cNvSpPr>
          <p:nvPr>
            <p:ph idx="1"/>
          </p:nvPr>
        </p:nvSpPr>
        <p:spPr>
          <a:xfrm>
            <a:off x="457200" y="1340768"/>
            <a:ext cx="8229600" cy="4525963"/>
          </a:xfrm>
        </p:spPr>
        <p:txBody>
          <a:bodyPr>
            <a:normAutofit lnSpcReduction="10000"/>
          </a:bodyPr>
          <a:lstStyle/>
          <a:p>
            <a:pPr>
              <a:lnSpc>
                <a:spcPct val="130000"/>
              </a:lnSpc>
              <a:defRPr/>
            </a:pPr>
            <a:r>
              <a:rPr lang="zh-CN" altLang="fr-FR" sz="2400" dirty="0">
                <a:solidFill>
                  <a:srgbClr val="FF0000"/>
                </a:solidFill>
                <a:latin typeface="楷体_GB2312" pitchFamily="49" charset="-122"/>
                <a:ea typeface="楷体_GB2312" pitchFamily="49" charset="-122"/>
              </a:rPr>
              <a:t>噪音容限</a:t>
            </a:r>
            <a:r>
              <a:rPr lang="zh-CN" altLang="en-US" sz="2400" dirty="0"/>
              <a:t>是指加到正常输入值上、且不会在电路的输出产生不可预料变化的最大外部噪音电压。</a:t>
            </a:r>
            <a:endParaRPr lang="en-US" altLang="zh-CN" sz="2400" dirty="0"/>
          </a:p>
          <a:p>
            <a:pPr>
              <a:lnSpc>
                <a:spcPct val="130000"/>
              </a:lnSpc>
              <a:defRPr/>
            </a:pPr>
            <a:r>
              <a:rPr lang="zh-CN" altLang="en-US" sz="2400" dirty="0"/>
              <a:t>设额定输入高电平值为</a:t>
            </a:r>
            <a:r>
              <a:rPr lang="en-US" altLang="zh-CN" sz="2400" i="1" dirty="0" err="1"/>
              <a:t>V</a:t>
            </a:r>
            <a:r>
              <a:rPr lang="en-US" altLang="zh-CN" sz="2400" i="1" baseline="-25000" dirty="0" err="1">
                <a:sym typeface="+mn-ea"/>
              </a:rPr>
              <a:t>I</a:t>
            </a:r>
            <a:r>
              <a:rPr lang="en-US" altLang="zh-CN" sz="2400" i="1" baseline="-25000" dirty="0" err="1"/>
              <a:t>H</a:t>
            </a:r>
            <a:r>
              <a:rPr lang="zh-CN" altLang="en-US" sz="2400" dirty="0"/>
              <a:t>，额定输入低电平值为</a:t>
            </a:r>
            <a:r>
              <a:rPr lang="en-US" altLang="zh-CN" sz="2400" i="1" dirty="0" err="1"/>
              <a:t>V</a:t>
            </a:r>
            <a:r>
              <a:rPr lang="en-US" altLang="zh-CN" sz="2400" i="1" baseline="-25000" dirty="0" err="1">
                <a:sym typeface="+mn-ea"/>
              </a:rPr>
              <a:t>I</a:t>
            </a:r>
            <a:r>
              <a:rPr lang="en-US" altLang="zh-CN" sz="2400" i="1" baseline="-25000" dirty="0" err="1"/>
              <a:t>L</a:t>
            </a:r>
            <a:r>
              <a:rPr lang="zh-CN" altLang="en-US" sz="2400" dirty="0"/>
              <a:t>，则 </a:t>
            </a:r>
            <a:endParaRPr lang="en-US" altLang="zh-CN" sz="2400" dirty="0"/>
          </a:p>
          <a:p>
            <a:pPr lvl="1" indent="-384175">
              <a:lnSpc>
                <a:spcPct val="130000"/>
              </a:lnSpc>
              <a:buNone/>
              <a:defRPr/>
            </a:pPr>
            <a:r>
              <a:rPr lang="zh-CN" altLang="en-US" sz="2200" dirty="0">
                <a:solidFill>
                  <a:srgbClr val="FF0000"/>
                </a:solidFill>
              </a:rPr>
              <a:t>低电平电平噪声容限</a:t>
            </a:r>
          </a:p>
          <a:p>
            <a:pPr algn="l">
              <a:lnSpc>
                <a:spcPct val="130000"/>
              </a:lnSpc>
              <a:buNone/>
              <a:defRPr/>
            </a:pPr>
            <a:r>
              <a:rPr lang="en-US" altLang="zh-CN" sz="2400" i="1" dirty="0" err="1"/>
              <a:t>V</a:t>
            </a:r>
            <a:r>
              <a:rPr lang="en-US" altLang="zh-CN" sz="2400" i="1" baseline="-25000" dirty="0" err="1"/>
              <a:t>nL</a:t>
            </a:r>
            <a:r>
              <a:rPr lang="en-US" altLang="zh-CN" sz="2400" dirty="0"/>
              <a:t> = </a:t>
            </a:r>
            <a:r>
              <a:rPr lang="en-US" altLang="zh-CN" sz="2400" i="1" dirty="0"/>
              <a:t>V</a:t>
            </a:r>
            <a:r>
              <a:rPr lang="en-US" altLang="zh-CN" sz="2400" baseline="-25000" dirty="0"/>
              <a:t>OFF</a:t>
            </a:r>
            <a:r>
              <a:rPr lang="zh-CN" altLang="en-US" sz="2400" dirty="0"/>
              <a:t>－</a:t>
            </a:r>
            <a:r>
              <a:rPr lang="en-US" altLang="zh-CN" sz="2400" i="1" dirty="0" err="1">
                <a:sym typeface="+mn-ea"/>
              </a:rPr>
              <a:t>V</a:t>
            </a:r>
            <a:r>
              <a:rPr lang="en-US" altLang="zh-CN" sz="2400" i="1" baseline="-25000" dirty="0" err="1">
                <a:sym typeface="+mn-ea"/>
              </a:rPr>
              <a:t>IL</a:t>
            </a:r>
            <a:r>
              <a:rPr lang="en-US" altLang="zh-CN" sz="2400" dirty="0"/>
              <a:t>= </a:t>
            </a:r>
            <a:r>
              <a:rPr lang="en-US" altLang="zh-CN" sz="2400" i="1" dirty="0"/>
              <a:t>V</a:t>
            </a:r>
            <a:r>
              <a:rPr lang="en-US" altLang="zh-CN" sz="2400" baseline="-25000" dirty="0"/>
              <a:t>OFF</a:t>
            </a:r>
            <a:r>
              <a:rPr lang="zh-CN" altLang="en-US" sz="2400" dirty="0"/>
              <a:t>－</a:t>
            </a:r>
            <a:r>
              <a:rPr lang="en-US" altLang="zh-CN" sz="2400" dirty="0"/>
              <a:t>0.8</a:t>
            </a:r>
          </a:p>
          <a:p>
            <a:pPr algn="l">
              <a:lnSpc>
                <a:spcPct val="130000"/>
              </a:lnSpc>
              <a:buNone/>
              <a:defRPr/>
            </a:pPr>
            <a:r>
              <a:rPr lang="en-US" altLang="zh-CN" sz="2400" dirty="0"/>
              <a:t>(</a:t>
            </a:r>
            <a:r>
              <a:rPr lang="en-US" altLang="zh-CN" sz="2400" i="1" dirty="0" err="1">
                <a:sym typeface="+mn-ea"/>
              </a:rPr>
              <a:t>V</a:t>
            </a:r>
            <a:r>
              <a:rPr lang="en-US" altLang="zh-CN" sz="2400" i="1" baseline="-25000" dirty="0" err="1">
                <a:sym typeface="+mn-ea"/>
              </a:rPr>
              <a:t>IL</a:t>
            </a:r>
            <a:r>
              <a:rPr lang="zh-CN" altLang="en-US" sz="2400" dirty="0"/>
              <a:t> ≤ </a:t>
            </a:r>
            <a:r>
              <a:rPr lang="en-US" altLang="zh-CN" sz="2400" dirty="0"/>
              <a:t>0.8)=1.36V-0.8V</a:t>
            </a:r>
          </a:p>
          <a:p>
            <a:pPr lvl="1" indent="-384175">
              <a:lnSpc>
                <a:spcPct val="130000"/>
              </a:lnSpc>
              <a:buNone/>
              <a:defRPr/>
            </a:pPr>
            <a:r>
              <a:rPr lang="zh-CN" altLang="en-US" sz="2200" dirty="0">
                <a:solidFill>
                  <a:srgbClr val="FF0000"/>
                </a:solidFill>
              </a:rPr>
              <a:t>高电平电平噪声容限</a:t>
            </a:r>
          </a:p>
          <a:p>
            <a:pPr algn="l">
              <a:lnSpc>
                <a:spcPct val="130000"/>
              </a:lnSpc>
              <a:buNone/>
              <a:defRPr/>
            </a:pPr>
            <a:r>
              <a:rPr lang="en-US" altLang="zh-CN" sz="2400" i="1" dirty="0" err="1"/>
              <a:t>V</a:t>
            </a:r>
            <a:r>
              <a:rPr lang="en-US" altLang="zh-CN" sz="2400" i="1" baseline="-25000" dirty="0" err="1"/>
              <a:t>nH</a:t>
            </a:r>
            <a:r>
              <a:rPr lang="en-US" altLang="zh-CN" sz="2400" dirty="0"/>
              <a:t> = </a:t>
            </a:r>
            <a:r>
              <a:rPr lang="en-US" altLang="zh-CN" sz="2400" i="1" dirty="0" err="1"/>
              <a:t>V</a:t>
            </a:r>
            <a:r>
              <a:rPr lang="en-US" altLang="zh-CN" sz="2400" i="1" baseline="-25000" dirty="0" err="1">
                <a:sym typeface="+mn-ea"/>
              </a:rPr>
              <a:t>I</a:t>
            </a:r>
            <a:r>
              <a:rPr lang="en-US" altLang="zh-CN" sz="2400" i="1" baseline="-25000" dirty="0" err="1"/>
              <a:t>H</a:t>
            </a:r>
            <a:r>
              <a:rPr lang="zh-CN" altLang="en-US" sz="2400" dirty="0"/>
              <a:t>－</a:t>
            </a:r>
            <a:r>
              <a:rPr lang="en-US" altLang="zh-CN" sz="2400" i="1" dirty="0"/>
              <a:t>V</a:t>
            </a:r>
            <a:r>
              <a:rPr lang="en-US" altLang="zh-CN" sz="2400" baseline="-25000" dirty="0"/>
              <a:t>ON </a:t>
            </a:r>
            <a:r>
              <a:rPr lang="en-US" altLang="zh-CN" sz="2400" dirty="0"/>
              <a:t>= 2.0V</a:t>
            </a:r>
            <a:r>
              <a:rPr lang="zh-CN" altLang="en-US" sz="2400" dirty="0"/>
              <a:t>－</a:t>
            </a:r>
            <a:r>
              <a:rPr lang="en-US" altLang="zh-CN" sz="2400" i="1" dirty="0"/>
              <a:t>V</a:t>
            </a:r>
            <a:r>
              <a:rPr lang="en-US" altLang="zh-CN" sz="2400" baseline="-25000" dirty="0"/>
              <a:t>ON </a:t>
            </a:r>
          </a:p>
          <a:p>
            <a:pPr algn="l">
              <a:lnSpc>
                <a:spcPct val="130000"/>
              </a:lnSpc>
              <a:buNone/>
              <a:defRPr/>
            </a:pPr>
            <a:r>
              <a:rPr lang="en-US" altLang="zh-CN" sz="2400" dirty="0"/>
              <a:t>  =2.0 V-1.6V</a:t>
            </a:r>
            <a:endParaRPr lang="zh-CN" altLang="en-US" dirty="0"/>
          </a:p>
        </p:txBody>
      </p:sp>
      <p:graphicFrame>
        <p:nvGraphicFramePr>
          <p:cNvPr id="5" name="对象 4"/>
          <p:cNvGraphicFramePr/>
          <p:nvPr/>
        </p:nvGraphicFramePr>
        <p:xfrm>
          <a:off x="4632325" y="2944495"/>
          <a:ext cx="3394075" cy="3586480"/>
        </p:xfrm>
        <a:graphic>
          <a:graphicData uri="http://schemas.openxmlformats.org/presentationml/2006/ole">
            <mc:AlternateContent xmlns:mc="http://schemas.openxmlformats.org/markup-compatibility/2006">
              <mc:Choice xmlns:v="urn:schemas-microsoft-com:vml" Requires="v">
                <p:oleObj spid="_x0000_s17423" r:id="rId3" imgW="3238500" imgH="3524250" progId="Paint.Picture">
                  <p:embed/>
                </p:oleObj>
              </mc:Choice>
              <mc:Fallback>
                <p:oleObj r:id="rId3" imgW="3238500" imgH="3524250" progId="Paint.Picture">
                  <p:embed/>
                  <p:pic>
                    <p:nvPicPr>
                      <p:cNvPr id="0" name="图片 5"/>
                      <p:cNvPicPr/>
                      <p:nvPr/>
                    </p:nvPicPr>
                    <p:blipFill>
                      <a:blip r:embed="rId4"/>
                      <a:stretch>
                        <a:fillRect/>
                      </a:stretch>
                    </p:blipFill>
                    <p:spPr>
                      <a:xfrm>
                        <a:off x="4632325" y="2944495"/>
                        <a:ext cx="3394075" cy="3586480"/>
                      </a:xfrm>
                      <a:prstGeom prst="rect">
                        <a:avLst/>
                      </a:prstGeom>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平均传输延迟时间</a:t>
            </a:r>
            <a:r>
              <a:rPr lang="en-US" altLang="zh-CN" i="1" dirty="0" err="1"/>
              <a:t>t</a:t>
            </a:r>
            <a:r>
              <a:rPr lang="en-US" altLang="zh-CN" i="1" baseline="-25000" dirty="0" err="1"/>
              <a:t>pd</a:t>
            </a:r>
            <a:endParaRPr lang="zh-CN" altLang="en-US" dirty="0"/>
          </a:p>
        </p:txBody>
      </p:sp>
      <p:sp>
        <p:nvSpPr>
          <p:cNvPr id="3" name="内容占位符 2"/>
          <p:cNvSpPr>
            <a:spLocks noGrp="1"/>
          </p:cNvSpPr>
          <p:nvPr>
            <p:ph idx="1"/>
          </p:nvPr>
        </p:nvSpPr>
        <p:spPr>
          <a:xfrm>
            <a:off x="457200" y="1268760"/>
            <a:ext cx="8229600" cy="4525963"/>
          </a:xfrm>
        </p:spPr>
        <p:txBody>
          <a:bodyPr>
            <a:normAutofit/>
          </a:bodyPr>
          <a:lstStyle/>
          <a:p>
            <a:pPr>
              <a:lnSpc>
                <a:spcPct val="130000"/>
              </a:lnSpc>
              <a:defRPr/>
            </a:pPr>
            <a:r>
              <a:rPr lang="zh-CN" altLang="en-US" sz="2400" dirty="0">
                <a:solidFill>
                  <a:srgbClr val="FF0000"/>
                </a:solidFill>
                <a:latin typeface="楷体_GB2312" pitchFamily="49" charset="-122"/>
                <a:ea typeface="楷体_GB2312" pitchFamily="49" charset="-122"/>
              </a:rPr>
              <a:t>传输时间</a:t>
            </a:r>
            <a:r>
              <a:rPr lang="zh-CN" altLang="en-US" sz="2400" dirty="0"/>
              <a:t>是一个动态参数，是晶体管</a:t>
            </a:r>
            <a:r>
              <a:rPr lang="en-US" altLang="zh-CN" sz="2400" dirty="0"/>
              <a:t>PN</a:t>
            </a:r>
            <a:r>
              <a:rPr lang="zh-CN" altLang="en-US" sz="2400" dirty="0"/>
              <a:t>节电容、分布寄生电容、负载电容等充放电时间引起的输出信号滞后于输入信号一定时间的参数</a:t>
            </a:r>
          </a:p>
          <a:p>
            <a:pPr>
              <a:lnSpc>
                <a:spcPct val="130000"/>
              </a:lnSpc>
              <a:defRPr/>
            </a:pPr>
            <a:r>
              <a:rPr lang="zh-CN" altLang="en-US" sz="1600" dirty="0"/>
              <a:t>（</a:t>
            </a:r>
            <a:r>
              <a:rPr lang="en-US" altLang="zh-CN" sz="1600" dirty="0"/>
              <a:t>寄生的含义就是本来没有在那个地方设计电容，但由于布线之间总是有互容，互容就好像是寄生在布线之间的一样，所以叫</a:t>
            </a:r>
            <a:r>
              <a:rPr lang="en-US" altLang="zh-CN" sz="1600" dirty="0">
                <a:solidFill>
                  <a:schemeClr val="accent2">
                    <a:lumMod val="75000"/>
                  </a:schemeClr>
                </a:solidFill>
              </a:rPr>
              <a:t>寄生电容</a:t>
            </a:r>
            <a:r>
              <a:rPr lang="en-US" altLang="zh-CN" sz="1600" dirty="0"/>
              <a:t>，又称杂散电容，寄生电容一般是指电感，电阻，芯片引脚等在高频情况下表现出来的电容特性.</a:t>
            </a:r>
            <a:r>
              <a:rPr lang="en-US" altLang="zh-CN" sz="1600" dirty="0">
                <a:solidFill>
                  <a:schemeClr val="accent6"/>
                </a:solidFill>
                <a:effectLst>
                  <a:outerShdw blurRad="38100" dist="25400" dir="5400000" algn="ctr" rotWithShape="0">
                    <a:srgbClr val="6E747A">
                      <a:alpha val="43000"/>
                    </a:srgbClr>
                  </a:outerShdw>
                </a:effectLst>
              </a:rPr>
              <a:t>负载电容是指晶振的两条引线连接IC块内部及外部所有有效电容之和，可看作晶振片在电路中串接电容</a:t>
            </a:r>
            <a:r>
              <a:rPr lang="zh-CN" altLang="en-US" sz="1600" dirty="0"/>
              <a:t>）</a:t>
            </a:r>
          </a:p>
          <a:p>
            <a:pPr>
              <a:lnSpc>
                <a:spcPct val="130000"/>
              </a:lnSpc>
              <a:defRPr/>
            </a:pPr>
            <a:r>
              <a:rPr lang="zh-CN" altLang="en-US" sz="2400" dirty="0"/>
              <a:t>平均传输时间</a:t>
            </a:r>
            <a:r>
              <a:rPr lang="en-US" altLang="zh-CN" sz="2400" i="1" dirty="0" err="1"/>
              <a:t>t</a:t>
            </a:r>
            <a:r>
              <a:rPr lang="en-US" altLang="zh-CN" sz="2400" i="1" baseline="-25000" dirty="0" err="1"/>
              <a:t>pd</a:t>
            </a:r>
            <a:r>
              <a:rPr lang="zh-CN" altLang="en-US" sz="2400" dirty="0"/>
              <a:t>由两部分构成</a:t>
            </a:r>
            <a:endParaRPr lang="en-US" altLang="zh-CN" sz="2400" dirty="0"/>
          </a:p>
          <a:p>
            <a:pPr lvl="1">
              <a:lnSpc>
                <a:spcPct val="130000"/>
              </a:lnSpc>
              <a:defRPr/>
            </a:pPr>
            <a:r>
              <a:rPr lang="zh-CN" altLang="en-US" sz="2200" dirty="0"/>
              <a:t>从高电平跃迁到低电平滞后时间 </a:t>
            </a:r>
            <a:r>
              <a:rPr lang="en-US" altLang="zh-CN" sz="2200" i="1" dirty="0" err="1"/>
              <a:t>t</a:t>
            </a:r>
            <a:r>
              <a:rPr lang="en-US" altLang="zh-CN" sz="2200" i="1" baseline="-25000" dirty="0" err="1"/>
              <a:t>PHL</a:t>
            </a:r>
            <a:endParaRPr lang="en-US" altLang="zh-CN" sz="2200" i="1" baseline="-25000" dirty="0"/>
          </a:p>
          <a:p>
            <a:pPr lvl="1">
              <a:lnSpc>
                <a:spcPct val="130000"/>
              </a:lnSpc>
              <a:defRPr/>
            </a:pPr>
            <a:r>
              <a:rPr lang="zh-CN" altLang="en-US" sz="2200" dirty="0"/>
              <a:t>从低电平跃迁到高电平滞后时间 </a:t>
            </a:r>
            <a:r>
              <a:rPr lang="en-US" altLang="zh-CN" sz="2200" i="1" dirty="0" err="1"/>
              <a:t>t</a:t>
            </a:r>
            <a:r>
              <a:rPr lang="en-US" altLang="zh-CN" sz="2200" i="1" baseline="-25000" dirty="0" err="1"/>
              <a:t>PLH</a:t>
            </a:r>
            <a:endParaRPr lang="zh-CN" altLang="en-US" sz="2200" dirty="0"/>
          </a:p>
          <a:p>
            <a:pPr>
              <a:lnSpc>
                <a:spcPct val="130000"/>
              </a:lnSpc>
            </a:pPr>
            <a:endParaRPr lang="zh-CN" altLang="en-US" dirty="0"/>
          </a:p>
        </p:txBody>
      </p:sp>
      <p:graphicFrame>
        <p:nvGraphicFramePr>
          <p:cNvPr id="4" name="对象 3"/>
          <p:cNvGraphicFramePr/>
          <p:nvPr/>
        </p:nvGraphicFramePr>
        <p:xfrm>
          <a:off x="2202656" y="4365104"/>
          <a:ext cx="4673600" cy="2187575"/>
        </p:xfrm>
        <a:graphic>
          <a:graphicData uri="http://schemas.openxmlformats.org/presentationml/2006/ole">
            <mc:AlternateContent xmlns:mc="http://schemas.openxmlformats.org/markup-compatibility/2006">
              <mc:Choice xmlns:v="urn:schemas-microsoft-com:vml" Requires="v">
                <p:oleObj spid="_x0000_s9256" name="Visio" r:id="rId3" imgW="3195320" imgH="1520825" progId="Visio.Drawing.11">
                  <p:embed/>
                </p:oleObj>
              </mc:Choice>
              <mc:Fallback>
                <p:oleObj name="Visio" r:id="rId3" imgW="3195320" imgH="1520825" progId="Visio.Drawing.11">
                  <p:embed/>
                  <p:pic>
                    <p:nvPicPr>
                      <p:cNvPr id="0" name="符号和折线图"/>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2656" y="4365104"/>
                        <a:ext cx="4673600" cy="218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平均传输延迟时间</a:t>
            </a:r>
            <a:r>
              <a:rPr lang="en-US" altLang="zh-CN" i="1" dirty="0" err="1"/>
              <a:t>t</a:t>
            </a:r>
            <a:r>
              <a:rPr lang="en-US" altLang="zh-CN" i="1" baseline="-25000" dirty="0" err="1"/>
              <a:t>pd</a:t>
            </a:r>
            <a:endParaRPr lang="zh-CN" altLang="en-US" dirty="0"/>
          </a:p>
        </p:txBody>
      </p:sp>
      <p:sp>
        <p:nvSpPr>
          <p:cNvPr id="3" name="内容占位符 2"/>
          <p:cNvSpPr>
            <a:spLocks noGrp="1"/>
          </p:cNvSpPr>
          <p:nvPr>
            <p:ph idx="1"/>
          </p:nvPr>
        </p:nvSpPr>
        <p:spPr>
          <a:xfrm>
            <a:off x="457200" y="1423317"/>
            <a:ext cx="8229600" cy="4525963"/>
          </a:xfrm>
        </p:spPr>
        <p:txBody>
          <a:bodyPr>
            <a:noAutofit/>
          </a:bodyPr>
          <a:lstStyle/>
          <a:p>
            <a:pPr>
              <a:lnSpc>
                <a:spcPct val="130000"/>
              </a:lnSpc>
              <a:defRPr/>
            </a:pPr>
            <a:r>
              <a:rPr lang="zh-CN" altLang="en-US" sz="2400" dirty="0"/>
              <a:t>平均延迟时间一般把电压的最大和最小值的中间</a:t>
            </a:r>
            <a:r>
              <a:rPr lang="en-US" altLang="zh-CN" sz="2400" dirty="0"/>
              <a:t>50</a:t>
            </a:r>
            <a:r>
              <a:rPr lang="zh-CN" altLang="en-US" sz="2400" dirty="0"/>
              <a:t>％点作为时间参考点，测出</a:t>
            </a:r>
            <a:r>
              <a:rPr lang="en-US" altLang="zh-CN" sz="2400" i="1" dirty="0" err="1"/>
              <a:t>t</a:t>
            </a:r>
            <a:r>
              <a:rPr lang="en-US" altLang="zh-CN" sz="2400" i="1" baseline="-25000" dirty="0" err="1"/>
              <a:t>PHL</a:t>
            </a:r>
            <a:r>
              <a:rPr lang="en-US" altLang="zh-CN" sz="2400" dirty="0"/>
              <a:t> </a:t>
            </a:r>
            <a:r>
              <a:rPr lang="zh-CN" altLang="en-US" sz="2400" dirty="0"/>
              <a:t>和</a:t>
            </a:r>
            <a:r>
              <a:rPr lang="en-US" altLang="zh-CN" sz="2400" i="1" dirty="0" err="1"/>
              <a:t>t</a:t>
            </a:r>
            <a:r>
              <a:rPr lang="en-US" altLang="zh-CN" sz="2400" i="1" baseline="-25000" dirty="0" err="1"/>
              <a:t>PLH</a:t>
            </a:r>
            <a:r>
              <a:rPr lang="zh-CN" altLang="en-US" sz="2400" dirty="0"/>
              <a:t>后求其平均值：</a:t>
            </a:r>
          </a:p>
          <a:p>
            <a:pPr algn="ctr">
              <a:lnSpc>
                <a:spcPct val="130000"/>
              </a:lnSpc>
              <a:buNone/>
              <a:defRPr/>
            </a:pPr>
            <a:r>
              <a:rPr lang="en-US" altLang="zh-CN" sz="2400" i="1" dirty="0" err="1"/>
              <a:t>t</a:t>
            </a:r>
            <a:r>
              <a:rPr lang="en-US" altLang="zh-CN" sz="2400" i="1" baseline="-25000" dirty="0" err="1"/>
              <a:t>pd</a:t>
            </a:r>
            <a:r>
              <a:rPr lang="en-US" altLang="zh-CN" sz="2400" i="1" baseline="-25000" dirty="0"/>
              <a:t> </a:t>
            </a:r>
            <a:r>
              <a:rPr lang="zh-CN" altLang="en-US" sz="2400" dirty="0"/>
              <a:t>＝</a:t>
            </a:r>
            <a:r>
              <a:rPr lang="en-US" altLang="zh-CN" sz="2400" dirty="0"/>
              <a:t> (</a:t>
            </a:r>
            <a:r>
              <a:rPr lang="en-US" altLang="zh-CN" sz="2400" i="1" dirty="0" err="1"/>
              <a:t>t</a:t>
            </a:r>
            <a:r>
              <a:rPr lang="en-US" altLang="zh-CN" sz="2400" i="1" baseline="-25000" dirty="0" err="1"/>
              <a:t>PHL</a:t>
            </a:r>
            <a:r>
              <a:rPr lang="zh-CN" altLang="en-US" sz="2400" dirty="0"/>
              <a:t>＋</a:t>
            </a:r>
            <a:r>
              <a:rPr lang="en-US" altLang="zh-CN" sz="2400" i="1" dirty="0" err="1"/>
              <a:t>t</a:t>
            </a:r>
            <a:r>
              <a:rPr lang="en-US" altLang="zh-CN" sz="2400" i="1" baseline="-25000" dirty="0" err="1"/>
              <a:t>PLH</a:t>
            </a:r>
            <a:r>
              <a:rPr lang="en-US" altLang="zh-CN" sz="2400" dirty="0"/>
              <a:t>)</a:t>
            </a:r>
            <a:r>
              <a:rPr lang="zh-CN" altLang="en-US" sz="2400" dirty="0"/>
              <a:t>／</a:t>
            </a:r>
            <a:r>
              <a:rPr lang="en-US" altLang="zh-CN" sz="2400" dirty="0"/>
              <a:t>2</a:t>
            </a:r>
            <a:endParaRPr lang="zh-CN" altLang="en-US" sz="2400" dirty="0"/>
          </a:p>
          <a:p>
            <a:pPr>
              <a:lnSpc>
                <a:spcPct val="130000"/>
              </a:lnSpc>
              <a:defRPr/>
            </a:pPr>
            <a:r>
              <a:rPr lang="zh-CN" altLang="en-US" sz="2400" dirty="0"/>
              <a:t>为提高测量精度，采用环形振荡器测量传输延迟时间：假设每个</a:t>
            </a:r>
            <a:r>
              <a:rPr lang="zh-CN" altLang="en-US" sz="2400" dirty="0">
                <a:latin typeface="楷体_GB2312" pitchFamily="49" charset="-122"/>
                <a:ea typeface="楷体_GB2312" pitchFamily="49" charset="-122"/>
              </a:rPr>
              <a:t>与非门</a:t>
            </a:r>
            <a:r>
              <a:rPr lang="zh-CN" altLang="en-US" sz="2400" dirty="0"/>
              <a:t>延迟时间相同，则振荡器周期 </a:t>
            </a:r>
            <a:r>
              <a:rPr lang="en-US" altLang="zh-CN" sz="2400" i="1" dirty="0"/>
              <a:t>T</a:t>
            </a:r>
            <a:r>
              <a:rPr lang="zh-CN" altLang="en-US" sz="2400" dirty="0"/>
              <a:t>＝</a:t>
            </a:r>
            <a:r>
              <a:rPr lang="en-US" altLang="zh-CN" sz="2400" dirty="0"/>
              <a:t>6 </a:t>
            </a:r>
            <a:r>
              <a:rPr lang="en-US" altLang="zh-CN" sz="2400" i="1" dirty="0" err="1"/>
              <a:t>t</a:t>
            </a:r>
            <a:r>
              <a:rPr lang="en-US" altLang="zh-CN" sz="2400" i="1" baseline="-25000" dirty="0" err="1"/>
              <a:t>pd</a:t>
            </a:r>
            <a:endParaRPr lang="en-US" altLang="zh-CN" sz="2400" i="1" baseline="-25000" dirty="0"/>
          </a:p>
          <a:p>
            <a:pPr>
              <a:lnSpc>
                <a:spcPct val="130000"/>
              </a:lnSpc>
              <a:defRPr/>
            </a:pPr>
            <a:r>
              <a:rPr lang="zh-CN" altLang="en-US" sz="2400" dirty="0"/>
              <a:t>一个逻辑门的延迟时间为 </a:t>
            </a:r>
            <a:r>
              <a:rPr lang="en-US" altLang="zh-CN" sz="2400" i="1" dirty="0"/>
              <a:t>T</a:t>
            </a:r>
            <a:r>
              <a:rPr lang="en-US" altLang="zh-CN" sz="2400" dirty="0"/>
              <a:t> / 6</a:t>
            </a:r>
            <a:endParaRPr lang="zh-CN" altLang="en-US" sz="2400" i="1" baseline="-25000" dirty="0"/>
          </a:p>
          <a:p>
            <a:endParaRPr lang="zh-CN" altLang="en-US" sz="2400" dirty="0"/>
          </a:p>
        </p:txBody>
      </p:sp>
      <p:graphicFrame>
        <p:nvGraphicFramePr>
          <p:cNvPr id="4" name="对象 3"/>
          <p:cNvGraphicFramePr>
            <a:graphicFrameLocks noChangeAspect="1"/>
          </p:cNvGraphicFramePr>
          <p:nvPr/>
        </p:nvGraphicFramePr>
        <p:xfrm>
          <a:off x="1630188" y="4509120"/>
          <a:ext cx="6326188" cy="2225675"/>
        </p:xfrm>
        <a:graphic>
          <a:graphicData uri="http://schemas.openxmlformats.org/presentationml/2006/ole">
            <mc:AlternateContent xmlns:mc="http://schemas.openxmlformats.org/markup-compatibility/2006">
              <mc:Choice xmlns:v="urn:schemas-microsoft-com:vml" Requires="v">
                <p:oleObj spid="_x0000_s11303" name="Visio" r:id="rId3" imgW="4114800" imgH="1461135" progId="Visio.Drawing.11">
                  <p:embed/>
                </p:oleObj>
              </mc:Choice>
              <mc:Fallback>
                <p:oleObj name="Visio" r:id="rId3" imgW="4114800" imgH="1461135" progId="Visio.Drawing.11">
                  <p:embed/>
                  <p:pic>
                    <p:nvPicPr>
                      <p:cNvPr id="0" name="电路图"/>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0188" y="4509120"/>
                        <a:ext cx="6326188" cy="222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平均传输延迟时间</a:t>
            </a:r>
            <a:r>
              <a:rPr lang="en-US" altLang="zh-CN" i="1" dirty="0" err="1"/>
              <a:t>t</a:t>
            </a:r>
            <a:r>
              <a:rPr lang="en-US" altLang="zh-CN" i="1" baseline="-25000" dirty="0" err="1"/>
              <a:t>pd</a:t>
            </a:r>
            <a:r>
              <a:rPr lang="zh-CN" altLang="en-US" dirty="0">
                <a:sym typeface="+mn-ea"/>
              </a:rPr>
              <a:t>测量原理</a:t>
            </a:r>
            <a:endParaRPr lang="zh-CN" altLang="en-US" dirty="0"/>
          </a:p>
        </p:txBody>
      </p:sp>
      <p:sp>
        <p:nvSpPr>
          <p:cNvPr id="3" name="内容占位符 2"/>
          <p:cNvSpPr>
            <a:spLocks noGrp="1"/>
          </p:cNvSpPr>
          <p:nvPr>
            <p:ph idx="1"/>
          </p:nvPr>
        </p:nvSpPr>
        <p:spPr>
          <a:xfrm>
            <a:off x="457200" y="1423317"/>
            <a:ext cx="8229600" cy="4525963"/>
          </a:xfrm>
        </p:spPr>
        <p:txBody>
          <a:bodyPr>
            <a:noAutofit/>
          </a:bodyPr>
          <a:lstStyle/>
          <a:p>
            <a:pPr>
              <a:lnSpc>
                <a:spcPct val="130000"/>
              </a:lnSpc>
              <a:defRPr/>
            </a:pPr>
            <a:r>
              <a:rPr lang="en-US" altLang="zh-CN" sz="2400" baseline="-25000" dirty="0"/>
              <a:t>74LS00</a:t>
            </a:r>
            <a:r>
              <a:rPr lang="zh-CN" altLang="en-US" sz="2400" baseline="-25000" dirty="0">
                <a:sym typeface="+mn-ea"/>
              </a:rPr>
              <a:t>与非门传输延迟测量</a:t>
            </a:r>
            <a:r>
              <a:rPr lang="zh-CN" altLang="en-US" sz="2400" dirty="0">
                <a:sym typeface="+mn-ea"/>
              </a:rPr>
              <a:t>：</a:t>
            </a:r>
            <a:r>
              <a:rPr lang="en-US" altLang="zh-CN" sz="2400" baseline="-25000" dirty="0">
                <a:sym typeface="+mn-ea"/>
              </a:rPr>
              <a:t>3</a:t>
            </a:r>
            <a:r>
              <a:rPr lang="zh-CN" altLang="en-US" sz="2400" baseline="-25000" dirty="0">
                <a:sym typeface="+mn-ea"/>
              </a:rPr>
              <a:t>个</a:t>
            </a:r>
            <a:r>
              <a:rPr lang="en-US" altLang="zh-CN" sz="2400" baseline="-25000" dirty="0">
                <a:sym typeface="+mn-ea"/>
              </a:rPr>
              <a:t>74LS00</a:t>
            </a:r>
            <a:r>
              <a:rPr lang="zh-CN" altLang="en-US" sz="2400" baseline="-25000" dirty="0">
                <a:sym typeface="+mn-ea"/>
              </a:rPr>
              <a:t>门串联，</a:t>
            </a:r>
            <a:r>
              <a:rPr lang="en-US" altLang="zh-CN" sz="2400" baseline="-25000" dirty="0">
                <a:sym typeface="+mn-ea"/>
              </a:rPr>
              <a:t>4</a:t>
            </a:r>
            <a:r>
              <a:rPr lang="zh-CN" altLang="en-US" sz="2400" baseline="-25000" dirty="0">
                <a:sym typeface="+mn-ea"/>
              </a:rPr>
              <a:t>个可以吗？</a:t>
            </a:r>
            <a:endParaRPr lang="en-US" altLang="zh-CN" sz="2400" baseline="-25000" dirty="0">
              <a:sym typeface="+mn-ea"/>
            </a:endParaRPr>
          </a:p>
          <a:p>
            <a:pPr>
              <a:lnSpc>
                <a:spcPct val="130000"/>
              </a:lnSpc>
              <a:defRPr/>
            </a:pPr>
            <a:r>
              <a:rPr lang="en-US" altLang="zh-CN" sz="2400" baseline="-25000" dirty="0">
                <a:sym typeface="+mn-ea"/>
              </a:rPr>
              <a:t>CD4001</a:t>
            </a:r>
            <a:r>
              <a:rPr lang="zh-CN" altLang="en-US" sz="2400" baseline="-25000" dirty="0">
                <a:sym typeface="+mn-ea"/>
              </a:rPr>
              <a:t>或非门传输延迟测量： </a:t>
            </a:r>
            <a:r>
              <a:rPr lang="en-US" altLang="zh-CN" sz="2400" baseline="-25000" dirty="0">
                <a:sym typeface="+mn-ea"/>
              </a:rPr>
              <a:t>3</a:t>
            </a:r>
            <a:r>
              <a:rPr lang="zh-CN" altLang="en-US" sz="2400" baseline="-25000" dirty="0">
                <a:sym typeface="+mn-ea"/>
              </a:rPr>
              <a:t>个</a:t>
            </a:r>
            <a:r>
              <a:rPr lang="en-US" altLang="zh-CN" sz="2400" baseline="-25000" dirty="0">
                <a:sym typeface="+mn-ea"/>
              </a:rPr>
              <a:t>74LS00</a:t>
            </a:r>
            <a:r>
              <a:rPr lang="zh-CN" altLang="en-US" sz="2400" baseline="-25000" dirty="0">
                <a:sym typeface="+mn-ea"/>
              </a:rPr>
              <a:t>门串联</a:t>
            </a:r>
          </a:p>
        </p:txBody>
      </p:sp>
      <p:graphicFrame>
        <p:nvGraphicFramePr>
          <p:cNvPr id="5" name="对象 4"/>
          <p:cNvGraphicFramePr/>
          <p:nvPr/>
        </p:nvGraphicFramePr>
        <p:xfrm>
          <a:off x="1315085" y="2826385"/>
          <a:ext cx="6824980" cy="3122930"/>
        </p:xfrm>
        <a:graphic>
          <a:graphicData uri="http://schemas.openxmlformats.org/presentationml/2006/ole">
            <mc:AlternateContent xmlns:mc="http://schemas.openxmlformats.org/markup-compatibility/2006">
              <mc:Choice xmlns:v="urn:schemas-microsoft-com:vml" Requires="v">
                <p:oleObj spid="_x0000_s18447" r:id="rId3" imgW="6819900" imgH="3810000" progId="Paint.Picture">
                  <p:embed/>
                </p:oleObj>
              </mc:Choice>
              <mc:Fallback>
                <p:oleObj r:id="rId3" imgW="6819900" imgH="3810000" progId="Paint.Picture">
                  <p:embed/>
                  <p:pic>
                    <p:nvPicPr>
                      <p:cNvPr id="0" name="图片 5"/>
                      <p:cNvPicPr/>
                      <p:nvPr/>
                    </p:nvPicPr>
                    <p:blipFill>
                      <a:blip r:embed="rId4"/>
                      <a:stretch>
                        <a:fillRect/>
                      </a:stretch>
                    </p:blipFill>
                    <p:spPr>
                      <a:xfrm>
                        <a:off x="1315085" y="2826385"/>
                        <a:ext cx="6824980" cy="3122930"/>
                      </a:xfrm>
                      <a:prstGeom prst="rect">
                        <a:avLst/>
                      </a:prstGeom>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空载导通功耗 </a:t>
            </a:r>
            <a:r>
              <a:rPr lang="en-US" altLang="zh-CN" i="1" dirty="0"/>
              <a:t>P</a:t>
            </a:r>
            <a:r>
              <a:rPr lang="en-US" altLang="zh-CN" baseline="-25000" dirty="0"/>
              <a:t>ON</a:t>
            </a:r>
            <a:endParaRPr lang="zh-CN" altLang="en-US" dirty="0"/>
          </a:p>
        </p:txBody>
      </p:sp>
      <p:sp>
        <p:nvSpPr>
          <p:cNvPr id="3" name="内容占位符 2"/>
          <p:cNvSpPr>
            <a:spLocks noGrp="1"/>
          </p:cNvSpPr>
          <p:nvPr>
            <p:ph idx="1"/>
          </p:nvPr>
        </p:nvSpPr>
        <p:spPr>
          <a:xfrm>
            <a:off x="457200" y="1024890"/>
            <a:ext cx="8229600" cy="2437130"/>
          </a:xfrm>
        </p:spPr>
        <p:txBody>
          <a:bodyPr>
            <a:normAutofit/>
          </a:bodyPr>
          <a:lstStyle/>
          <a:p>
            <a:pPr>
              <a:lnSpc>
                <a:spcPct val="150000"/>
              </a:lnSpc>
            </a:pPr>
            <a:r>
              <a:rPr lang="zh-CN" altLang="en-US" dirty="0">
                <a:solidFill>
                  <a:srgbClr val="FF0000"/>
                </a:solidFill>
              </a:rPr>
              <a:t>空载导通功耗 </a:t>
            </a:r>
            <a:r>
              <a:rPr lang="en-US" altLang="zh-CN" dirty="0"/>
              <a:t>PON</a:t>
            </a:r>
            <a:r>
              <a:rPr lang="zh-CN" altLang="en-US" dirty="0"/>
              <a:t>是指</a:t>
            </a:r>
            <a:r>
              <a:rPr lang="zh-CN" altLang="en-US" dirty="0">
                <a:solidFill>
                  <a:srgbClr val="FF0000"/>
                </a:solidFill>
              </a:rPr>
              <a:t>输出端为低电平</a:t>
            </a:r>
            <a:r>
              <a:rPr lang="zh-CN" altLang="en-US" dirty="0"/>
              <a:t>且不接负载时的器件功耗，用于衡量器件输出导通时的器件功耗</a:t>
            </a:r>
          </a:p>
          <a:p>
            <a:pPr>
              <a:lnSpc>
                <a:spcPct val="150000"/>
              </a:lnSpc>
            </a:pPr>
            <a:endParaRPr lang="zh-CN" altLang="en-US" dirty="0"/>
          </a:p>
          <a:p>
            <a:pPr>
              <a:lnSpc>
                <a:spcPct val="150000"/>
              </a:lnSpc>
            </a:pPr>
            <a:endParaRPr lang="zh-CN" altLang="en-US" dirty="0"/>
          </a:p>
        </p:txBody>
      </p:sp>
      <p:graphicFrame>
        <p:nvGraphicFramePr>
          <p:cNvPr id="4" name="对象 3"/>
          <p:cNvGraphicFramePr/>
          <p:nvPr/>
        </p:nvGraphicFramePr>
        <p:xfrm>
          <a:off x="6198870" y="3612515"/>
          <a:ext cx="2487930" cy="2459355"/>
        </p:xfrm>
        <a:graphic>
          <a:graphicData uri="http://schemas.openxmlformats.org/presentationml/2006/ole">
            <mc:AlternateContent xmlns:mc="http://schemas.openxmlformats.org/markup-compatibility/2006">
              <mc:Choice xmlns:v="urn:schemas-microsoft-com:vml" Requires="v">
                <p:oleObj spid="_x0000_s21519" r:id="rId3" imgW="2486025" imgH="2457450" progId="Paint.Picture">
                  <p:embed/>
                </p:oleObj>
              </mc:Choice>
              <mc:Fallback>
                <p:oleObj r:id="rId3" imgW="2486025" imgH="2457450" progId="Paint.Picture">
                  <p:embed/>
                  <p:pic>
                    <p:nvPicPr>
                      <p:cNvPr id="0" name="图片 4"/>
                      <p:cNvPicPr/>
                      <p:nvPr/>
                    </p:nvPicPr>
                    <p:blipFill>
                      <a:blip r:embed="rId4"/>
                      <a:stretch>
                        <a:fillRect/>
                      </a:stretch>
                    </p:blipFill>
                    <p:spPr>
                      <a:xfrm>
                        <a:off x="6198870" y="3612515"/>
                        <a:ext cx="2487930" cy="2459355"/>
                      </a:xfrm>
                      <a:prstGeom prst="rect">
                        <a:avLst/>
                      </a:prstGeom>
                    </p:spPr>
                  </p:pic>
                </p:oleObj>
              </mc:Fallback>
            </mc:AlternateContent>
          </a:graphicData>
        </a:graphic>
      </p:graphicFrame>
      <p:sp>
        <p:nvSpPr>
          <p:cNvPr id="6" name="文本框 5"/>
          <p:cNvSpPr txBox="1"/>
          <p:nvPr/>
        </p:nvSpPr>
        <p:spPr>
          <a:xfrm>
            <a:off x="728980" y="3301365"/>
            <a:ext cx="5142865" cy="3082290"/>
          </a:xfrm>
          <a:prstGeom prst="rect">
            <a:avLst/>
          </a:prstGeom>
          <a:noFill/>
        </p:spPr>
        <p:txBody>
          <a:bodyPr wrap="square" rtlCol="0">
            <a:spAutoFit/>
          </a:bodyPr>
          <a:lstStyle/>
          <a:p>
            <a:r>
              <a:rPr lang="zh-CN" altLang="en-US" sz="2800" b="1" dirty="0">
                <a:solidFill>
                  <a:schemeClr val="tx2">
                    <a:lumMod val="60000"/>
                    <a:lumOff val="40000"/>
                  </a:schemeClr>
                </a:solidFill>
                <a:sym typeface="+mn-ea"/>
              </a:rPr>
              <a:t>在</a:t>
            </a:r>
            <a:r>
              <a:rPr lang="en-US" altLang="zh-CN" sz="2800" b="1" dirty="0">
                <a:solidFill>
                  <a:schemeClr val="tx2">
                    <a:lumMod val="60000"/>
                    <a:lumOff val="40000"/>
                  </a:schemeClr>
                </a:solidFill>
                <a:sym typeface="+mn-ea"/>
              </a:rPr>
              <a:t>74LS00</a:t>
            </a:r>
            <a:r>
              <a:rPr lang="zh-CN" altLang="en-US" sz="2800" b="1" dirty="0">
                <a:solidFill>
                  <a:schemeClr val="tx2">
                    <a:lumMod val="60000"/>
                    <a:lumOff val="40000"/>
                  </a:schemeClr>
                </a:solidFill>
                <a:sym typeface="+mn-ea"/>
              </a:rPr>
              <a:t>中是指输入端均接高电平时，输出端为低电平且不接负载时的器件功耗。</a:t>
            </a:r>
          </a:p>
          <a:p>
            <a:r>
              <a:rPr lang="zh-CN" altLang="en-US" sz="2800"/>
              <a:t>功耗：指的是在单位时间中所消耗的能源的数量，单位为W。电路中指整机或设备所需的电源功率</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空载截止功耗</a:t>
            </a:r>
            <a:r>
              <a:rPr lang="en-US" altLang="zh-CN" i="1" dirty="0"/>
              <a:t>P</a:t>
            </a:r>
            <a:r>
              <a:rPr lang="en-US" altLang="zh-CN" baseline="-25000" dirty="0"/>
              <a:t>OFF</a:t>
            </a:r>
            <a:endParaRPr lang="zh-CN" altLang="en-US" dirty="0"/>
          </a:p>
        </p:txBody>
      </p:sp>
      <p:sp>
        <p:nvSpPr>
          <p:cNvPr id="3" name="内容占位符 2"/>
          <p:cNvSpPr>
            <a:spLocks noGrp="1"/>
          </p:cNvSpPr>
          <p:nvPr>
            <p:ph idx="1"/>
          </p:nvPr>
        </p:nvSpPr>
        <p:spPr>
          <a:xfrm>
            <a:off x="457200" y="1340485"/>
            <a:ext cx="8229600" cy="2305050"/>
          </a:xfrm>
        </p:spPr>
        <p:txBody>
          <a:bodyPr>
            <a:normAutofit/>
          </a:bodyPr>
          <a:lstStyle/>
          <a:p>
            <a:pPr>
              <a:lnSpc>
                <a:spcPct val="150000"/>
              </a:lnSpc>
            </a:pPr>
            <a:r>
              <a:rPr lang="zh-CN" altLang="en-US" dirty="0">
                <a:solidFill>
                  <a:srgbClr val="FF0000"/>
                </a:solidFill>
              </a:rPr>
              <a:t>空载截止功耗</a:t>
            </a:r>
            <a:r>
              <a:rPr lang="en-US" altLang="zh-CN" dirty="0"/>
              <a:t>POFF</a:t>
            </a:r>
            <a:r>
              <a:rPr lang="zh-CN" altLang="en-US" dirty="0"/>
              <a:t>是指输出端为</a:t>
            </a:r>
            <a:r>
              <a:rPr lang="zh-CN" altLang="en-US" dirty="0">
                <a:solidFill>
                  <a:srgbClr val="FF0000"/>
                </a:solidFill>
              </a:rPr>
              <a:t>高电平</a:t>
            </a:r>
            <a:r>
              <a:rPr lang="zh-CN" altLang="en-US" dirty="0"/>
              <a:t>且不接负载时的器件功耗，用于衡量器件输出截止时的器件功耗</a:t>
            </a:r>
          </a:p>
          <a:p>
            <a:pPr>
              <a:lnSpc>
                <a:spcPct val="150000"/>
              </a:lnSpc>
            </a:pPr>
            <a:endParaRPr lang="zh-CN" altLang="en-US" dirty="0"/>
          </a:p>
        </p:txBody>
      </p:sp>
      <p:graphicFrame>
        <p:nvGraphicFramePr>
          <p:cNvPr id="4" name="对象 3"/>
          <p:cNvGraphicFramePr/>
          <p:nvPr/>
        </p:nvGraphicFramePr>
        <p:xfrm>
          <a:off x="5903595" y="2933700"/>
          <a:ext cx="2649855" cy="3364865"/>
        </p:xfrm>
        <a:graphic>
          <a:graphicData uri="http://schemas.openxmlformats.org/presentationml/2006/ole">
            <mc:AlternateContent xmlns:mc="http://schemas.openxmlformats.org/markup-compatibility/2006">
              <mc:Choice xmlns:v="urn:schemas-microsoft-com:vml" Requires="v">
                <p:oleObj spid="_x0000_s22543" r:id="rId3" imgW="2647950" imgH="3362325" progId="Paint.Picture">
                  <p:embed/>
                </p:oleObj>
              </mc:Choice>
              <mc:Fallback>
                <p:oleObj r:id="rId3" imgW="2647950" imgH="3362325" progId="Paint.Picture">
                  <p:embed/>
                  <p:pic>
                    <p:nvPicPr>
                      <p:cNvPr id="0" name="图片 4"/>
                      <p:cNvPicPr/>
                      <p:nvPr/>
                    </p:nvPicPr>
                    <p:blipFill>
                      <a:blip r:embed="rId4"/>
                      <a:stretch>
                        <a:fillRect/>
                      </a:stretch>
                    </p:blipFill>
                    <p:spPr>
                      <a:xfrm>
                        <a:off x="5903595" y="2933700"/>
                        <a:ext cx="2649855" cy="3364865"/>
                      </a:xfrm>
                      <a:prstGeom prst="rect">
                        <a:avLst/>
                      </a:prstGeom>
                    </p:spPr>
                  </p:pic>
                </p:oleObj>
              </mc:Fallback>
            </mc:AlternateContent>
          </a:graphicData>
        </a:graphic>
      </p:graphicFrame>
      <p:sp>
        <p:nvSpPr>
          <p:cNvPr id="6" name="文本框 5"/>
          <p:cNvSpPr txBox="1"/>
          <p:nvPr/>
        </p:nvSpPr>
        <p:spPr>
          <a:xfrm>
            <a:off x="606425" y="3585845"/>
            <a:ext cx="4759325" cy="2061210"/>
          </a:xfrm>
          <a:prstGeom prst="rect">
            <a:avLst/>
          </a:prstGeom>
          <a:noFill/>
        </p:spPr>
        <p:txBody>
          <a:bodyPr wrap="square" rtlCol="0">
            <a:spAutoFit/>
          </a:bodyPr>
          <a:lstStyle/>
          <a:p>
            <a:r>
              <a:rPr lang="zh-CN" altLang="en-US" sz="3200" dirty="0">
                <a:sym typeface="+mn-ea"/>
              </a:rPr>
              <a:t>在</a:t>
            </a:r>
            <a:r>
              <a:rPr lang="en-US" altLang="zh-CN" sz="3200" dirty="0">
                <a:sym typeface="+mn-ea"/>
              </a:rPr>
              <a:t>74LS00</a:t>
            </a:r>
            <a:r>
              <a:rPr lang="zh-CN" altLang="en-US" sz="3200" dirty="0">
                <a:sym typeface="+mn-ea"/>
              </a:rPr>
              <a:t>中是指输入端均接低电平时，输出端为高电平且不接负载时的器件功耗</a:t>
            </a:r>
            <a:endParaRPr lang="zh-CN" altLang="en-US" sz="32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31140" y="242570"/>
            <a:ext cx="7306310" cy="954405"/>
          </a:xfrm>
        </p:spPr>
        <p:txBody>
          <a:bodyPr>
            <a:normAutofit/>
          </a:bodyPr>
          <a:lstStyle/>
          <a:p>
            <a:r>
              <a:rPr lang="zh-CN" altLang="en-US" dirty="0">
                <a:solidFill>
                  <a:srgbClr val="FF0000"/>
                </a:solidFill>
              </a:rPr>
              <a:t>实验内容与测试步骤（实验内容）</a:t>
            </a:r>
          </a:p>
        </p:txBody>
      </p:sp>
      <p:sp>
        <p:nvSpPr>
          <p:cNvPr id="3" name="内容占位符 2"/>
          <p:cNvSpPr>
            <a:spLocks noGrp="1"/>
          </p:cNvSpPr>
          <p:nvPr>
            <p:ph idx="1"/>
          </p:nvPr>
        </p:nvSpPr>
        <p:spPr>
          <a:xfrm>
            <a:off x="457200" y="1484784"/>
            <a:ext cx="8507288" cy="4525963"/>
          </a:xfrm>
        </p:spPr>
        <p:txBody>
          <a:bodyPr>
            <a:normAutofit/>
          </a:bodyPr>
          <a:lstStyle/>
          <a:p>
            <a:r>
              <a:rPr lang="zh-CN" altLang="en-US" sz="2800" dirty="0"/>
              <a:t>验证集成电路</a:t>
            </a:r>
            <a:r>
              <a:rPr lang="en-US" altLang="zh-CN" sz="2800" dirty="0"/>
              <a:t>74LS00“</a:t>
            </a:r>
            <a:r>
              <a:rPr lang="zh-CN" altLang="en-US" sz="2800" dirty="0"/>
              <a:t>与非”门的逻辑功能</a:t>
            </a:r>
            <a:endParaRPr lang="en-US" altLang="zh-CN" sz="2800" dirty="0"/>
          </a:p>
          <a:p>
            <a:endParaRPr lang="zh-CN" altLang="en-US" sz="2800" dirty="0"/>
          </a:p>
          <a:p>
            <a:r>
              <a:rPr lang="zh-CN" altLang="en-US" sz="2800" dirty="0"/>
              <a:t>验证集成电路</a:t>
            </a:r>
            <a:r>
              <a:rPr lang="en-US" altLang="zh-CN" sz="2800" dirty="0"/>
              <a:t>CD4001“</a:t>
            </a:r>
            <a:r>
              <a:rPr lang="zh-CN" altLang="en-US" sz="2800" dirty="0"/>
              <a:t>或非”门的逻辑功能</a:t>
            </a:r>
            <a:endParaRPr lang="en-US" altLang="zh-CN" sz="2800" dirty="0"/>
          </a:p>
          <a:p>
            <a:endParaRPr lang="zh-CN" altLang="en-US" sz="2800" dirty="0"/>
          </a:p>
          <a:p>
            <a:r>
              <a:rPr lang="zh-CN" altLang="en-US" sz="2800" dirty="0"/>
              <a:t>测量集成电路</a:t>
            </a:r>
            <a:r>
              <a:rPr lang="en-US" altLang="zh-CN" sz="2800" dirty="0"/>
              <a:t>74LS00</a:t>
            </a:r>
            <a:r>
              <a:rPr lang="zh-CN" altLang="en-US" sz="2800" dirty="0"/>
              <a:t>逻辑门的传输延迟时间</a:t>
            </a:r>
            <a:r>
              <a:rPr lang="en-US" altLang="zh-CN" sz="2800" dirty="0" err="1"/>
              <a:t>t</a:t>
            </a:r>
            <a:r>
              <a:rPr lang="en-US" altLang="zh-CN" sz="2800" baseline="-25000" dirty="0" err="1"/>
              <a:t>pd</a:t>
            </a:r>
            <a:endParaRPr lang="en-US" altLang="zh-CN" sz="2800" baseline="-25000" dirty="0"/>
          </a:p>
          <a:p>
            <a:endParaRPr lang="en-US" altLang="zh-CN" sz="2800" baseline="-25000" dirty="0"/>
          </a:p>
          <a:p>
            <a:r>
              <a:rPr lang="zh-CN" altLang="en-US" sz="2800" dirty="0"/>
              <a:t>测量集成电路</a:t>
            </a:r>
            <a:r>
              <a:rPr lang="en-US" altLang="zh-CN" sz="2800" dirty="0"/>
              <a:t>CD4001</a:t>
            </a:r>
            <a:r>
              <a:rPr lang="zh-CN" altLang="en-US" sz="2800" dirty="0"/>
              <a:t>逻辑门的传输延迟时间</a:t>
            </a:r>
            <a:r>
              <a:rPr lang="en-US" altLang="zh-CN" sz="2800" dirty="0" err="1"/>
              <a:t>t</a:t>
            </a:r>
            <a:r>
              <a:rPr lang="en-US" altLang="zh-CN" sz="2800" baseline="-25000" dirty="0" err="1"/>
              <a:t>pd</a:t>
            </a:r>
            <a:endParaRPr lang="en-US" altLang="zh-CN" sz="2800" baseline="-25000" dirty="0"/>
          </a:p>
          <a:p>
            <a:endParaRPr lang="en-US" altLang="zh-CN" sz="2800" baseline="-25000" dirty="0"/>
          </a:p>
          <a:p>
            <a:r>
              <a:rPr lang="zh-CN" altLang="en-US" sz="2600" dirty="0"/>
              <a:t>测量集成电路</a:t>
            </a:r>
            <a:r>
              <a:rPr lang="en-US" altLang="zh-CN" sz="2600" dirty="0"/>
              <a:t>74LS00</a:t>
            </a:r>
            <a:r>
              <a:rPr lang="zh-CN" altLang="en-US" sz="2600" dirty="0"/>
              <a:t>传输特性与开关门电平</a:t>
            </a:r>
            <a:r>
              <a:rPr lang="en-US" altLang="zh-CN" sz="2600" dirty="0"/>
              <a:t>V</a:t>
            </a:r>
            <a:r>
              <a:rPr lang="en-US" altLang="zh-CN" sz="2600" baseline="-25000" dirty="0"/>
              <a:t>ON</a:t>
            </a:r>
            <a:r>
              <a:rPr lang="zh-CN" altLang="en-US" sz="2600" dirty="0"/>
              <a:t>和</a:t>
            </a:r>
            <a:r>
              <a:rPr lang="en-US" altLang="zh-CN" sz="2600" dirty="0"/>
              <a:t>V</a:t>
            </a:r>
            <a:r>
              <a:rPr lang="en-US" altLang="zh-CN" sz="2600" baseline="-25000" dirty="0"/>
              <a:t>OFF</a:t>
            </a:r>
          </a:p>
          <a:p>
            <a:endParaRPr lang="zh-CN" altLang="en-US" sz="2800" dirty="0"/>
          </a:p>
        </p:txBody>
      </p:sp>
    </p:spTree>
    <p:extLst>
      <p:ext uri="{BB962C8B-B14F-4D97-AF65-F5344CB8AC3E}">
        <p14:creationId xmlns:p14="http://schemas.microsoft.com/office/powerpoint/2010/main" val="42349285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30832" y="242392"/>
            <a:ext cx="7005464" cy="666328"/>
          </a:xfrm>
        </p:spPr>
        <p:txBody>
          <a:bodyPr>
            <a:normAutofit/>
          </a:bodyPr>
          <a:lstStyle/>
          <a:p>
            <a:r>
              <a:rPr lang="zh-CN" altLang="en-US" sz="3200" dirty="0"/>
              <a:t>电路设计实验箱说明</a:t>
            </a:r>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50461" y="1240944"/>
            <a:ext cx="6365785" cy="4525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文本框 2"/>
          <p:cNvSpPr txBox="1"/>
          <p:nvPr/>
        </p:nvSpPr>
        <p:spPr>
          <a:xfrm>
            <a:off x="3757930" y="4254500"/>
            <a:ext cx="4772025" cy="2306955"/>
          </a:xfrm>
          <a:prstGeom prst="rect">
            <a:avLst/>
          </a:prstGeom>
          <a:noFill/>
        </p:spPr>
        <p:txBody>
          <a:bodyPr wrap="square" rtlCol="0">
            <a:spAutoFit/>
          </a:bodyPr>
          <a:lstStyle/>
          <a:p>
            <a:r>
              <a:rPr lang="zh-CN" altLang="en-US"/>
              <a:t>　运算放大器，简称运放，是具有很高放大倍数的电路单元。（一种线性集成电路）。运用方面：微弱信号进行放大，还可做为反相、电压 跟随器，可对电信号做加减法运算。在音响方面也使用得最多。例如前级放大、 缓冲，耳机放大器绝大部分使用的还是集成运算放大器（</a:t>
            </a:r>
            <a:r>
              <a:rPr lang="zh-CN" altLang="en-US">
                <a:sym typeface="+mn-ea"/>
              </a:rPr>
              <a:t>除有部分使用分立元件，电子管外</a:t>
            </a:r>
            <a:r>
              <a:rPr lang="zh-CN" altLang="en-US"/>
              <a:t>）。</a:t>
            </a:r>
            <a:r>
              <a:rPr lang="zh-CN" altLang="en-US">
                <a:solidFill>
                  <a:srgbClr val="FF0000"/>
                </a:solidFill>
              </a:rPr>
              <a:t>会用到稳压电路上，制作高精度的稳压滤波电路</a:t>
            </a:r>
            <a:r>
              <a:rPr lang="zh-CN" altLang="en-US"/>
              <a:t>。</a:t>
            </a:r>
          </a:p>
        </p:txBody>
      </p:sp>
      <p:pic>
        <p:nvPicPr>
          <p:cNvPr id="5" name="图片 4" descr="运放2"/>
          <p:cNvPicPr>
            <a:picLocks noChangeAspect="1"/>
          </p:cNvPicPr>
          <p:nvPr/>
        </p:nvPicPr>
        <p:blipFill>
          <a:blip r:embed="rId3"/>
          <a:stretch>
            <a:fillRect/>
          </a:stretch>
        </p:blipFill>
        <p:spPr>
          <a:xfrm>
            <a:off x="5010785" y="-134620"/>
            <a:ext cx="2875915" cy="2239645"/>
          </a:xfrm>
          <a:prstGeom prst="rect">
            <a:avLst/>
          </a:prstGeom>
        </p:spPr>
      </p:pic>
    </p:spTree>
    <p:extLst>
      <p:ext uri="{BB962C8B-B14F-4D97-AF65-F5344CB8AC3E}">
        <p14:creationId xmlns:p14="http://schemas.microsoft.com/office/powerpoint/2010/main" val="1819089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实验箱面板说明</a:t>
            </a:r>
          </a:p>
        </p:txBody>
      </p:sp>
      <p:sp>
        <p:nvSpPr>
          <p:cNvPr id="3" name="内容占位符 2"/>
          <p:cNvSpPr>
            <a:spLocks noGrp="1"/>
          </p:cNvSpPr>
          <p:nvPr>
            <p:ph idx="1"/>
          </p:nvPr>
        </p:nvSpPr>
        <p:spPr/>
        <p:txBody>
          <a:bodyPr/>
          <a:lstStyle/>
          <a:p>
            <a:r>
              <a:rPr lang="zh-CN" altLang="en-US" dirty="0"/>
              <a:t>通过调节电位器输出</a:t>
            </a:r>
            <a:r>
              <a:rPr lang="en-US" altLang="zh-CN" dirty="0"/>
              <a:t>0v -- 5v</a:t>
            </a:r>
            <a:endParaRPr lang="zh-CN" altLang="en-US" dirty="0"/>
          </a:p>
        </p:txBody>
      </p:sp>
      <p:pic>
        <p:nvPicPr>
          <p:cNvPr id="2050" name="Picture 2"/>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484" y="2223542"/>
            <a:ext cx="9062680" cy="28083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4" name="对象 3"/>
          <p:cNvGraphicFramePr/>
          <p:nvPr/>
        </p:nvGraphicFramePr>
        <p:xfrm>
          <a:off x="2527300" y="4705350"/>
          <a:ext cx="3508375" cy="1926590"/>
        </p:xfrm>
        <a:graphic>
          <a:graphicData uri="http://schemas.openxmlformats.org/presentationml/2006/ole">
            <mc:AlternateContent xmlns:mc="http://schemas.openxmlformats.org/markup-compatibility/2006">
              <mc:Choice xmlns:v="urn:schemas-microsoft-com:vml" Requires="v">
                <p:oleObj spid="_x0000_s26626" r:id="rId4" imgW="3505200" imgH="2152650" progId="Paint.Picture">
                  <p:embed/>
                </p:oleObj>
              </mc:Choice>
              <mc:Fallback>
                <p:oleObj r:id="rId4" imgW="3505200" imgH="2152650" progId="Paint.Picture">
                  <p:embed/>
                  <p:pic>
                    <p:nvPicPr>
                      <p:cNvPr id="4" name="对象 3"/>
                      <p:cNvPicPr/>
                      <p:nvPr/>
                    </p:nvPicPr>
                    <p:blipFill>
                      <a:blip r:embed="rId5"/>
                      <a:stretch>
                        <a:fillRect/>
                      </a:stretch>
                    </p:blipFill>
                    <p:spPr>
                      <a:xfrm>
                        <a:off x="2527300" y="4705350"/>
                        <a:ext cx="3508375" cy="1926590"/>
                      </a:xfrm>
                      <a:prstGeom prst="rect">
                        <a:avLst/>
                      </a:prstGeom>
                    </p:spPr>
                  </p:pic>
                </p:oleObj>
              </mc:Fallback>
            </mc:AlternateContent>
          </a:graphicData>
        </a:graphic>
      </p:graphicFrame>
    </p:spTree>
    <p:extLst>
      <p:ext uri="{BB962C8B-B14F-4D97-AF65-F5344CB8AC3E}">
        <p14:creationId xmlns:p14="http://schemas.microsoft.com/office/powerpoint/2010/main" val="15248833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实验箱面板说明</a:t>
            </a:r>
          </a:p>
        </p:txBody>
      </p:sp>
      <p:sp>
        <p:nvSpPr>
          <p:cNvPr id="3" name="内容占位符 2"/>
          <p:cNvSpPr>
            <a:spLocks noGrp="1"/>
          </p:cNvSpPr>
          <p:nvPr>
            <p:ph idx="1"/>
          </p:nvPr>
        </p:nvSpPr>
        <p:spPr/>
        <p:txBody>
          <a:bodyPr/>
          <a:lstStyle/>
          <a:p>
            <a:r>
              <a:rPr lang="zh-CN" altLang="en-US" dirty="0"/>
              <a:t>通过调节电位器输出</a:t>
            </a:r>
            <a:r>
              <a:rPr lang="en-US" altLang="zh-CN" dirty="0"/>
              <a:t>0v -- 5v</a:t>
            </a:r>
            <a:endParaRPr lang="zh-CN" altLang="en-US" dirty="0"/>
          </a:p>
        </p:txBody>
      </p:sp>
      <p:pic>
        <p:nvPicPr>
          <p:cNvPr id="17411" name="Picture 3" descr="D:\dyb\课程资料\备课笔记\数字电子技术基础\逻辑与计算机设计基础课件\实验课件\数字逻辑设计实验 - 课件\IMG_20161009_202403.jpg"/>
          <p:cNvPicPr>
            <a:picLocks noChangeAspect="1" noChangeArrowheads="1"/>
          </p:cNvPicPr>
          <p:nvPr/>
        </p:nvPicPr>
        <p:blipFill rotWithShape="1">
          <a:blip r:embed="rId2" cstate="print"/>
          <a:srcRect/>
          <a:stretch>
            <a:fillRect/>
          </a:stretch>
        </p:blipFill>
        <p:spPr bwMode="auto">
          <a:xfrm>
            <a:off x="4184909" y="2642865"/>
            <a:ext cx="4478668" cy="1782842"/>
          </a:xfrm>
          <a:prstGeom prst="rect">
            <a:avLst/>
          </a:prstGeom>
          <a:noFill/>
          <a:extLst>
            <a:ext uri="{909E8E84-426E-40DD-AFC4-6F175D3DCCD1}">
              <a14:hiddenFill xmlns:a14="http://schemas.microsoft.com/office/drawing/2010/main">
                <a:solidFill>
                  <a:srgbClr val="FFFFFF"/>
                </a:solidFill>
              </a14:hiddenFill>
            </a:ext>
          </a:extLst>
        </p:spPr>
      </p:pic>
      <p:pic>
        <p:nvPicPr>
          <p:cNvPr id="17412" name="Picture 4" descr="D:\照片\Mate8照片\IMG_20160912_100900.jpg"/>
          <p:cNvPicPr>
            <a:picLocks noChangeAspect="1" noChangeArrowheads="1"/>
          </p:cNvPicPr>
          <p:nvPr/>
        </p:nvPicPr>
        <p:blipFill rotWithShape="1">
          <a:blip r:embed="rId3" cstate="print">
            <a:extLst>
              <a:ext uri="{BEBA8EAE-BF5A-486C-A8C5-ECC9F3942E4B}">
                <a14:imgProps xmlns:a14="http://schemas.microsoft.com/office/drawing/2010/main">
                  <a14:imgLayer r:embed="rId4">
                    <a14:imgEffect>
                      <a14:brightnessContrast bright="40000"/>
                    </a14:imgEffect>
                  </a14:imgLayer>
                </a14:imgProps>
              </a:ext>
            </a:extLst>
          </a:blip>
          <a:srcRect/>
          <a:stretch>
            <a:fillRect/>
          </a:stretch>
        </p:blipFill>
        <p:spPr bwMode="auto">
          <a:xfrm>
            <a:off x="611560" y="2651213"/>
            <a:ext cx="3187643" cy="1782842"/>
          </a:xfrm>
          <a:prstGeom prst="rect">
            <a:avLst/>
          </a:prstGeom>
          <a:noFill/>
          <a:extLst>
            <a:ext uri="{909E8E84-426E-40DD-AFC4-6F175D3DCCD1}">
              <a14:hiddenFill xmlns:a14="http://schemas.microsoft.com/office/drawing/2010/main">
                <a:solidFill>
                  <a:srgbClr val="FFFFFF"/>
                </a:solidFill>
              </a14:hiddenFill>
            </a:ext>
          </a:extLst>
        </p:spPr>
      </p:pic>
      <p:cxnSp>
        <p:nvCxnSpPr>
          <p:cNvPr id="33" name="直接连接符 32"/>
          <p:cNvCxnSpPr/>
          <p:nvPr/>
        </p:nvCxnSpPr>
        <p:spPr>
          <a:xfrm>
            <a:off x="1331640" y="3993658"/>
            <a:ext cx="0" cy="1296143"/>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1331640" y="5289802"/>
            <a:ext cx="3600400"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4924797" y="4234065"/>
            <a:ext cx="0" cy="108012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2627784" y="3993658"/>
            <a:ext cx="0" cy="1584175"/>
          </a:xfrm>
          <a:prstGeom prst="line">
            <a:avLst/>
          </a:prstGeom>
          <a:ln w="762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2627784" y="5577834"/>
            <a:ext cx="3024336" cy="0"/>
          </a:xfrm>
          <a:prstGeom prst="line">
            <a:avLst/>
          </a:prstGeom>
          <a:ln w="762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5652120" y="4209682"/>
            <a:ext cx="0" cy="1368152"/>
          </a:xfrm>
          <a:prstGeom prst="line">
            <a:avLst/>
          </a:prstGeom>
          <a:ln w="76200">
            <a:solidFill>
              <a:srgbClr val="0070C0"/>
            </a:solidFill>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731956" y="2282271"/>
            <a:ext cx="1199367" cy="369332"/>
          </a:xfrm>
          <a:prstGeom prst="rect">
            <a:avLst/>
          </a:prstGeom>
          <a:noFill/>
        </p:spPr>
        <p:txBody>
          <a:bodyPr wrap="none" rtlCol="0">
            <a:spAutoFit/>
          </a:bodyPr>
          <a:lstStyle/>
          <a:p>
            <a:r>
              <a:rPr lang="zh-CN" altLang="en-US" b="1" dirty="0"/>
              <a:t>电位器</a:t>
            </a:r>
            <a:r>
              <a:rPr lang="en-US" altLang="zh-CN" b="1" dirty="0"/>
              <a:t>W1</a:t>
            </a:r>
            <a:endParaRPr lang="zh-CN" altLang="en-US" b="1" dirty="0"/>
          </a:p>
        </p:txBody>
      </p:sp>
      <p:sp>
        <p:nvSpPr>
          <p:cNvPr id="54" name="TextBox 53"/>
          <p:cNvSpPr txBox="1"/>
          <p:nvPr/>
        </p:nvSpPr>
        <p:spPr>
          <a:xfrm>
            <a:off x="2205381" y="2269804"/>
            <a:ext cx="1208985" cy="646331"/>
          </a:xfrm>
          <a:prstGeom prst="rect">
            <a:avLst/>
          </a:prstGeom>
          <a:noFill/>
        </p:spPr>
        <p:txBody>
          <a:bodyPr wrap="none" rtlCol="0">
            <a:spAutoFit/>
          </a:bodyPr>
          <a:lstStyle/>
          <a:p>
            <a:r>
              <a:rPr lang="zh-CN" altLang="en-US" b="1" dirty="0"/>
              <a:t>电位器</a:t>
            </a:r>
            <a:r>
              <a:rPr lang="en-US" altLang="zh-CN" b="1" dirty="0"/>
              <a:t>W2</a:t>
            </a:r>
          </a:p>
          <a:p>
            <a:endParaRPr lang="zh-CN" altLang="en-US" b="1" dirty="0"/>
          </a:p>
        </p:txBody>
      </p:sp>
      <p:sp>
        <p:nvSpPr>
          <p:cNvPr id="55" name="TextBox 54"/>
          <p:cNvSpPr txBox="1"/>
          <p:nvPr/>
        </p:nvSpPr>
        <p:spPr>
          <a:xfrm>
            <a:off x="5819751" y="4686827"/>
            <a:ext cx="3216746" cy="923330"/>
          </a:xfrm>
          <a:prstGeom prst="rect">
            <a:avLst/>
          </a:prstGeom>
          <a:noFill/>
        </p:spPr>
        <p:txBody>
          <a:bodyPr wrap="square" rtlCol="0">
            <a:spAutoFit/>
          </a:bodyPr>
          <a:lstStyle/>
          <a:p>
            <a:r>
              <a:rPr lang="zh-CN" altLang="en-US" b="1" dirty="0"/>
              <a:t>电位器</a:t>
            </a:r>
            <a:r>
              <a:rPr lang="en-US" altLang="zh-CN" b="1" dirty="0"/>
              <a:t>W1</a:t>
            </a:r>
            <a:r>
              <a:rPr lang="zh-CN" altLang="en-US" b="1" dirty="0"/>
              <a:t>、</a:t>
            </a:r>
            <a:r>
              <a:rPr lang="en-US" altLang="zh-CN" b="1" dirty="0"/>
              <a:t>W2</a:t>
            </a:r>
            <a:r>
              <a:rPr lang="zh-CN" altLang="en-US" b="1" dirty="0"/>
              <a:t>输出信号插孔</a:t>
            </a:r>
            <a:endParaRPr lang="en-US" altLang="zh-CN" b="1" dirty="0"/>
          </a:p>
          <a:p>
            <a:r>
              <a:rPr lang="zh-CN" altLang="en-US" b="1" dirty="0"/>
              <a:t>（电源</a:t>
            </a:r>
            <a:r>
              <a:rPr lang="en-US" altLang="zh-CN" b="1" dirty="0"/>
              <a:t>VCC</a:t>
            </a:r>
            <a:r>
              <a:rPr lang="zh-CN" altLang="en-US" b="1" dirty="0"/>
              <a:t>和地已经在内部接好）</a:t>
            </a:r>
          </a:p>
        </p:txBody>
      </p:sp>
      <p:cxnSp>
        <p:nvCxnSpPr>
          <p:cNvPr id="52" name="直接连接符 51"/>
          <p:cNvCxnSpPr>
            <a:stCxn id="55" idx="1"/>
          </p:cNvCxnSpPr>
          <p:nvPr/>
        </p:nvCxnSpPr>
        <p:spPr>
          <a:xfrm flipH="1" flipV="1">
            <a:off x="4932041" y="4209683"/>
            <a:ext cx="887710" cy="9388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a:stCxn id="55" idx="1"/>
          </p:cNvCxnSpPr>
          <p:nvPr/>
        </p:nvCxnSpPr>
        <p:spPr>
          <a:xfrm flipH="1" flipV="1">
            <a:off x="5652121" y="4209683"/>
            <a:ext cx="167630" cy="9388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5375895" y="2097605"/>
            <a:ext cx="2741456" cy="369332"/>
          </a:xfrm>
          <a:prstGeom prst="rect">
            <a:avLst/>
          </a:prstGeom>
          <a:noFill/>
        </p:spPr>
        <p:txBody>
          <a:bodyPr wrap="none" rtlCol="0">
            <a:spAutoFit/>
          </a:bodyPr>
          <a:lstStyle/>
          <a:p>
            <a:r>
              <a:rPr lang="zh-CN" altLang="en-US" b="1" dirty="0"/>
              <a:t>直流电压表输入信号插孔</a:t>
            </a:r>
          </a:p>
        </p:txBody>
      </p:sp>
      <p:cxnSp>
        <p:nvCxnSpPr>
          <p:cNvPr id="62" name="直接连接符 61"/>
          <p:cNvCxnSpPr>
            <a:stCxn id="61" idx="2"/>
          </p:cNvCxnSpPr>
          <p:nvPr/>
        </p:nvCxnSpPr>
        <p:spPr>
          <a:xfrm flipH="1">
            <a:off x="4572001" y="2466937"/>
            <a:ext cx="2174622" cy="106734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a:stCxn id="61" idx="2"/>
          </p:cNvCxnSpPr>
          <p:nvPr/>
        </p:nvCxnSpPr>
        <p:spPr>
          <a:xfrm>
            <a:off x="6746623" y="2466937"/>
            <a:ext cx="921721" cy="107569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35605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验证</a:t>
            </a:r>
            <a:r>
              <a:rPr lang="en-US" altLang="zh-CN" dirty="0"/>
              <a:t>74LS00</a:t>
            </a:r>
            <a:r>
              <a:rPr lang="zh-CN" altLang="en-US" dirty="0"/>
              <a:t>“与非”门逻辑功能</a:t>
            </a:r>
          </a:p>
        </p:txBody>
      </p:sp>
      <p:sp>
        <p:nvSpPr>
          <p:cNvPr id="4" name="内容占位符 4"/>
          <p:cNvSpPr>
            <a:spLocks noGrp="1"/>
          </p:cNvSpPr>
          <p:nvPr>
            <p:ph idx="1"/>
          </p:nvPr>
        </p:nvSpPr>
        <p:spPr>
          <a:xfrm>
            <a:off x="251520" y="1241822"/>
            <a:ext cx="4474840" cy="5643562"/>
          </a:xfrm>
        </p:spPr>
        <p:txBody>
          <a:bodyPr>
            <a:noAutofit/>
          </a:bodyPr>
          <a:lstStyle/>
          <a:p>
            <a:pPr marL="457200" indent="-457200" eaLnBrk="1" fontAlgn="auto" hangingPunct="1">
              <a:lnSpc>
                <a:spcPct val="130000"/>
              </a:lnSpc>
              <a:spcBef>
                <a:spcPts val="0"/>
              </a:spcBef>
              <a:spcAft>
                <a:spcPts val="0"/>
              </a:spcAft>
              <a:buFont typeface="+mj-lt"/>
              <a:buAutoNum type="arabicPeriod"/>
              <a:defRPr/>
            </a:pPr>
            <a:r>
              <a:rPr lang="zh-CN" altLang="en-US" sz="2400" dirty="0">
                <a:effectLst>
                  <a:outerShdw blurRad="50800" dist="38100" dir="2700000" algn="tl" rotWithShape="0">
                    <a:prstClr val="black">
                      <a:alpha val="40000"/>
                    </a:prstClr>
                  </a:outerShdw>
                </a:effectLst>
              </a:rPr>
              <a:t>将芯片插入实验箱的</a:t>
            </a:r>
            <a:r>
              <a:rPr lang="en-US" altLang="zh-CN" sz="2400" dirty="0">
                <a:effectLst>
                  <a:outerShdw blurRad="50800" dist="38100" dir="2700000" algn="tl" rotWithShape="0">
                    <a:prstClr val="black">
                      <a:alpha val="40000"/>
                    </a:prstClr>
                  </a:outerShdw>
                </a:effectLst>
              </a:rPr>
              <a:t>IC</a:t>
            </a:r>
            <a:r>
              <a:rPr lang="zh-CN" altLang="en-US" sz="2400" dirty="0">
                <a:effectLst>
                  <a:outerShdw blurRad="50800" dist="38100" dir="2700000" algn="tl" rotWithShape="0">
                    <a:prstClr val="black">
                      <a:alpha val="40000"/>
                    </a:prstClr>
                  </a:outerShdw>
                </a:effectLst>
              </a:rPr>
              <a:t>插座中，</a:t>
            </a:r>
            <a:r>
              <a:rPr lang="zh-CN" altLang="en-US" sz="2400" dirty="0">
                <a:solidFill>
                  <a:srgbClr val="FF0000"/>
                </a:solidFill>
                <a:effectLst>
                  <a:outerShdw blurRad="50800" dist="38100" dir="2700000" algn="tl" rotWithShape="0">
                    <a:prstClr val="black">
                      <a:alpha val="40000"/>
                    </a:prstClr>
                  </a:outerShdw>
                </a:effectLst>
              </a:rPr>
              <a:t>注意芯片的方向</a:t>
            </a:r>
          </a:p>
          <a:p>
            <a:pPr marL="457200" indent="-457200" eaLnBrk="1" fontAlgn="auto" hangingPunct="1">
              <a:lnSpc>
                <a:spcPct val="130000"/>
              </a:lnSpc>
              <a:spcBef>
                <a:spcPts val="0"/>
              </a:spcBef>
              <a:spcAft>
                <a:spcPts val="0"/>
              </a:spcAft>
              <a:buFont typeface="+mj-lt"/>
              <a:buAutoNum type="arabicPeriod"/>
              <a:defRPr/>
            </a:pPr>
            <a:r>
              <a:rPr lang="zh-CN" altLang="en-US" sz="2400" dirty="0">
                <a:effectLst>
                  <a:outerShdw blurRad="50800" dist="38100" dir="2700000" algn="tl" rotWithShape="0">
                    <a:prstClr val="black">
                      <a:alpha val="40000"/>
                    </a:prstClr>
                  </a:outerShdw>
                </a:effectLst>
              </a:rPr>
              <a:t>按右图连接电路，</a:t>
            </a:r>
            <a:r>
              <a:rPr lang="en-US" altLang="zh-CN" sz="2400" i="1" dirty="0">
                <a:effectLst>
                  <a:outerShdw blurRad="50800" dist="38100" dir="2700000" algn="tl" rotWithShape="0">
                    <a:prstClr val="black">
                      <a:alpha val="40000"/>
                    </a:prstClr>
                  </a:outerShdw>
                </a:effectLst>
              </a:rPr>
              <a:t>V</a:t>
            </a:r>
            <a:r>
              <a:rPr lang="en-US" altLang="zh-CN" sz="2400" baseline="-25000" dirty="0">
                <a:effectLst>
                  <a:outerShdw blurRad="50800" dist="38100" dir="2700000" algn="tl" rotWithShape="0">
                    <a:prstClr val="black">
                      <a:alpha val="40000"/>
                    </a:prstClr>
                  </a:outerShdw>
                </a:effectLst>
              </a:rPr>
              <a:t>CC </a:t>
            </a:r>
            <a:r>
              <a:rPr lang="zh-CN" altLang="en-US" sz="2400" dirty="0">
                <a:effectLst>
                  <a:outerShdw blurRad="50800" dist="38100" dir="2700000" algn="tl" rotWithShape="0">
                    <a:prstClr val="black">
                      <a:alpha val="40000"/>
                    </a:prstClr>
                  </a:outerShdw>
                </a:effectLst>
              </a:rPr>
              <a:t>接电压</a:t>
            </a:r>
            <a:r>
              <a:rPr lang="en-US" altLang="zh-CN" sz="2400" dirty="0">
                <a:effectLst>
                  <a:outerShdw blurRad="50800" dist="38100" dir="2700000" algn="tl" rotWithShape="0">
                    <a:prstClr val="black">
                      <a:alpha val="40000"/>
                    </a:prstClr>
                  </a:outerShdw>
                </a:effectLst>
              </a:rPr>
              <a:t>5V</a:t>
            </a:r>
            <a:r>
              <a:rPr lang="zh-CN" altLang="en-US" sz="2400" dirty="0">
                <a:effectLst>
                  <a:outerShdw blurRad="50800" dist="38100" dir="2700000" algn="tl" rotWithShape="0">
                    <a:prstClr val="black">
                      <a:alpha val="40000"/>
                    </a:prstClr>
                  </a:outerShdw>
                </a:effectLst>
              </a:rPr>
              <a:t>，地端接地线</a:t>
            </a:r>
          </a:p>
          <a:p>
            <a:pPr marL="457200" indent="-457200" eaLnBrk="1" fontAlgn="auto" hangingPunct="1">
              <a:lnSpc>
                <a:spcPct val="130000"/>
              </a:lnSpc>
              <a:spcBef>
                <a:spcPts val="0"/>
              </a:spcBef>
              <a:spcAft>
                <a:spcPts val="0"/>
              </a:spcAft>
              <a:buFont typeface="+mj-lt"/>
              <a:buAutoNum type="arabicPeriod"/>
              <a:defRPr/>
            </a:pPr>
            <a:r>
              <a:rPr lang="zh-CN" altLang="en-US" sz="2400" dirty="0">
                <a:effectLst>
                  <a:outerShdw blurRad="50800" dist="38100" dir="2700000" algn="tl" rotWithShape="0">
                    <a:prstClr val="black">
                      <a:alpha val="40000"/>
                    </a:prstClr>
                  </a:outerShdw>
                </a:effectLst>
              </a:rPr>
              <a:t>高低电平通过</a:t>
            </a:r>
            <a:r>
              <a:rPr lang="en-US" altLang="zh-CN" sz="2400" dirty="0">
                <a:effectLst>
                  <a:outerShdw blurRad="50800" dist="38100" dir="2700000" algn="tl" rotWithShape="0">
                    <a:prstClr val="black">
                      <a:alpha val="40000"/>
                    </a:prstClr>
                  </a:outerShdw>
                </a:effectLst>
              </a:rPr>
              <a:t>S14/S15/S16/S17</a:t>
            </a:r>
            <a:r>
              <a:rPr lang="zh-CN" altLang="en-US" sz="2400" dirty="0">
                <a:effectLst>
                  <a:outerShdw blurRad="50800" dist="38100" dir="2700000" algn="tl" rotWithShape="0">
                    <a:prstClr val="black">
                      <a:alpha val="40000"/>
                    </a:prstClr>
                  </a:outerShdw>
                </a:effectLst>
              </a:rPr>
              <a:t>拨位开关产生，</a:t>
            </a:r>
          </a:p>
          <a:p>
            <a:pPr marL="457200" indent="-457200" eaLnBrk="1" fontAlgn="auto" hangingPunct="1">
              <a:lnSpc>
                <a:spcPct val="130000"/>
              </a:lnSpc>
              <a:spcBef>
                <a:spcPts val="0"/>
              </a:spcBef>
              <a:spcAft>
                <a:spcPts val="0"/>
              </a:spcAft>
              <a:buFont typeface="+mj-lt"/>
              <a:buAutoNum type="arabicPeriod"/>
              <a:defRPr/>
            </a:pPr>
            <a:r>
              <a:rPr lang="zh-CN" altLang="en-US" sz="2400" dirty="0">
                <a:effectLst>
                  <a:outerShdw blurRad="50800" dist="38100" dir="2700000" algn="tl" rotWithShape="0">
                    <a:prstClr val="black">
                      <a:alpha val="40000"/>
                    </a:prstClr>
                  </a:outerShdw>
                </a:effectLst>
              </a:rPr>
              <a:t>以真值表顺序遍历输入</a:t>
            </a:r>
            <a:r>
              <a:rPr lang="en-US" altLang="zh-CN" sz="2400" i="1" dirty="0">
                <a:effectLst>
                  <a:outerShdw blurRad="50800" dist="38100" dir="2700000" algn="tl" rotWithShape="0">
                    <a:prstClr val="black">
                      <a:alpha val="40000"/>
                    </a:prstClr>
                  </a:outerShdw>
                </a:effectLst>
              </a:rPr>
              <a:t>A,B</a:t>
            </a:r>
            <a:r>
              <a:rPr lang="zh-CN" altLang="en-US" sz="2400" dirty="0">
                <a:effectLst>
                  <a:outerShdw blurRad="50800" dist="38100" dir="2700000" algn="tl" rotWithShape="0">
                    <a:prstClr val="black">
                      <a:alpha val="40000"/>
                    </a:prstClr>
                  </a:outerShdw>
                </a:effectLst>
              </a:rPr>
              <a:t>所有组合，测量</a:t>
            </a:r>
            <a:r>
              <a:rPr lang="en-US" altLang="zh-CN" sz="2400" i="1" dirty="0">
                <a:effectLst>
                  <a:outerShdw blurRad="50800" dist="38100" dir="2700000" algn="tl" rotWithShape="0">
                    <a:prstClr val="black">
                      <a:alpha val="40000"/>
                    </a:prstClr>
                  </a:outerShdw>
                </a:effectLst>
              </a:rPr>
              <a:t>A</a:t>
            </a:r>
            <a:r>
              <a:rPr lang="en-US" altLang="zh-CN" sz="2400" dirty="0">
                <a:effectLst>
                  <a:outerShdw blurRad="50800" dist="38100" dir="2700000" algn="tl" rotWithShape="0">
                    <a:prstClr val="black">
                      <a:alpha val="40000"/>
                    </a:prstClr>
                  </a:outerShdw>
                </a:effectLst>
              </a:rPr>
              <a:t>,</a:t>
            </a:r>
            <a:r>
              <a:rPr lang="en-US" altLang="zh-CN" sz="2400" i="1" dirty="0">
                <a:effectLst>
                  <a:outerShdw blurRad="50800" dist="38100" dir="2700000" algn="tl" rotWithShape="0">
                    <a:prstClr val="black">
                      <a:alpha val="40000"/>
                    </a:prstClr>
                  </a:outerShdw>
                </a:effectLst>
              </a:rPr>
              <a:t>B</a:t>
            </a:r>
            <a:r>
              <a:rPr lang="zh-CN" altLang="en-US" sz="2400" dirty="0">
                <a:effectLst>
                  <a:outerShdw blurRad="50800" dist="38100" dir="2700000" algn="tl" rotWithShape="0">
                    <a:prstClr val="black">
                      <a:alpha val="40000"/>
                    </a:prstClr>
                  </a:outerShdw>
                </a:effectLst>
              </a:rPr>
              <a:t>及输出</a:t>
            </a:r>
            <a:r>
              <a:rPr lang="en-US" altLang="zh-CN" sz="2400" i="1" dirty="0">
                <a:effectLst>
                  <a:outerShdw blurRad="50800" dist="38100" dir="2700000" algn="tl" rotWithShape="0">
                    <a:prstClr val="black">
                      <a:alpha val="40000"/>
                    </a:prstClr>
                  </a:outerShdw>
                </a:effectLst>
              </a:rPr>
              <a:t>F </a:t>
            </a:r>
            <a:r>
              <a:rPr lang="zh-CN" altLang="en-US" sz="2400" dirty="0">
                <a:effectLst>
                  <a:outerShdw blurRad="50800" dist="38100" dir="2700000" algn="tl" rotWithShape="0">
                    <a:prstClr val="black">
                      <a:alpha val="40000"/>
                    </a:prstClr>
                  </a:outerShdw>
                </a:effectLst>
              </a:rPr>
              <a:t>电压并记入右表</a:t>
            </a:r>
            <a:endParaRPr lang="zh-CN" altLang="en-US" sz="2400" dirty="0"/>
          </a:p>
        </p:txBody>
      </p:sp>
      <p:graphicFrame>
        <p:nvGraphicFramePr>
          <p:cNvPr id="5" name="表格"/>
          <p:cNvGraphicFramePr>
            <a:graphicFrameLocks noGrp="1"/>
          </p:cNvGraphicFramePr>
          <p:nvPr/>
        </p:nvGraphicFramePr>
        <p:xfrm>
          <a:off x="6463036" y="4786313"/>
          <a:ext cx="2357436" cy="1524000"/>
        </p:xfrm>
        <a:graphic>
          <a:graphicData uri="http://schemas.openxmlformats.org/drawingml/2006/table">
            <a:tbl>
              <a:tblPr firstRow="1" bandRow="1">
                <a:tableStyleId>{BC89EF96-8CEA-46FF-86C4-4CE0E7609802}</a:tableStyleId>
              </a:tblPr>
              <a:tblGrid>
                <a:gridCol w="785812">
                  <a:extLst>
                    <a:ext uri="{9D8B030D-6E8A-4147-A177-3AD203B41FA5}">
                      <a16:colId xmlns:a16="http://schemas.microsoft.com/office/drawing/2014/main" val="20000"/>
                    </a:ext>
                  </a:extLst>
                </a:gridCol>
                <a:gridCol w="785812">
                  <a:extLst>
                    <a:ext uri="{9D8B030D-6E8A-4147-A177-3AD203B41FA5}">
                      <a16:colId xmlns:a16="http://schemas.microsoft.com/office/drawing/2014/main" val="20001"/>
                    </a:ext>
                  </a:extLst>
                </a:gridCol>
                <a:gridCol w="785812">
                  <a:extLst>
                    <a:ext uri="{9D8B030D-6E8A-4147-A177-3AD203B41FA5}">
                      <a16:colId xmlns:a16="http://schemas.microsoft.com/office/drawing/2014/main" val="20002"/>
                    </a:ext>
                  </a:extLst>
                </a:gridCol>
              </a:tblGrid>
              <a:tr h="251459">
                <a:tc>
                  <a:txBody>
                    <a:bodyPr/>
                    <a:lstStyle/>
                    <a:p>
                      <a:pPr algn="ctr"/>
                      <a:r>
                        <a:rPr lang="en-US" altLang="zh-CN" sz="1400" i="1" baseline="0" dirty="0">
                          <a:latin typeface="Times New Roman" panose="02020603050405020304" pitchFamily="18" charset="0"/>
                          <a:ea typeface="新宋体" panose="02010609030101010101" charset="-122"/>
                        </a:rPr>
                        <a:t>V</a:t>
                      </a:r>
                      <a:r>
                        <a:rPr lang="en-US" altLang="zh-CN" sz="1400" baseline="-25000" dirty="0">
                          <a:latin typeface="Times New Roman" panose="02020603050405020304" pitchFamily="18" charset="0"/>
                          <a:ea typeface="新宋体" panose="02010609030101010101" charset="-122"/>
                        </a:rPr>
                        <a:t>B</a:t>
                      </a:r>
                      <a:r>
                        <a:rPr lang="en-US" altLang="zh-CN" sz="1400" i="0" baseline="0" dirty="0">
                          <a:latin typeface="Times New Roman" panose="02020603050405020304" pitchFamily="18" charset="0"/>
                          <a:ea typeface="新宋体" panose="02010609030101010101" charset="-122"/>
                        </a:rPr>
                        <a:t>(V)</a:t>
                      </a:r>
                      <a:endParaRPr lang="zh-CN" altLang="en-US" sz="1400" baseline="-25000" dirty="0">
                        <a:latin typeface="Times New Roman" panose="02020603050405020304" pitchFamily="18" charset="0"/>
                        <a:ea typeface="新宋体" panose="02010609030101010101" charset="-122"/>
                      </a:endParaRPr>
                    </a:p>
                  </a:txBody>
                  <a:tcPr marL="91438" marR="91438">
                    <a:solidFill>
                      <a:schemeClr val="accent1">
                        <a:alpha val="20000"/>
                      </a:schemeClr>
                    </a:solidFill>
                  </a:tcPr>
                </a:tc>
                <a:tc>
                  <a:txBody>
                    <a:bodyPr/>
                    <a:lstStyle/>
                    <a:p>
                      <a:pPr algn="ctr"/>
                      <a:r>
                        <a:rPr lang="en-US" altLang="zh-CN" sz="1400" i="1" u="none" baseline="0">
                          <a:latin typeface="Times New Roman" panose="02020603050405020304" pitchFamily="18" charset="0"/>
                          <a:ea typeface="新宋体" panose="02010609030101010101" charset="-122"/>
                        </a:rPr>
                        <a:t>V</a:t>
                      </a:r>
                      <a:r>
                        <a:rPr lang="en-US" altLang="zh-CN" sz="1400" baseline="-25000">
                          <a:latin typeface="Times New Roman" panose="02020603050405020304" pitchFamily="18" charset="0"/>
                          <a:ea typeface="新宋体" panose="02010609030101010101" charset="-122"/>
                        </a:rPr>
                        <a:t>A</a:t>
                      </a:r>
                      <a:r>
                        <a:rPr lang="en-US" altLang="zh-CN" sz="1400" i="0" baseline="0">
                          <a:latin typeface="Times New Roman" panose="02020603050405020304" pitchFamily="18" charset="0"/>
                          <a:ea typeface="新宋体" panose="02010609030101010101" charset="-122"/>
                        </a:rPr>
                        <a:t>(V)</a:t>
                      </a:r>
                      <a:endParaRPr lang="zh-CN" altLang="en-US" sz="1400" baseline="-25000">
                        <a:latin typeface="Times New Roman" panose="02020603050405020304" pitchFamily="18" charset="0"/>
                        <a:ea typeface="新宋体" panose="02010609030101010101" charset="-122"/>
                      </a:endParaRPr>
                    </a:p>
                  </a:txBody>
                  <a:tcPr marL="91438" marR="91438">
                    <a:solidFill>
                      <a:schemeClr val="accent1">
                        <a:alpha val="20000"/>
                      </a:schemeClr>
                    </a:solidFill>
                  </a:tcPr>
                </a:tc>
                <a:tc>
                  <a:txBody>
                    <a:bodyPr/>
                    <a:lstStyle/>
                    <a:p>
                      <a:pPr algn="ctr"/>
                      <a:r>
                        <a:rPr lang="en-US" altLang="zh-CN" sz="1400" i="1" baseline="0">
                          <a:latin typeface="Times New Roman" panose="02020603050405020304" pitchFamily="18" charset="0"/>
                          <a:ea typeface="新宋体" panose="02010609030101010101" charset="-122"/>
                        </a:rPr>
                        <a:t>V</a:t>
                      </a:r>
                      <a:r>
                        <a:rPr lang="en-US" altLang="zh-CN" sz="1400" i="0" baseline="-25000">
                          <a:latin typeface="Times New Roman" panose="02020603050405020304" pitchFamily="18" charset="0"/>
                          <a:ea typeface="新宋体" panose="02010609030101010101" charset="-122"/>
                        </a:rPr>
                        <a:t>F</a:t>
                      </a:r>
                      <a:r>
                        <a:rPr lang="en-US" altLang="zh-CN" sz="1400" i="0" baseline="0">
                          <a:latin typeface="Times New Roman" panose="02020603050405020304" pitchFamily="18" charset="0"/>
                          <a:ea typeface="新宋体" panose="02010609030101010101" charset="-122"/>
                        </a:rPr>
                        <a:t>(V)</a:t>
                      </a:r>
                      <a:endParaRPr lang="zh-CN" altLang="en-US" sz="1400" baseline="-25000">
                        <a:latin typeface="Times New Roman" panose="02020603050405020304" pitchFamily="18" charset="0"/>
                        <a:ea typeface="新宋体" panose="02010609030101010101" charset="-122"/>
                      </a:endParaRPr>
                    </a:p>
                  </a:txBody>
                  <a:tcPr marL="91438" marR="91438">
                    <a:solidFill>
                      <a:schemeClr val="accent1">
                        <a:alpha val="20000"/>
                      </a:schemeClr>
                    </a:solidFill>
                  </a:tcPr>
                </a:tc>
                <a:extLst>
                  <a:ext uri="{0D108BD9-81ED-4DB2-BD59-A6C34878D82A}">
                    <a16:rowId xmlns:a16="http://schemas.microsoft.com/office/drawing/2014/main" val="10000"/>
                  </a:ext>
                </a:extLst>
              </a:tr>
              <a:tr h="251459">
                <a:tc>
                  <a:txBody>
                    <a:bodyPr/>
                    <a:lstStyle/>
                    <a:p>
                      <a:pPr algn="ctr"/>
                      <a:endParaRPr lang="zh-CN" altLang="en-US" sz="1400" baseline="0" dirty="0">
                        <a:latin typeface="Times New Roman" panose="02020603050405020304" pitchFamily="18" charset="0"/>
                        <a:ea typeface="新宋体" panose="02010609030101010101" charset="-122"/>
                      </a:endParaRPr>
                    </a:p>
                  </a:txBody>
                  <a:tcPr marL="91438" marR="91438">
                    <a:noFill/>
                  </a:tcPr>
                </a:tc>
                <a:tc>
                  <a:txBody>
                    <a:bodyPr/>
                    <a:lstStyle/>
                    <a:p>
                      <a:pPr algn="ctr"/>
                      <a:endParaRPr lang="zh-CN" altLang="en-US" sz="1400" baseline="0">
                        <a:latin typeface="Times New Roman" panose="02020603050405020304" pitchFamily="18" charset="0"/>
                        <a:ea typeface="新宋体" panose="02010609030101010101" charset="-122"/>
                      </a:endParaRPr>
                    </a:p>
                  </a:txBody>
                  <a:tcPr marL="91438" marR="91438">
                    <a:noFill/>
                  </a:tcPr>
                </a:tc>
                <a:tc>
                  <a:txBody>
                    <a:bodyPr/>
                    <a:lstStyle/>
                    <a:p>
                      <a:pPr algn="ctr"/>
                      <a:endParaRPr lang="zh-CN" altLang="en-US" sz="1400" baseline="0">
                        <a:latin typeface="Times New Roman" panose="02020603050405020304" pitchFamily="18" charset="0"/>
                        <a:ea typeface="新宋体" panose="02010609030101010101" charset="-122"/>
                      </a:endParaRPr>
                    </a:p>
                  </a:txBody>
                  <a:tcPr marL="91438" marR="91438">
                    <a:noFill/>
                  </a:tcPr>
                </a:tc>
                <a:extLst>
                  <a:ext uri="{0D108BD9-81ED-4DB2-BD59-A6C34878D82A}">
                    <a16:rowId xmlns:a16="http://schemas.microsoft.com/office/drawing/2014/main" val="10001"/>
                  </a:ext>
                </a:extLst>
              </a:tr>
              <a:tr h="251459">
                <a:tc>
                  <a:txBody>
                    <a:bodyPr/>
                    <a:lstStyle/>
                    <a:p>
                      <a:pPr algn="ctr"/>
                      <a:endParaRPr lang="zh-CN" altLang="en-US" sz="1400" baseline="0">
                        <a:latin typeface="Times New Roman" panose="02020603050405020304" pitchFamily="18" charset="0"/>
                        <a:ea typeface="新宋体" panose="02010609030101010101" charset="-122"/>
                      </a:endParaRPr>
                    </a:p>
                  </a:txBody>
                  <a:tcPr marL="91438" marR="91438"/>
                </a:tc>
                <a:tc>
                  <a:txBody>
                    <a:bodyPr/>
                    <a:lstStyle/>
                    <a:p>
                      <a:pPr algn="ctr"/>
                      <a:endParaRPr lang="zh-CN" altLang="en-US" sz="1400" baseline="0">
                        <a:latin typeface="Times New Roman" panose="02020603050405020304" pitchFamily="18" charset="0"/>
                        <a:ea typeface="新宋体" panose="02010609030101010101" charset="-122"/>
                      </a:endParaRPr>
                    </a:p>
                  </a:txBody>
                  <a:tcPr marL="91438" marR="91438"/>
                </a:tc>
                <a:tc>
                  <a:txBody>
                    <a:bodyPr/>
                    <a:lstStyle/>
                    <a:p>
                      <a:pPr algn="ctr"/>
                      <a:endParaRPr lang="zh-CN" altLang="en-US" sz="1400" baseline="0">
                        <a:latin typeface="Times New Roman" panose="02020603050405020304" pitchFamily="18" charset="0"/>
                        <a:ea typeface="新宋体" panose="02010609030101010101" charset="-122"/>
                      </a:endParaRPr>
                    </a:p>
                  </a:txBody>
                  <a:tcPr marL="91438" marR="91438"/>
                </a:tc>
                <a:extLst>
                  <a:ext uri="{0D108BD9-81ED-4DB2-BD59-A6C34878D82A}">
                    <a16:rowId xmlns:a16="http://schemas.microsoft.com/office/drawing/2014/main" val="10002"/>
                  </a:ext>
                </a:extLst>
              </a:tr>
              <a:tr h="251459">
                <a:tc>
                  <a:txBody>
                    <a:bodyPr/>
                    <a:lstStyle/>
                    <a:p>
                      <a:pPr algn="ctr"/>
                      <a:endParaRPr lang="zh-CN" altLang="en-US" sz="1400" baseline="0">
                        <a:latin typeface="Times New Roman" panose="02020603050405020304" pitchFamily="18" charset="0"/>
                        <a:ea typeface="新宋体" panose="02010609030101010101" charset="-122"/>
                      </a:endParaRPr>
                    </a:p>
                  </a:txBody>
                  <a:tcPr marL="91438" marR="91438">
                    <a:noFill/>
                  </a:tcPr>
                </a:tc>
                <a:tc>
                  <a:txBody>
                    <a:bodyPr/>
                    <a:lstStyle/>
                    <a:p>
                      <a:pPr algn="ctr"/>
                      <a:endParaRPr lang="zh-CN" altLang="en-US" sz="1400" baseline="0">
                        <a:latin typeface="Times New Roman" panose="02020603050405020304" pitchFamily="18" charset="0"/>
                        <a:ea typeface="新宋体" panose="02010609030101010101" charset="-122"/>
                      </a:endParaRPr>
                    </a:p>
                  </a:txBody>
                  <a:tcPr marL="91438" marR="91438">
                    <a:noFill/>
                  </a:tcPr>
                </a:tc>
                <a:tc>
                  <a:txBody>
                    <a:bodyPr/>
                    <a:lstStyle/>
                    <a:p>
                      <a:pPr algn="ctr"/>
                      <a:endParaRPr lang="zh-CN" altLang="en-US" sz="1400" baseline="0">
                        <a:latin typeface="Times New Roman" panose="02020603050405020304" pitchFamily="18" charset="0"/>
                        <a:ea typeface="新宋体" panose="02010609030101010101" charset="-122"/>
                      </a:endParaRPr>
                    </a:p>
                  </a:txBody>
                  <a:tcPr marL="91438" marR="91438">
                    <a:noFill/>
                  </a:tcPr>
                </a:tc>
                <a:extLst>
                  <a:ext uri="{0D108BD9-81ED-4DB2-BD59-A6C34878D82A}">
                    <a16:rowId xmlns:a16="http://schemas.microsoft.com/office/drawing/2014/main" val="10003"/>
                  </a:ext>
                </a:extLst>
              </a:tr>
              <a:tr h="251459">
                <a:tc>
                  <a:txBody>
                    <a:bodyPr/>
                    <a:lstStyle/>
                    <a:p>
                      <a:pPr algn="ctr"/>
                      <a:endParaRPr lang="zh-CN" altLang="en-US" sz="1400" baseline="0">
                        <a:latin typeface="Times New Roman" panose="02020603050405020304" pitchFamily="18" charset="0"/>
                        <a:ea typeface="新宋体" panose="02010609030101010101" charset="-122"/>
                      </a:endParaRPr>
                    </a:p>
                  </a:txBody>
                  <a:tcPr marL="91438" marR="91438"/>
                </a:tc>
                <a:tc>
                  <a:txBody>
                    <a:bodyPr/>
                    <a:lstStyle/>
                    <a:p>
                      <a:pPr algn="ctr"/>
                      <a:endParaRPr lang="zh-CN" altLang="en-US" sz="1400" baseline="0">
                        <a:latin typeface="Times New Roman" panose="02020603050405020304" pitchFamily="18" charset="0"/>
                        <a:ea typeface="新宋体" panose="02010609030101010101" charset="-122"/>
                      </a:endParaRPr>
                    </a:p>
                  </a:txBody>
                  <a:tcPr marL="91438" marR="91438"/>
                </a:tc>
                <a:tc>
                  <a:txBody>
                    <a:bodyPr/>
                    <a:lstStyle/>
                    <a:p>
                      <a:pPr algn="ctr"/>
                      <a:endParaRPr lang="zh-CN" altLang="en-US" sz="1400" baseline="0" dirty="0">
                        <a:latin typeface="Times New Roman" panose="02020603050405020304" pitchFamily="18" charset="0"/>
                        <a:ea typeface="新宋体" panose="02010609030101010101" charset="-122"/>
                      </a:endParaRPr>
                    </a:p>
                  </a:txBody>
                  <a:tcPr marL="91438" marR="91438"/>
                </a:tc>
                <a:extLst>
                  <a:ext uri="{0D108BD9-81ED-4DB2-BD59-A6C34878D82A}">
                    <a16:rowId xmlns:a16="http://schemas.microsoft.com/office/drawing/2014/main" val="10004"/>
                  </a:ext>
                </a:extLst>
              </a:tr>
            </a:tbl>
          </a:graphicData>
        </a:graphic>
      </p:graphicFrame>
      <p:pic>
        <p:nvPicPr>
          <p:cNvPr id="6" name="Picture 3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33342" y="4714875"/>
            <a:ext cx="1466850" cy="157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6375" y="1285875"/>
            <a:ext cx="3349625" cy="307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74LS00</a:t>
            </a:r>
            <a:r>
              <a:rPr lang="zh-CN" altLang="en-US" dirty="0">
                <a:sym typeface="+mn-ea"/>
              </a:rPr>
              <a:t>测试接线图</a:t>
            </a:r>
            <a:endParaRPr lang="en-US" altLang="zh-CN" dirty="0">
              <a:sym typeface="+mn-ea"/>
            </a:endParaRPr>
          </a:p>
        </p:txBody>
      </p:sp>
      <p:pic>
        <p:nvPicPr>
          <p:cNvPr id="4" name="内容占位符 3" descr="74LS00_副本"/>
          <p:cNvPicPr>
            <a:picLocks noGrp="1" noChangeAspect="1"/>
          </p:cNvPicPr>
          <p:nvPr>
            <p:ph idx="1"/>
          </p:nvPr>
        </p:nvPicPr>
        <p:blipFill>
          <a:blip r:embed="rId2"/>
          <a:stretch>
            <a:fillRect/>
          </a:stretch>
        </p:blipFill>
        <p:spPr>
          <a:xfrm>
            <a:off x="1891665" y="1653540"/>
            <a:ext cx="4362450" cy="462788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30832" y="242392"/>
            <a:ext cx="7581528" cy="954360"/>
          </a:xfrm>
        </p:spPr>
        <p:txBody>
          <a:bodyPr>
            <a:normAutofit fontScale="90000"/>
          </a:bodyPr>
          <a:lstStyle/>
          <a:p>
            <a:r>
              <a:rPr lang="zh-CN" altLang="en-US" dirty="0"/>
              <a:t>验证</a:t>
            </a:r>
            <a:r>
              <a:rPr lang="en-US" altLang="zh-CN" dirty="0"/>
              <a:t>CD4001 </a:t>
            </a:r>
            <a:r>
              <a:rPr lang="zh-CN" altLang="en-US" dirty="0"/>
              <a:t>“或非”门逻辑功能</a:t>
            </a:r>
          </a:p>
        </p:txBody>
      </p:sp>
      <p:sp>
        <p:nvSpPr>
          <p:cNvPr id="9" name="内容占位符 4"/>
          <p:cNvSpPr>
            <a:spLocks noGrp="1"/>
          </p:cNvSpPr>
          <p:nvPr>
            <p:ph idx="1"/>
          </p:nvPr>
        </p:nvSpPr>
        <p:spPr>
          <a:xfrm>
            <a:off x="179512" y="1313830"/>
            <a:ext cx="4824536" cy="5283522"/>
          </a:xfrm>
        </p:spPr>
        <p:txBody>
          <a:bodyPr>
            <a:normAutofit fontScale="92500" lnSpcReduction="10000"/>
          </a:bodyPr>
          <a:lstStyle/>
          <a:p>
            <a:pPr marL="358775" indent="-358775" eaLnBrk="1" fontAlgn="auto" hangingPunct="1">
              <a:lnSpc>
                <a:spcPct val="150000"/>
              </a:lnSpc>
              <a:spcAft>
                <a:spcPts val="0"/>
              </a:spcAft>
              <a:buFont typeface="+mj-lt"/>
              <a:buAutoNum type="arabicPeriod"/>
              <a:defRPr/>
            </a:pPr>
            <a:r>
              <a:rPr lang="zh-CN" altLang="en-US" sz="2400" dirty="0">
                <a:effectLst>
                  <a:outerShdw blurRad="50800" dist="38100" dir="2700000" algn="tl" rotWithShape="0">
                    <a:prstClr val="black">
                      <a:alpha val="40000"/>
                    </a:prstClr>
                  </a:outerShdw>
                </a:effectLst>
              </a:rPr>
              <a:t>将芯片插入实验箱的</a:t>
            </a:r>
            <a:r>
              <a:rPr lang="en-US" altLang="zh-CN" sz="2400" dirty="0">
                <a:effectLst>
                  <a:outerShdw blurRad="50800" dist="38100" dir="2700000" algn="tl" rotWithShape="0">
                    <a:prstClr val="black">
                      <a:alpha val="40000"/>
                    </a:prstClr>
                  </a:outerShdw>
                </a:effectLst>
              </a:rPr>
              <a:t>IC</a:t>
            </a:r>
            <a:r>
              <a:rPr lang="zh-CN" altLang="en-US" sz="2400" dirty="0">
                <a:effectLst>
                  <a:outerShdw blurRad="50800" dist="38100" dir="2700000" algn="tl" rotWithShape="0">
                    <a:prstClr val="black">
                      <a:alpha val="40000"/>
                    </a:prstClr>
                  </a:outerShdw>
                </a:effectLst>
              </a:rPr>
              <a:t>插座中</a:t>
            </a:r>
          </a:p>
          <a:p>
            <a:pPr marL="358775" indent="-358775" eaLnBrk="1" fontAlgn="auto" hangingPunct="1">
              <a:lnSpc>
                <a:spcPct val="150000"/>
              </a:lnSpc>
              <a:spcAft>
                <a:spcPts val="0"/>
              </a:spcAft>
              <a:buFont typeface="+mj-lt"/>
              <a:buAutoNum type="arabicPeriod"/>
              <a:defRPr/>
            </a:pPr>
            <a:r>
              <a:rPr lang="zh-CN" altLang="en-US" sz="2400" dirty="0">
                <a:effectLst>
                  <a:outerShdw blurRad="50800" dist="38100" dir="2700000" algn="tl" rotWithShape="0">
                    <a:prstClr val="black">
                      <a:alpha val="40000"/>
                    </a:prstClr>
                  </a:outerShdw>
                </a:effectLst>
              </a:rPr>
              <a:t>按右图连接电路，</a:t>
            </a:r>
            <a:r>
              <a:rPr lang="en-US" altLang="zh-CN" sz="2400" i="1" dirty="0">
                <a:effectLst>
                  <a:outerShdw blurRad="50800" dist="38100" dir="2700000" algn="tl" rotWithShape="0">
                    <a:prstClr val="black">
                      <a:alpha val="40000"/>
                    </a:prstClr>
                  </a:outerShdw>
                </a:effectLst>
              </a:rPr>
              <a:t>V</a:t>
            </a:r>
            <a:r>
              <a:rPr lang="en-US" altLang="zh-CN" sz="2400" i="1" baseline="-25000" dirty="0">
                <a:effectLst>
                  <a:outerShdw blurRad="50800" dist="38100" dir="2700000" algn="tl" rotWithShape="0">
                    <a:prstClr val="black">
                      <a:alpha val="40000"/>
                    </a:prstClr>
                  </a:outerShdw>
                </a:effectLst>
              </a:rPr>
              <a:t>CC </a:t>
            </a:r>
            <a:r>
              <a:rPr lang="zh-CN" altLang="en-US" sz="2400" dirty="0">
                <a:effectLst>
                  <a:outerShdw blurRad="50800" dist="38100" dir="2700000" algn="tl" rotWithShape="0">
                    <a:prstClr val="black">
                      <a:alpha val="40000"/>
                    </a:prstClr>
                  </a:outerShdw>
                </a:effectLst>
              </a:rPr>
              <a:t>接直流</a:t>
            </a:r>
            <a:r>
              <a:rPr lang="en-US" altLang="zh-CN" sz="2400" dirty="0">
                <a:effectLst>
                  <a:outerShdw blurRad="50800" dist="38100" dir="2700000" algn="tl" rotWithShape="0">
                    <a:prstClr val="black">
                      <a:alpha val="40000"/>
                    </a:prstClr>
                  </a:outerShdw>
                </a:effectLst>
              </a:rPr>
              <a:t>5V</a:t>
            </a:r>
            <a:r>
              <a:rPr lang="zh-CN" altLang="en-US" sz="2400" dirty="0">
                <a:effectLst>
                  <a:outerShdw blurRad="50800" dist="38100" dir="2700000" algn="tl" rotWithShape="0">
                    <a:prstClr val="black">
                      <a:alpha val="40000"/>
                    </a:prstClr>
                  </a:outerShdw>
                </a:effectLst>
              </a:rPr>
              <a:t>电压，地端接地线</a:t>
            </a:r>
          </a:p>
          <a:p>
            <a:pPr marL="457200" indent="-457200" eaLnBrk="1" fontAlgn="auto" hangingPunct="1">
              <a:lnSpc>
                <a:spcPct val="150000"/>
              </a:lnSpc>
              <a:spcAft>
                <a:spcPts val="0"/>
              </a:spcAft>
              <a:buFont typeface="+mj-lt"/>
              <a:buAutoNum type="arabicPeriod"/>
              <a:defRPr/>
            </a:pPr>
            <a:r>
              <a:rPr lang="zh-CN" altLang="en-US" sz="2400" dirty="0">
                <a:effectLst>
                  <a:outerShdw blurRad="50800" dist="38100" dir="2700000" algn="tl" rotWithShape="0">
                    <a:prstClr val="black">
                      <a:alpha val="40000"/>
                    </a:prstClr>
                  </a:outerShdw>
                </a:effectLst>
              </a:rPr>
              <a:t>高低电平通过</a:t>
            </a:r>
            <a:r>
              <a:rPr lang="en-US" altLang="zh-CN" sz="2400" dirty="0">
                <a:effectLst>
                  <a:outerShdw blurRad="50800" dist="38100" dir="2700000" algn="tl" rotWithShape="0">
                    <a:prstClr val="black">
                      <a:alpha val="40000"/>
                    </a:prstClr>
                  </a:outerShdw>
                </a:effectLst>
              </a:rPr>
              <a:t>S14/S15/S16/S17</a:t>
            </a:r>
            <a:r>
              <a:rPr lang="zh-CN" altLang="en-US" sz="2400" dirty="0">
                <a:effectLst>
                  <a:outerShdw blurRad="50800" dist="38100" dir="2700000" algn="tl" rotWithShape="0">
                    <a:prstClr val="black">
                      <a:alpha val="40000"/>
                    </a:prstClr>
                  </a:outerShdw>
                </a:effectLst>
              </a:rPr>
              <a:t>拨位开关产生，</a:t>
            </a:r>
          </a:p>
          <a:p>
            <a:pPr marL="358775" indent="-358775" eaLnBrk="1" fontAlgn="auto" hangingPunct="1">
              <a:lnSpc>
                <a:spcPct val="150000"/>
              </a:lnSpc>
              <a:spcAft>
                <a:spcPts val="0"/>
              </a:spcAft>
              <a:buFont typeface="+mj-lt"/>
              <a:buAutoNum type="arabicPeriod"/>
              <a:defRPr/>
            </a:pPr>
            <a:r>
              <a:rPr lang="zh-CN" altLang="en-US" sz="2400" dirty="0">
                <a:effectLst>
                  <a:outerShdw blurRad="50800" dist="38100" dir="2700000" algn="tl" rotWithShape="0">
                    <a:prstClr val="black">
                      <a:alpha val="40000"/>
                    </a:prstClr>
                  </a:outerShdw>
                </a:effectLst>
              </a:rPr>
              <a:t>以真值表顺序遍历输入</a:t>
            </a:r>
            <a:r>
              <a:rPr lang="en-US" altLang="zh-CN" sz="2400" i="1" dirty="0">
                <a:effectLst>
                  <a:outerShdw blurRad="50800" dist="38100" dir="2700000" algn="tl" rotWithShape="0">
                    <a:prstClr val="black">
                      <a:alpha val="40000"/>
                    </a:prstClr>
                  </a:outerShdw>
                </a:effectLst>
              </a:rPr>
              <a:t>A,B</a:t>
            </a:r>
            <a:r>
              <a:rPr lang="zh-CN" altLang="en-US" sz="2400" dirty="0">
                <a:effectLst>
                  <a:outerShdw blurRad="50800" dist="38100" dir="2700000" algn="tl" rotWithShape="0">
                    <a:prstClr val="black">
                      <a:alpha val="40000"/>
                    </a:prstClr>
                  </a:outerShdw>
                </a:effectLst>
              </a:rPr>
              <a:t>所有组合，测量输入端</a:t>
            </a:r>
            <a:r>
              <a:rPr lang="en-US" altLang="zh-CN" sz="2400" i="1" dirty="0">
                <a:effectLst>
                  <a:outerShdw blurRad="50800" dist="38100" dir="2700000" algn="tl" rotWithShape="0">
                    <a:prstClr val="black">
                      <a:alpha val="40000"/>
                    </a:prstClr>
                  </a:outerShdw>
                </a:effectLst>
              </a:rPr>
              <a:t>A</a:t>
            </a:r>
            <a:r>
              <a:rPr lang="en-US" altLang="zh-CN" sz="2400" dirty="0">
                <a:effectLst>
                  <a:outerShdw blurRad="50800" dist="38100" dir="2700000" algn="tl" rotWithShape="0">
                    <a:prstClr val="black">
                      <a:alpha val="40000"/>
                    </a:prstClr>
                  </a:outerShdw>
                </a:effectLst>
              </a:rPr>
              <a:t>,</a:t>
            </a:r>
            <a:r>
              <a:rPr lang="en-US" altLang="zh-CN" sz="2400" i="1" dirty="0">
                <a:effectLst>
                  <a:outerShdw blurRad="50800" dist="38100" dir="2700000" algn="tl" rotWithShape="0">
                    <a:prstClr val="black">
                      <a:alpha val="40000"/>
                    </a:prstClr>
                  </a:outerShdw>
                </a:effectLst>
              </a:rPr>
              <a:t>B</a:t>
            </a:r>
            <a:r>
              <a:rPr lang="zh-CN" altLang="en-US" sz="2400" dirty="0">
                <a:effectLst>
                  <a:outerShdw blurRad="50800" dist="38100" dir="2700000" algn="tl" rotWithShape="0">
                    <a:prstClr val="black">
                      <a:alpha val="40000"/>
                    </a:prstClr>
                  </a:outerShdw>
                </a:effectLst>
              </a:rPr>
              <a:t>及输出端</a:t>
            </a:r>
            <a:r>
              <a:rPr lang="en-US" altLang="zh-CN" sz="2400" i="1" dirty="0">
                <a:effectLst>
                  <a:outerShdw blurRad="50800" dist="38100" dir="2700000" algn="tl" rotWithShape="0">
                    <a:prstClr val="black">
                      <a:alpha val="40000"/>
                    </a:prstClr>
                  </a:outerShdw>
                </a:effectLst>
              </a:rPr>
              <a:t>F</a:t>
            </a:r>
            <a:r>
              <a:rPr lang="zh-CN" altLang="en-US" sz="2400" dirty="0">
                <a:effectLst>
                  <a:outerShdw blurRad="50800" dist="38100" dir="2700000" algn="tl" rotWithShape="0">
                    <a:prstClr val="black">
                      <a:alpha val="40000"/>
                    </a:prstClr>
                  </a:outerShdw>
                </a:effectLst>
              </a:rPr>
              <a:t>电压值，记录右表</a:t>
            </a:r>
            <a:endParaRPr lang="en-US" altLang="zh-CN" sz="2400" dirty="0">
              <a:effectLst>
                <a:outerShdw blurRad="50800" dist="38100" dir="2700000" algn="tl" rotWithShape="0">
                  <a:prstClr val="black">
                    <a:alpha val="40000"/>
                  </a:prstClr>
                </a:outerShdw>
              </a:effectLst>
            </a:endParaRPr>
          </a:p>
          <a:p>
            <a:pPr marL="358775" indent="-358775" eaLnBrk="1" fontAlgn="auto" hangingPunct="1">
              <a:lnSpc>
                <a:spcPct val="150000"/>
              </a:lnSpc>
              <a:spcAft>
                <a:spcPts val="0"/>
              </a:spcAft>
              <a:buFont typeface="+mj-lt"/>
              <a:buAutoNum type="arabicPeriod"/>
              <a:defRPr/>
            </a:pPr>
            <a:r>
              <a:rPr lang="zh-CN" altLang="en-US" sz="2400" dirty="0">
                <a:effectLst>
                  <a:outerShdw blurRad="50800" dist="38100" dir="2700000" algn="tl" rotWithShape="0">
                    <a:prstClr val="black">
                      <a:alpha val="40000"/>
                    </a:prstClr>
                  </a:outerShdw>
                </a:effectLst>
              </a:rPr>
              <a:t>重复步骤</a:t>
            </a:r>
            <a:r>
              <a:rPr lang="en-US" altLang="zh-CN" sz="2400" dirty="0">
                <a:effectLst>
                  <a:outerShdw blurRad="50800" dist="38100" dir="2700000" algn="tl" rotWithShape="0">
                    <a:prstClr val="black">
                      <a:alpha val="40000"/>
                    </a:prstClr>
                  </a:outerShdw>
                </a:effectLst>
              </a:rPr>
              <a:t>3~4</a:t>
            </a:r>
            <a:r>
              <a:rPr lang="zh-CN" altLang="en-US" sz="2400" dirty="0">
                <a:effectLst>
                  <a:outerShdw blurRad="50800" dist="38100" dir="2700000" algn="tl" rotWithShape="0">
                    <a:prstClr val="black">
                      <a:alpha val="40000"/>
                    </a:prstClr>
                  </a:outerShdw>
                </a:effectLst>
              </a:rPr>
              <a:t>，测量其他</a:t>
            </a:r>
            <a:r>
              <a:rPr lang="en-US" altLang="zh-CN" sz="2400" dirty="0">
                <a:effectLst>
                  <a:outerShdw blurRad="50800" dist="38100" dir="2700000" algn="tl" rotWithShape="0">
                    <a:prstClr val="black">
                      <a:alpha val="40000"/>
                    </a:prstClr>
                  </a:outerShdw>
                </a:effectLst>
              </a:rPr>
              <a:t>3</a:t>
            </a:r>
            <a:r>
              <a:rPr lang="zh-CN" altLang="en-US" sz="2400" dirty="0">
                <a:effectLst>
                  <a:outerShdw blurRad="50800" dist="38100" dir="2700000" algn="tl" rotWithShape="0">
                    <a:prstClr val="black">
                      <a:alpha val="40000"/>
                    </a:prstClr>
                  </a:outerShdw>
                </a:effectLst>
              </a:rPr>
              <a:t>个门的逻辑关系并判断门的好坏</a:t>
            </a:r>
            <a:endParaRPr lang="zh-CN" altLang="en-US" sz="2400" dirty="0"/>
          </a:p>
        </p:txBody>
      </p:sp>
      <p:graphicFrame>
        <p:nvGraphicFramePr>
          <p:cNvPr id="10" name="表格"/>
          <p:cNvGraphicFramePr>
            <a:graphicFrameLocks noGrp="1"/>
          </p:cNvGraphicFramePr>
          <p:nvPr/>
        </p:nvGraphicFramePr>
        <p:xfrm>
          <a:off x="6508056" y="4834088"/>
          <a:ext cx="2384424" cy="1619248"/>
        </p:xfrm>
        <a:graphic>
          <a:graphicData uri="http://schemas.openxmlformats.org/drawingml/2006/table">
            <a:tbl>
              <a:tblPr firstRow="1" bandRow="1">
                <a:tableStyleId>{BC89EF96-8CEA-46FF-86C4-4CE0E7609802}</a:tableStyleId>
              </a:tblPr>
              <a:tblGrid>
                <a:gridCol w="794808">
                  <a:extLst>
                    <a:ext uri="{9D8B030D-6E8A-4147-A177-3AD203B41FA5}">
                      <a16:colId xmlns:a16="http://schemas.microsoft.com/office/drawing/2014/main" val="20000"/>
                    </a:ext>
                  </a:extLst>
                </a:gridCol>
                <a:gridCol w="794808">
                  <a:extLst>
                    <a:ext uri="{9D8B030D-6E8A-4147-A177-3AD203B41FA5}">
                      <a16:colId xmlns:a16="http://schemas.microsoft.com/office/drawing/2014/main" val="20001"/>
                    </a:ext>
                  </a:extLst>
                </a:gridCol>
                <a:gridCol w="794808">
                  <a:extLst>
                    <a:ext uri="{9D8B030D-6E8A-4147-A177-3AD203B41FA5}">
                      <a16:colId xmlns:a16="http://schemas.microsoft.com/office/drawing/2014/main" val="20002"/>
                    </a:ext>
                  </a:extLst>
                </a:gridCol>
              </a:tblGrid>
              <a:tr h="335280">
                <a:tc>
                  <a:txBody>
                    <a:bodyPr/>
                    <a:lstStyle/>
                    <a:p>
                      <a:pPr algn="ctr"/>
                      <a:r>
                        <a:rPr lang="en-US" altLang="zh-CN" sz="1600" i="1" baseline="0" dirty="0">
                          <a:latin typeface="Times New Roman" panose="02020603050405020304" pitchFamily="18" charset="0"/>
                          <a:ea typeface="新宋体" panose="02010609030101010101" charset="-122"/>
                        </a:rPr>
                        <a:t>V</a:t>
                      </a:r>
                      <a:r>
                        <a:rPr lang="en-US" altLang="zh-CN" sz="1600" baseline="-25000" dirty="0">
                          <a:latin typeface="Times New Roman" panose="02020603050405020304" pitchFamily="18" charset="0"/>
                          <a:ea typeface="新宋体" panose="02010609030101010101" charset="-122"/>
                        </a:rPr>
                        <a:t>B</a:t>
                      </a:r>
                      <a:r>
                        <a:rPr lang="en-US" altLang="zh-CN" sz="1600" i="0" baseline="0" dirty="0">
                          <a:latin typeface="Times New Roman" panose="02020603050405020304" pitchFamily="18" charset="0"/>
                          <a:ea typeface="新宋体" panose="02010609030101010101" charset="-122"/>
                        </a:rPr>
                        <a:t>(V)</a:t>
                      </a:r>
                      <a:endParaRPr lang="zh-CN" altLang="en-US" sz="1600" baseline="-25000" dirty="0">
                        <a:latin typeface="Times New Roman" panose="02020603050405020304" pitchFamily="18" charset="0"/>
                        <a:ea typeface="新宋体" panose="02010609030101010101" charset="-122"/>
                      </a:endParaRPr>
                    </a:p>
                  </a:txBody>
                  <a:tcPr marL="91439" marR="91439">
                    <a:solidFill>
                      <a:schemeClr val="accent1">
                        <a:alpha val="20000"/>
                      </a:schemeClr>
                    </a:solidFill>
                  </a:tcPr>
                </a:tc>
                <a:tc>
                  <a:txBody>
                    <a:bodyPr/>
                    <a:lstStyle/>
                    <a:p>
                      <a:pPr algn="ctr"/>
                      <a:r>
                        <a:rPr lang="en-US" altLang="zh-CN" sz="1600" i="1" u="none" baseline="0">
                          <a:latin typeface="Times New Roman" panose="02020603050405020304" pitchFamily="18" charset="0"/>
                          <a:ea typeface="新宋体" panose="02010609030101010101" charset="-122"/>
                        </a:rPr>
                        <a:t>V</a:t>
                      </a:r>
                      <a:r>
                        <a:rPr lang="en-US" altLang="zh-CN" sz="1600" baseline="-25000">
                          <a:latin typeface="Times New Roman" panose="02020603050405020304" pitchFamily="18" charset="0"/>
                          <a:ea typeface="新宋体" panose="02010609030101010101" charset="-122"/>
                        </a:rPr>
                        <a:t>A</a:t>
                      </a:r>
                      <a:r>
                        <a:rPr lang="en-US" altLang="zh-CN" sz="1600" i="0" baseline="0">
                          <a:latin typeface="Times New Roman" panose="02020603050405020304" pitchFamily="18" charset="0"/>
                          <a:ea typeface="新宋体" panose="02010609030101010101" charset="-122"/>
                        </a:rPr>
                        <a:t>(V)</a:t>
                      </a:r>
                      <a:endParaRPr lang="zh-CN" altLang="en-US" sz="1600" baseline="-25000">
                        <a:latin typeface="Times New Roman" panose="02020603050405020304" pitchFamily="18" charset="0"/>
                        <a:ea typeface="新宋体" panose="02010609030101010101" charset="-122"/>
                      </a:endParaRPr>
                    </a:p>
                  </a:txBody>
                  <a:tcPr marL="91439" marR="91439">
                    <a:solidFill>
                      <a:schemeClr val="accent1">
                        <a:alpha val="20000"/>
                      </a:schemeClr>
                    </a:solidFill>
                  </a:tcPr>
                </a:tc>
                <a:tc>
                  <a:txBody>
                    <a:bodyPr/>
                    <a:lstStyle/>
                    <a:p>
                      <a:pPr algn="ctr"/>
                      <a:r>
                        <a:rPr lang="en-US" altLang="zh-CN" sz="1600" i="1" baseline="0">
                          <a:latin typeface="Times New Roman" panose="02020603050405020304" pitchFamily="18" charset="0"/>
                          <a:ea typeface="新宋体" panose="02010609030101010101" charset="-122"/>
                        </a:rPr>
                        <a:t>V</a:t>
                      </a:r>
                      <a:r>
                        <a:rPr lang="en-US" altLang="zh-CN" sz="1600" i="0" baseline="-25000">
                          <a:latin typeface="Times New Roman" panose="02020603050405020304" pitchFamily="18" charset="0"/>
                          <a:ea typeface="新宋体" panose="02010609030101010101" charset="-122"/>
                        </a:rPr>
                        <a:t>F</a:t>
                      </a:r>
                      <a:r>
                        <a:rPr lang="en-US" altLang="zh-CN" sz="1600" i="0" baseline="0">
                          <a:latin typeface="Times New Roman" panose="02020603050405020304" pitchFamily="18" charset="0"/>
                          <a:ea typeface="新宋体" panose="02010609030101010101" charset="-122"/>
                        </a:rPr>
                        <a:t>(V)</a:t>
                      </a:r>
                      <a:endParaRPr lang="zh-CN" altLang="en-US" sz="1600" baseline="-25000">
                        <a:latin typeface="Times New Roman" panose="02020603050405020304" pitchFamily="18" charset="0"/>
                        <a:ea typeface="新宋体" panose="02010609030101010101" charset="-122"/>
                      </a:endParaRPr>
                    </a:p>
                  </a:txBody>
                  <a:tcPr marL="91439" marR="91439">
                    <a:solidFill>
                      <a:schemeClr val="accent1">
                        <a:alpha val="20000"/>
                      </a:schemeClr>
                    </a:solidFill>
                  </a:tcPr>
                </a:tc>
                <a:extLst>
                  <a:ext uri="{0D108BD9-81ED-4DB2-BD59-A6C34878D82A}">
                    <a16:rowId xmlns:a16="http://schemas.microsoft.com/office/drawing/2014/main" val="10000"/>
                  </a:ext>
                </a:extLst>
              </a:tr>
              <a:tr h="320992">
                <a:tc>
                  <a:txBody>
                    <a:bodyPr/>
                    <a:lstStyle/>
                    <a:p>
                      <a:pPr algn="ctr"/>
                      <a:endParaRPr lang="zh-CN" altLang="en-US" sz="1200" baseline="0">
                        <a:latin typeface="Times New Roman" panose="02020603050405020304" pitchFamily="18" charset="0"/>
                        <a:ea typeface="新宋体" panose="02010609030101010101" charset="-122"/>
                      </a:endParaRPr>
                    </a:p>
                  </a:txBody>
                  <a:tcPr marL="91439" marR="91439">
                    <a:noFill/>
                  </a:tcPr>
                </a:tc>
                <a:tc>
                  <a:txBody>
                    <a:bodyPr/>
                    <a:lstStyle/>
                    <a:p>
                      <a:pPr algn="ctr"/>
                      <a:endParaRPr lang="zh-CN" altLang="en-US" sz="1200" baseline="0">
                        <a:latin typeface="Times New Roman" panose="02020603050405020304" pitchFamily="18" charset="0"/>
                        <a:ea typeface="新宋体" panose="02010609030101010101" charset="-122"/>
                      </a:endParaRPr>
                    </a:p>
                  </a:txBody>
                  <a:tcPr marL="91439" marR="91439">
                    <a:noFill/>
                  </a:tcPr>
                </a:tc>
                <a:tc>
                  <a:txBody>
                    <a:bodyPr/>
                    <a:lstStyle/>
                    <a:p>
                      <a:pPr algn="ctr"/>
                      <a:endParaRPr lang="zh-CN" altLang="en-US" sz="1200" baseline="0">
                        <a:latin typeface="Times New Roman" panose="02020603050405020304" pitchFamily="18" charset="0"/>
                        <a:ea typeface="新宋体" panose="02010609030101010101" charset="-122"/>
                      </a:endParaRPr>
                    </a:p>
                  </a:txBody>
                  <a:tcPr marL="91439" marR="91439">
                    <a:noFill/>
                  </a:tcPr>
                </a:tc>
                <a:extLst>
                  <a:ext uri="{0D108BD9-81ED-4DB2-BD59-A6C34878D82A}">
                    <a16:rowId xmlns:a16="http://schemas.microsoft.com/office/drawing/2014/main" val="10001"/>
                  </a:ext>
                </a:extLst>
              </a:tr>
              <a:tr h="320992">
                <a:tc>
                  <a:txBody>
                    <a:bodyPr/>
                    <a:lstStyle/>
                    <a:p>
                      <a:pPr algn="ctr"/>
                      <a:endParaRPr lang="zh-CN" altLang="en-US" sz="1200" baseline="0" dirty="0">
                        <a:latin typeface="Times New Roman" panose="02020603050405020304" pitchFamily="18" charset="0"/>
                        <a:ea typeface="新宋体" panose="02010609030101010101" charset="-122"/>
                      </a:endParaRPr>
                    </a:p>
                  </a:txBody>
                  <a:tcPr marL="91439" marR="91439"/>
                </a:tc>
                <a:tc>
                  <a:txBody>
                    <a:bodyPr/>
                    <a:lstStyle/>
                    <a:p>
                      <a:pPr algn="ctr"/>
                      <a:endParaRPr lang="zh-CN" altLang="en-US" sz="1200" baseline="0">
                        <a:latin typeface="Times New Roman" panose="02020603050405020304" pitchFamily="18" charset="0"/>
                        <a:ea typeface="新宋体" panose="02010609030101010101" charset="-122"/>
                      </a:endParaRPr>
                    </a:p>
                  </a:txBody>
                  <a:tcPr marL="91439" marR="91439"/>
                </a:tc>
                <a:tc>
                  <a:txBody>
                    <a:bodyPr/>
                    <a:lstStyle/>
                    <a:p>
                      <a:pPr algn="ctr"/>
                      <a:endParaRPr lang="zh-CN" altLang="en-US" sz="1200" baseline="0">
                        <a:latin typeface="Times New Roman" panose="02020603050405020304" pitchFamily="18" charset="0"/>
                        <a:ea typeface="新宋体" panose="02010609030101010101" charset="-122"/>
                      </a:endParaRPr>
                    </a:p>
                  </a:txBody>
                  <a:tcPr marL="91439" marR="91439"/>
                </a:tc>
                <a:extLst>
                  <a:ext uri="{0D108BD9-81ED-4DB2-BD59-A6C34878D82A}">
                    <a16:rowId xmlns:a16="http://schemas.microsoft.com/office/drawing/2014/main" val="10002"/>
                  </a:ext>
                </a:extLst>
              </a:tr>
              <a:tr h="320992">
                <a:tc>
                  <a:txBody>
                    <a:bodyPr/>
                    <a:lstStyle/>
                    <a:p>
                      <a:pPr algn="ctr"/>
                      <a:endParaRPr lang="zh-CN" altLang="en-US" sz="1200" baseline="0">
                        <a:latin typeface="Times New Roman" panose="02020603050405020304" pitchFamily="18" charset="0"/>
                        <a:ea typeface="新宋体" panose="02010609030101010101" charset="-122"/>
                      </a:endParaRPr>
                    </a:p>
                  </a:txBody>
                  <a:tcPr marL="91439" marR="91439">
                    <a:noFill/>
                  </a:tcPr>
                </a:tc>
                <a:tc>
                  <a:txBody>
                    <a:bodyPr/>
                    <a:lstStyle/>
                    <a:p>
                      <a:pPr algn="ctr"/>
                      <a:endParaRPr lang="zh-CN" altLang="en-US" sz="1200" baseline="0" dirty="0">
                        <a:latin typeface="Times New Roman" panose="02020603050405020304" pitchFamily="18" charset="0"/>
                        <a:ea typeface="新宋体" panose="02010609030101010101" charset="-122"/>
                      </a:endParaRPr>
                    </a:p>
                  </a:txBody>
                  <a:tcPr marL="91439" marR="91439">
                    <a:noFill/>
                  </a:tcPr>
                </a:tc>
                <a:tc>
                  <a:txBody>
                    <a:bodyPr/>
                    <a:lstStyle/>
                    <a:p>
                      <a:pPr algn="ctr"/>
                      <a:endParaRPr lang="zh-CN" altLang="en-US" sz="1200" baseline="0">
                        <a:latin typeface="Times New Roman" panose="02020603050405020304" pitchFamily="18" charset="0"/>
                        <a:ea typeface="新宋体" panose="02010609030101010101" charset="-122"/>
                      </a:endParaRPr>
                    </a:p>
                  </a:txBody>
                  <a:tcPr marL="91439" marR="91439">
                    <a:noFill/>
                  </a:tcPr>
                </a:tc>
                <a:extLst>
                  <a:ext uri="{0D108BD9-81ED-4DB2-BD59-A6C34878D82A}">
                    <a16:rowId xmlns:a16="http://schemas.microsoft.com/office/drawing/2014/main" val="10003"/>
                  </a:ext>
                </a:extLst>
              </a:tr>
              <a:tr h="320992">
                <a:tc>
                  <a:txBody>
                    <a:bodyPr/>
                    <a:lstStyle/>
                    <a:p>
                      <a:pPr algn="ctr"/>
                      <a:endParaRPr lang="zh-CN" altLang="en-US" sz="1200" baseline="0">
                        <a:latin typeface="Times New Roman" panose="02020603050405020304" pitchFamily="18" charset="0"/>
                        <a:ea typeface="新宋体" panose="02010609030101010101" charset="-122"/>
                      </a:endParaRPr>
                    </a:p>
                  </a:txBody>
                  <a:tcPr marL="91439" marR="91439"/>
                </a:tc>
                <a:tc>
                  <a:txBody>
                    <a:bodyPr/>
                    <a:lstStyle/>
                    <a:p>
                      <a:pPr algn="ctr"/>
                      <a:endParaRPr lang="zh-CN" altLang="en-US" sz="1200" baseline="0">
                        <a:latin typeface="Times New Roman" panose="02020603050405020304" pitchFamily="18" charset="0"/>
                        <a:ea typeface="新宋体" panose="02010609030101010101" charset="-122"/>
                      </a:endParaRPr>
                    </a:p>
                  </a:txBody>
                  <a:tcPr marL="91439" marR="91439"/>
                </a:tc>
                <a:tc>
                  <a:txBody>
                    <a:bodyPr/>
                    <a:lstStyle/>
                    <a:p>
                      <a:pPr algn="ctr"/>
                      <a:endParaRPr lang="zh-CN" altLang="en-US" sz="1200" baseline="0" dirty="0">
                        <a:latin typeface="Times New Roman" panose="02020603050405020304" pitchFamily="18" charset="0"/>
                        <a:ea typeface="新宋体" panose="02010609030101010101" charset="-122"/>
                      </a:endParaRPr>
                    </a:p>
                  </a:txBody>
                  <a:tcPr marL="91439" marR="91439"/>
                </a:tc>
                <a:extLst>
                  <a:ext uri="{0D108BD9-81ED-4DB2-BD59-A6C34878D82A}">
                    <a16:rowId xmlns:a16="http://schemas.microsoft.com/office/drawing/2014/main" val="10004"/>
                  </a:ext>
                </a:extLst>
              </a:tr>
            </a:tbl>
          </a:graphicData>
        </a:graphic>
      </p:graphicFrame>
      <p:pic>
        <p:nvPicPr>
          <p:cNvPr id="11" name="Picture 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2040" y="4775795"/>
            <a:ext cx="1428750" cy="153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29213" y="1268760"/>
            <a:ext cx="3552825" cy="3305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30832" y="242392"/>
            <a:ext cx="7869560" cy="954360"/>
          </a:xfrm>
        </p:spPr>
        <p:txBody>
          <a:bodyPr>
            <a:normAutofit fontScale="90000"/>
          </a:bodyPr>
          <a:lstStyle/>
          <a:p>
            <a:r>
              <a:rPr lang="zh-CN" altLang="en-US" dirty="0"/>
              <a:t>测量</a:t>
            </a:r>
            <a:r>
              <a:rPr lang="en-US" altLang="zh-CN" dirty="0"/>
              <a:t>74LS00</a:t>
            </a:r>
            <a:r>
              <a:rPr lang="zh-CN" altLang="en-US" dirty="0"/>
              <a:t>逻辑门的传输延迟时间</a:t>
            </a:r>
            <a:r>
              <a:rPr lang="en-US" altLang="zh-CN" i="1" dirty="0" err="1"/>
              <a:t>t</a:t>
            </a:r>
            <a:r>
              <a:rPr lang="en-US" altLang="zh-CN" i="1" baseline="-25000" dirty="0" err="1"/>
              <a:t>pd</a:t>
            </a:r>
            <a:endParaRPr lang="zh-CN" altLang="en-US" dirty="0"/>
          </a:p>
        </p:txBody>
      </p:sp>
      <p:sp>
        <p:nvSpPr>
          <p:cNvPr id="4" name="内容占位符 4"/>
          <p:cNvSpPr>
            <a:spLocks noGrp="1"/>
          </p:cNvSpPr>
          <p:nvPr>
            <p:ph idx="1"/>
          </p:nvPr>
        </p:nvSpPr>
        <p:spPr>
          <a:xfrm>
            <a:off x="251520" y="1313830"/>
            <a:ext cx="4106168" cy="5102845"/>
          </a:xfrm>
        </p:spPr>
        <p:txBody>
          <a:bodyPr>
            <a:normAutofit fontScale="90000" lnSpcReduction="10000"/>
          </a:bodyPr>
          <a:lstStyle/>
          <a:p>
            <a:pPr marL="444500" indent="-444500" eaLnBrk="1" fontAlgn="auto" hangingPunct="1">
              <a:lnSpc>
                <a:spcPct val="150000"/>
              </a:lnSpc>
              <a:spcAft>
                <a:spcPts val="0"/>
              </a:spcAft>
              <a:buFont typeface="+mj-lt"/>
              <a:buAutoNum type="arabicPeriod"/>
              <a:defRPr/>
            </a:pPr>
            <a:r>
              <a:rPr lang="zh-CN" altLang="en-US" sz="2400" dirty="0">
                <a:effectLst>
                  <a:outerShdw blurRad="50800" dist="38100" dir="2700000" algn="tl" rotWithShape="0">
                    <a:prstClr val="black">
                      <a:alpha val="40000"/>
                    </a:prstClr>
                  </a:outerShdw>
                </a:effectLst>
              </a:rPr>
              <a:t>将芯片插入实验箱的</a:t>
            </a:r>
            <a:r>
              <a:rPr lang="en-US" altLang="zh-CN" sz="2400" dirty="0">
                <a:effectLst>
                  <a:outerShdw blurRad="50800" dist="38100" dir="2700000" algn="tl" rotWithShape="0">
                    <a:prstClr val="black">
                      <a:alpha val="40000"/>
                    </a:prstClr>
                  </a:outerShdw>
                </a:effectLst>
              </a:rPr>
              <a:t>IC</a:t>
            </a:r>
            <a:r>
              <a:rPr lang="zh-CN" altLang="en-US" sz="2400" dirty="0">
                <a:effectLst>
                  <a:outerShdw blurRad="50800" dist="38100" dir="2700000" algn="tl" rotWithShape="0">
                    <a:prstClr val="black">
                      <a:alpha val="40000"/>
                    </a:prstClr>
                  </a:outerShdw>
                </a:effectLst>
              </a:rPr>
              <a:t>插座，注意芯片方向</a:t>
            </a:r>
          </a:p>
          <a:p>
            <a:pPr marL="457200" indent="-457200" eaLnBrk="1" fontAlgn="auto" hangingPunct="1">
              <a:lnSpc>
                <a:spcPct val="150000"/>
              </a:lnSpc>
              <a:spcAft>
                <a:spcPts val="0"/>
              </a:spcAft>
              <a:buFont typeface="+mj-lt"/>
              <a:buAutoNum type="arabicPeriod"/>
              <a:defRPr/>
            </a:pPr>
            <a:r>
              <a:rPr lang="zh-CN" altLang="en-US" sz="2400" dirty="0">
                <a:effectLst>
                  <a:outerShdw blurRad="50800" dist="38100" dir="2700000" algn="tl" rotWithShape="0">
                    <a:prstClr val="black">
                      <a:alpha val="40000"/>
                    </a:prstClr>
                  </a:outerShdw>
                </a:effectLst>
              </a:rPr>
              <a:t>按图连接电路，</a:t>
            </a:r>
            <a:r>
              <a:rPr lang="en-US" altLang="zh-CN" sz="2400" dirty="0">
                <a:effectLst>
                  <a:outerShdw blurRad="50800" dist="38100" dir="2700000" algn="tl" rotWithShape="0">
                    <a:prstClr val="black">
                      <a:alpha val="40000"/>
                    </a:prstClr>
                  </a:outerShdw>
                </a:effectLst>
              </a:rPr>
              <a:t>V</a:t>
            </a:r>
            <a:r>
              <a:rPr lang="en-US" altLang="zh-CN" sz="2400" baseline="-25000" dirty="0">
                <a:effectLst>
                  <a:outerShdw blurRad="50800" dist="38100" dir="2700000" algn="tl" rotWithShape="0">
                    <a:prstClr val="black">
                      <a:alpha val="40000"/>
                    </a:prstClr>
                  </a:outerShdw>
                </a:effectLst>
              </a:rPr>
              <a:t>CC</a:t>
            </a:r>
            <a:r>
              <a:rPr lang="zh-CN" altLang="en-US" sz="2400" dirty="0">
                <a:effectLst>
                  <a:outerShdw blurRad="50800" dist="38100" dir="2700000" algn="tl" rotWithShape="0">
                    <a:prstClr val="black">
                      <a:alpha val="40000"/>
                    </a:prstClr>
                  </a:outerShdw>
                </a:effectLst>
              </a:rPr>
              <a:t>接</a:t>
            </a:r>
            <a:r>
              <a:rPr lang="en-US" altLang="zh-CN" sz="2400" dirty="0">
                <a:effectLst>
                  <a:outerShdw blurRad="50800" dist="38100" dir="2700000" algn="tl" rotWithShape="0">
                    <a:prstClr val="black">
                      <a:alpha val="40000"/>
                    </a:prstClr>
                  </a:outerShdw>
                </a:effectLst>
              </a:rPr>
              <a:t>5V</a:t>
            </a:r>
            <a:r>
              <a:rPr lang="zh-CN" altLang="en-US" sz="2400" dirty="0">
                <a:effectLst>
                  <a:outerShdw blurRad="50800" dist="38100" dir="2700000" algn="tl" rotWithShape="0">
                    <a:prstClr val="black">
                      <a:alpha val="40000"/>
                    </a:prstClr>
                  </a:outerShdw>
                </a:effectLst>
              </a:rPr>
              <a:t>电源，地端接地线</a:t>
            </a:r>
          </a:p>
          <a:p>
            <a:pPr marL="457200" indent="-457200" eaLnBrk="1" fontAlgn="auto" hangingPunct="1">
              <a:lnSpc>
                <a:spcPct val="150000"/>
              </a:lnSpc>
              <a:spcAft>
                <a:spcPts val="0"/>
              </a:spcAft>
              <a:buFont typeface="+mj-lt"/>
              <a:buAutoNum type="arabicPeriod"/>
              <a:defRPr/>
            </a:pPr>
            <a:r>
              <a:rPr lang="zh-CN" altLang="en-US" sz="2400" dirty="0">
                <a:effectLst>
                  <a:outerShdw blurRad="50800" dist="38100" dir="2700000" algn="tl" rotWithShape="0">
                    <a:prstClr val="black">
                      <a:alpha val="40000"/>
                    </a:prstClr>
                  </a:outerShdw>
                </a:effectLst>
              </a:rPr>
              <a:t>将示波器接到振荡器的任何一个输入或输出端</a:t>
            </a:r>
          </a:p>
          <a:p>
            <a:pPr marL="457200" indent="-457200" eaLnBrk="1" fontAlgn="auto" hangingPunct="1">
              <a:lnSpc>
                <a:spcPct val="150000"/>
              </a:lnSpc>
              <a:spcAft>
                <a:spcPts val="0"/>
              </a:spcAft>
              <a:buFont typeface="+mj-lt"/>
              <a:buAutoNum type="arabicPeriod"/>
              <a:defRPr/>
            </a:pPr>
            <a:r>
              <a:rPr lang="zh-CN" altLang="en-US" sz="2400" dirty="0">
                <a:effectLst>
                  <a:outerShdw blurRad="50800" dist="38100" dir="2700000" algn="tl" rotWithShape="0">
                    <a:prstClr val="black">
                      <a:alpha val="40000"/>
                    </a:prstClr>
                  </a:outerShdw>
                </a:effectLst>
              </a:rPr>
              <a:t>调节频率旋钮，测量</a:t>
            </a:r>
            <a:r>
              <a:rPr lang="en-US" altLang="zh-CN" sz="2400" i="1" dirty="0">
                <a:effectLst>
                  <a:outerShdw blurRad="50800" dist="38100" dir="2700000" algn="tl" rotWithShape="0">
                    <a:prstClr val="black">
                      <a:alpha val="40000"/>
                    </a:prstClr>
                  </a:outerShdw>
                </a:effectLst>
              </a:rPr>
              <a:t>V</a:t>
            </a:r>
            <a:r>
              <a:rPr lang="en-US" altLang="zh-CN" sz="2400" i="1" baseline="-25000" dirty="0">
                <a:effectLst>
                  <a:outerShdw blurRad="50800" dist="38100" dir="2700000" algn="tl" rotWithShape="0">
                    <a:prstClr val="black">
                      <a:alpha val="40000"/>
                    </a:prstClr>
                  </a:outerShdw>
                </a:effectLst>
              </a:rPr>
              <a:t>o</a:t>
            </a:r>
            <a:r>
              <a:rPr lang="zh-CN" altLang="en-US" sz="2400" dirty="0">
                <a:effectLst>
                  <a:outerShdw blurRad="50800" dist="38100" dir="2700000" algn="tl" rotWithShape="0">
                    <a:prstClr val="black">
                      <a:alpha val="40000"/>
                    </a:prstClr>
                  </a:outerShdw>
                </a:effectLst>
              </a:rPr>
              <a:t>的波形，读出周期</a:t>
            </a:r>
            <a:r>
              <a:rPr lang="en-US" altLang="zh-CN" sz="2400" i="1" dirty="0">
                <a:effectLst>
                  <a:outerShdw blurRad="50800" dist="38100" dir="2700000" algn="tl" rotWithShape="0">
                    <a:prstClr val="black">
                      <a:alpha val="40000"/>
                    </a:prstClr>
                  </a:outerShdw>
                </a:effectLst>
              </a:rPr>
              <a:t>T </a:t>
            </a:r>
            <a:r>
              <a:rPr lang="zh-CN" altLang="en-US" sz="2400" dirty="0">
                <a:effectLst>
                  <a:outerShdw blurRad="50800" dist="38100" dir="2700000" algn="tl" rotWithShape="0">
                    <a:prstClr val="black">
                      <a:alpha val="40000"/>
                    </a:prstClr>
                  </a:outerShdw>
                </a:effectLst>
              </a:rPr>
              <a:t>并计算传输延迟时间 </a:t>
            </a:r>
          </a:p>
          <a:p>
            <a:pPr marL="457200" indent="-457200" eaLnBrk="1" fontAlgn="auto" hangingPunct="1">
              <a:lnSpc>
                <a:spcPct val="150000"/>
              </a:lnSpc>
              <a:spcAft>
                <a:spcPts val="0"/>
              </a:spcAft>
              <a:buFont typeface="+mj-lt"/>
              <a:buAutoNum type="arabicPeriod"/>
              <a:defRPr/>
            </a:pPr>
            <a:r>
              <a:rPr lang="en-US" altLang="zh-CN" sz="2400" dirty="0">
                <a:effectLst>
                  <a:outerShdw blurRad="50800" dist="38100" dir="2700000" algn="tl" rotWithShape="0">
                    <a:prstClr val="black">
                      <a:alpha val="40000"/>
                    </a:prstClr>
                  </a:outerShdw>
                </a:effectLst>
              </a:rPr>
              <a:t>(T=15ns-30ns</a:t>
            </a:r>
            <a:r>
              <a:rPr lang="zh-CN" altLang="en-US" sz="2400" dirty="0">
                <a:effectLst>
                  <a:outerShdw blurRad="50800" dist="38100" dir="2700000" algn="tl" rotWithShape="0">
                    <a:prstClr val="black">
                      <a:alpha val="40000"/>
                    </a:prstClr>
                  </a:outerShdw>
                </a:effectLst>
              </a:rPr>
              <a:t>）</a:t>
            </a:r>
          </a:p>
          <a:p>
            <a:pPr marL="457200" indent="-457200" eaLnBrk="1" fontAlgn="auto" hangingPunct="1">
              <a:lnSpc>
                <a:spcPct val="150000"/>
              </a:lnSpc>
              <a:spcAft>
                <a:spcPts val="0"/>
              </a:spcAft>
              <a:buFont typeface="+mj-lt"/>
              <a:buAutoNum type="arabicPeriod"/>
              <a:defRPr/>
            </a:pPr>
            <a:endParaRPr lang="zh-CN" altLang="en-US" sz="2400" dirty="0"/>
          </a:p>
        </p:txBody>
      </p:sp>
      <p:sp>
        <p:nvSpPr>
          <p:cNvPr id="6" name="TextBox 5"/>
          <p:cNvSpPr txBox="1"/>
          <p:nvPr/>
        </p:nvSpPr>
        <p:spPr>
          <a:xfrm>
            <a:off x="4283968" y="6000844"/>
            <a:ext cx="4679305" cy="707886"/>
          </a:xfrm>
          <a:prstGeom prst="rect">
            <a:avLst/>
          </a:prstGeom>
          <a:solidFill>
            <a:schemeClr val="accent4">
              <a:lumMod val="40000"/>
              <a:lumOff val="60000"/>
            </a:schemeClr>
          </a:solidFill>
          <a:ln>
            <a:solidFill>
              <a:srgbClr val="FF0000"/>
            </a:solidFill>
          </a:ln>
        </p:spPr>
        <p:style>
          <a:lnRef idx="2">
            <a:schemeClr val="accent2"/>
          </a:lnRef>
          <a:fillRef idx="1">
            <a:schemeClr val="lt1"/>
          </a:fillRef>
          <a:effectRef idx="0">
            <a:schemeClr val="accent2"/>
          </a:effectRef>
          <a:fontRef idx="minor">
            <a:schemeClr val="dk1"/>
          </a:fontRef>
        </p:style>
        <p:txBody>
          <a:bodyPr wrap="square">
            <a:spAutoFit/>
          </a:bodyPr>
          <a:lstStyle/>
          <a:p>
            <a:pPr>
              <a:defRPr/>
            </a:pPr>
            <a:r>
              <a:rPr lang="zh-CN" altLang="en-US" sz="2000" dirty="0"/>
              <a:t>接线要点：</a:t>
            </a:r>
            <a:r>
              <a:rPr lang="en-US" altLang="zh-CN" sz="2000" dirty="0"/>
              <a:t>74LS00</a:t>
            </a:r>
            <a:r>
              <a:rPr lang="zh-CN" altLang="en-US" sz="2000" dirty="0"/>
              <a:t>每个与非门的其中</a:t>
            </a:r>
            <a:endParaRPr lang="en-US" altLang="zh-CN" sz="2000" dirty="0"/>
          </a:p>
          <a:p>
            <a:pPr>
              <a:defRPr/>
            </a:pPr>
            <a:r>
              <a:rPr lang="zh-CN" altLang="en-US" sz="2000" dirty="0"/>
              <a:t>一个引脚接高，其它引脚串联。</a:t>
            </a:r>
          </a:p>
        </p:txBody>
      </p:sp>
      <p:graphicFrame>
        <p:nvGraphicFramePr>
          <p:cNvPr id="5" name="对象 4"/>
          <p:cNvGraphicFramePr/>
          <p:nvPr/>
        </p:nvGraphicFramePr>
        <p:xfrm>
          <a:off x="4547870" y="1196975"/>
          <a:ext cx="4346575" cy="4690110"/>
        </p:xfrm>
        <a:graphic>
          <a:graphicData uri="http://schemas.openxmlformats.org/presentationml/2006/ole">
            <mc:AlternateContent xmlns:mc="http://schemas.openxmlformats.org/markup-compatibility/2006">
              <mc:Choice xmlns:v="urn:schemas-microsoft-com:vml" Requires="v">
                <p:oleObj spid="_x0000_s23567" r:id="rId3" imgW="4343400" imgH="4686300" progId="Paint.Picture">
                  <p:embed/>
                </p:oleObj>
              </mc:Choice>
              <mc:Fallback>
                <p:oleObj r:id="rId3" imgW="4343400" imgH="4686300" progId="Paint.Picture">
                  <p:embed/>
                  <p:pic>
                    <p:nvPicPr>
                      <p:cNvPr id="0" name="图片 7"/>
                      <p:cNvPicPr/>
                      <p:nvPr/>
                    </p:nvPicPr>
                    <p:blipFill>
                      <a:blip r:embed="rId4"/>
                      <a:stretch>
                        <a:fillRect/>
                      </a:stretch>
                    </p:blipFill>
                    <p:spPr>
                      <a:xfrm>
                        <a:off x="4547870" y="1196975"/>
                        <a:ext cx="4346575" cy="4690110"/>
                      </a:xfrm>
                      <a:prstGeom prst="rect">
                        <a:avLst/>
                      </a:prstGeom>
                    </p:spPr>
                  </p:pic>
                </p:oleObj>
              </mc:Fallback>
            </mc:AlternateContent>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sym typeface="+mn-ea"/>
              </a:rPr>
              <a:t>测量</a:t>
            </a:r>
            <a:r>
              <a:rPr lang="en-US" altLang="zh-CN" dirty="0">
                <a:sym typeface="+mn-ea"/>
              </a:rPr>
              <a:t>74LS00</a:t>
            </a:r>
            <a:r>
              <a:rPr lang="zh-CN" altLang="en-US" dirty="0">
                <a:sym typeface="+mn-ea"/>
              </a:rPr>
              <a:t>传输延迟接线图</a:t>
            </a:r>
            <a:endParaRPr lang="en-US" altLang="zh-CN" dirty="0">
              <a:sym typeface="+mn-ea"/>
            </a:endParaRPr>
          </a:p>
        </p:txBody>
      </p:sp>
      <p:pic>
        <p:nvPicPr>
          <p:cNvPr id="6" name="内容占位符 5" descr="74LS00Y接线图_副本"/>
          <p:cNvPicPr>
            <a:picLocks noGrp="1" noChangeAspect="1"/>
          </p:cNvPicPr>
          <p:nvPr>
            <p:ph idx="1"/>
          </p:nvPr>
        </p:nvPicPr>
        <p:blipFill>
          <a:blip r:embed="rId2"/>
          <a:stretch>
            <a:fillRect/>
          </a:stretch>
        </p:blipFill>
        <p:spPr>
          <a:xfrm>
            <a:off x="231140" y="1409700"/>
            <a:ext cx="3947160" cy="4930140"/>
          </a:xfrm>
          <a:prstGeom prst="rect">
            <a:avLst/>
          </a:prstGeom>
        </p:spPr>
      </p:pic>
      <p:pic>
        <p:nvPicPr>
          <p:cNvPr id="7" name="图片 6" descr="74LS00YST_副本"/>
          <p:cNvPicPr>
            <a:picLocks noChangeAspect="1"/>
          </p:cNvPicPr>
          <p:nvPr/>
        </p:nvPicPr>
        <p:blipFill>
          <a:blip r:embed="rId3"/>
          <a:stretch>
            <a:fillRect/>
          </a:stretch>
        </p:blipFill>
        <p:spPr>
          <a:xfrm>
            <a:off x="4323080" y="1804670"/>
            <a:ext cx="4772660" cy="430276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30832" y="242392"/>
            <a:ext cx="8445624" cy="954360"/>
          </a:xfrm>
        </p:spPr>
        <p:txBody>
          <a:bodyPr>
            <a:normAutofit fontScale="90000"/>
          </a:bodyPr>
          <a:lstStyle/>
          <a:p>
            <a:r>
              <a:rPr lang="zh-CN" altLang="en-US" dirty="0"/>
              <a:t>测量</a:t>
            </a:r>
            <a:r>
              <a:rPr lang="en-US" altLang="zh-CN" dirty="0"/>
              <a:t>CD4001</a:t>
            </a:r>
            <a:r>
              <a:rPr lang="zh-CN" altLang="en-US" dirty="0"/>
              <a:t>逻辑门的传输延迟时间</a:t>
            </a:r>
            <a:r>
              <a:rPr lang="en-US" altLang="zh-CN" i="1" dirty="0" err="1"/>
              <a:t>t</a:t>
            </a:r>
            <a:r>
              <a:rPr lang="en-US" altLang="zh-CN" i="1" baseline="-25000" dirty="0" err="1"/>
              <a:t>pd</a:t>
            </a:r>
            <a:endParaRPr lang="zh-CN" altLang="en-US" dirty="0"/>
          </a:p>
        </p:txBody>
      </p:sp>
      <p:sp>
        <p:nvSpPr>
          <p:cNvPr id="4" name="内容占位符 4"/>
          <p:cNvSpPr txBox="1"/>
          <p:nvPr/>
        </p:nvSpPr>
        <p:spPr>
          <a:xfrm>
            <a:off x="103505" y="1313815"/>
            <a:ext cx="4254500" cy="5267960"/>
          </a:xfrm>
          <a:prstGeom prst="rect">
            <a:avLst/>
          </a:prstGeom>
        </p:spPr>
        <p:txBody>
          <a:bodyPr>
            <a:normAutofit fontScale="92500" lnSpcReduction="10000"/>
          </a:bodyPr>
          <a:lstStyle/>
          <a:p>
            <a:pPr marL="444500" indent="-444500" fontAlgn="auto">
              <a:lnSpc>
                <a:spcPct val="150000"/>
              </a:lnSpc>
              <a:spcBef>
                <a:spcPct val="20000"/>
              </a:spcBef>
              <a:spcAft>
                <a:spcPts val="0"/>
              </a:spcAft>
              <a:buFont typeface="+mj-lt"/>
              <a:buAutoNum type="arabicPeriod"/>
              <a:defRPr/>
            </a:pPr>
            <a:r>
              <a:rPr lang="zh-CN" altLang="en-US" sz="2400" b="1" dirty="0">
                <a:solidFill>
                  <a:schemeClr val="accent5">
                    <a:lumMod val="50000"/>
                  </a:schemeClr>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rPr>
              <a:t>将芯片插入实验箱的</a:t>
            </a:r>
            <a:r>
              <a:rPr lang="en-US" altLang="zh-CN" sz="2400" b="1" dirty="0">
                <a:solidFill>
                  <a:schemeClr val="accent5">
                    <a:lumMod val="50000"/>
                  </a:schemeClr>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rPr>
              <a:t>IC</a:t>
            </a:r>
            <a:r>
              <a:rPr lang="zh-CN" altLang="en-US" sz="2400" b="1" dirty="0">
                <a:solidFill>
                  <a:schemeClr val="accent5">
                    <a:lumMod val="50000"/>
                  </a:schemeClr>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rPr>
              <a:t>插座，注意芯片方向</a:t>
            </a:r>
          </a:p>
          <a:p>
            <a:pPr marL="457200" indent="-457200" fontAlgn="auto">
              <a:lnSpc>
                <a:spcPct val="150000"/>
              </a:lnSpc>
              <a:spcBef>
                <a:spcPct val="20000"/>
              </a:spcBef>
              <a:spcAft>
                <a:spcPts val="0"/>
              </a:spcAft>
              <a:buFont typeface="+mj-lt"/>
              <a:buAutoNum type="arabicPeriod"/>
              <a:defRPr/>
            </a:pPr>
            <a:r>
              <a:rPr lang="zh-CN" altLang="en-US" sz="2400" b="1" dirty="0">
                <a:solidFill>
                  <a:schemeClr val="accent5">
                    <a:lumMod val="50000"/>
                  </a:schemeClr>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rPr>
              <a:t>按图连接电路，</a:t>
            </a:r>
            <a:r>
              <a:rPr lang="en-US" altLang="zh-CN" sz="2400" b="1" dirty="0">
                <a:solidFill>
                  <a:schemeClr val="accent5">
                    <a:lumMod val="50000"/>
                  </a:schemeClr>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rPr>
              <a:t>VCC</a:t>
            </a:r>
            <a:r>
              <a:rPr lang="zh-CN" altLang="en-US" sz="2400" b="1" dirty="0">
                <a:solidFill>
                  <a:schemeClr val="accent5">
                    <a:lumMod val="50000"/>
                  </a:schemeClr>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rPr>
              <a:t>接</a:t>
            </a:r>
            <a:r>
              <a:rPr lang="en-US" altLang="zh-CN" sz="2400" b="1" dirty="0">
                <a:solidFill>
                  <a:schemeClr val="accent5">
                    <a:lumMod val="50000"/>
                  </a:schemeClr>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rPr>
              <a:t>5V</a:t>
            </a:r>
            <a:r>
              <a:rPr lang="zh-CN" altLang="en-US" sz="2400" b="1" dirty="0">
                <a:solidFill>
                  <a:schemeClr val="accent5">
                    <a:lumMod val="50000"/>
                  </a:schemeClr>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rPr>
              <a:t>电源，地端接地线</a:t>
            </a:r>
          </a:p>
          <a:p>
            <a:pPr marL="457200" indent="-457200" fontAlgn="auto">
              <a:lnSpc>
                <a:spcPct val="150000"/>
              </a:lnSpc>
              <a:spcBef>
                <a:spcPct val="20000"/>
              </a:spcBef>
              <a:spcAft>
                <a:spcPts val="0"/>
              </a:spcAft>
              <a:buFont typeface="+mj-lt"/>
              <a:buAutoNum type="arabicPeriod"/>
              <a:defRPr/>
            </a:pPr>
            <a:r>
              <a:rPr lang="zh-CN" altLang="en-US" sz="2400" b="1" dirty="0">
                <a:solidFill>
                  <a:schemeClr val="accent5">
                    <a:lumMod val="50000"/>
                  </a:schemeClr>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rPr>
              <a:t>将示波器接入到振荡器的输入或输出端</a:t>
            </a:r>
          </a:p>
          <a:p>
            <a:pPr marL="457200" indent="-457200" fontAlgn="auto">
              <a:lnSpc>
                <a:spcPct val="150000"/>
              </a:lnSpc>
              <a:spcBef>
                <a:spcPct val="20000"/>
              </a:spcBef>
              <a:spcAft>
                <a:spcPts val="0"/>
              </a:spcAft>
              <a:buFont typeface="+mj-lt"/>
              <a:buAutoNum type="arabicPeriod"/>
              <a:defRPr/>
            </a:pPr>
            <a:r>
              <a:rPr lang="zh-CN" altLang="en-US" sz="2400" b="1" dirty="0">
                <a:solidFill>
                  <a:schemeClr val="accent5">
                    <a:lumMod val="50000"/>
                  </a:schemeClr>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rPr>
              <a:t>调节频率旋钮，测量</a:t>
            </a:r>
            <a:r>
              <a:rPr lang="en-US" altLang="zh-CN" sz="2400" b="1" dirty="0">
                <a:solidFill>
                  <a:schemeClr val="accent5">
                    <a:lumMod val="50000"/>
                  </a:schemeClr>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rPr>
              <a:t>Vo</a:t>
            </a:r>
            <a:r>
              <a:rPr lang="zh-CN" altLang="en-US" sz="2400" b="1" dirty="0">
                <a:solidFill>
                  <a:schemeClr val="accent5">
                    <a:lumMod val="50000"/>
                  </a:schemeClr>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rPr>
              <a:t>的波形，读出周期</a:t>
            </a:r>
            <a:r>
              <a:rPr lang="en-US" altLang="zh-CN" sz="2400" b="1" dirty="0">
                <a:solidFill>
                  <a:schemeClr val="accent5">
                    <a:lumMod val="50000"/>
                  </a:schemeClr>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rPr>
              <a:t>T </a:t>
            </a:r>
            <a:r>
              <a:rPr lang="zh-CN" altLang="en-US" sz="2400" b="1" dirty="0">
                <a:solidFill>
                  <a:schemeClr val="accent5">
                    <a:lumMod val="50000"/>
                  </a:schemeClr>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rPr>
              <a:t>并计算传输延迟时间 </a:t>
            </a:r>
          </a:p>
          <a:p>
            <a:pPr indent="0" fontAlgn="auto">
              <a:lnSpc>
                <a:spcPct val="150000"/>
              </a:lnSpc>
              <a:spcBef>
                <a:spcPct val="20000"/>
              </a:spcBef>
              <a:spcAft>
                <a:spcPts val="0"/>
              </a:spcAft>
              <a:buFont typeface="+mj-lt"/>
              <a:buNone/>
              <a:defRPr/>
            </a:pPr>
            <a:r>
              <a:rPr lang="en-US" altLang="zh-CN" sz="2400" b="1" dirty="0">
                <a:solidFill>
                  <a:schemeClr val="accent5">
                    <a:lumMod val="50000"/>
                  </a:schemeClr>
                </a:solidFill>
                <a:effectLst>
                  <a:outerShdw blurRad="50800" dist="38100" dir="2700000" algn="tl" rotWithShape="0">
                    <a:prstClr val="black">
                      <a:alpha val="40000"/>
                    </a:prstClr>
                  </a:outerShdw>
                </a:effectLst>
                <a:latin typeface="黑体" panose="02010609060101010101" pitchFamily="49" charset="-122"/>
                <a:ea typeface="黑体" panose="02010609060101010101" pitchFamily="49" charset="-122"/>
              </a:rPr>
              <a:t>   (T=80ns-500ns)</a:t>
            </a:r>
          </a:p>
        </p:txBody>
      </p:sp>
      <p:pic>
        <p:nvPicPr>
          <p:cNvPr id="5"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9125" y="1197064"/>
            <a:ext cx="4486275" cy="497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useBgFill="1">
        <p:nvSpPr>
          <p:cNvPr id="6" name="TextBox 5"/>
          <p:cNvSpPr txBox="1"/>
          <p:nvPr/>
        </p:nvSpPr>
        <p:spPr>
          <a:xfrm>
            <a:off x="4693924" y="6097096"/>
            <a:ext cx="4103688" cy="647700"/>
          </a:xfrm>
          <a:prstGeom prst="rect">
            <a:avLst/>
          </a:prstGeom>
        </p:spPr>
        <p:style>
          <a:lnRef idx="1">
            <a:schemeClr val="accent2"/>
          </a:lnRef>
          <a:fillRef idx="2">
            <a:schemeClr val="accent2"/>
          </a:fillRef>
          <a:effectRef idx="1">
            <a:schemeClr val="accent2"/>
          </a:effectRef>
          <a:fontRef idx="minor">
            <a:schemeClr val="dk1"/>
          </a:fontRef>
        </p:style>
        <p:txBody>
          <a:bodyPr>
            <a:spAutoFit/>
          </a:bodyPr>
          <a:lstStyle/>
          <a:p>
            <a:pPr>
              <a:defRPr/>
            </a:pPr>
            <a:r>
              <a:rPr lang="zh-CN" altLang="en-US" b="1" dirty="0">
                <a:solidFill>
                  <a:schemeClr val="accent4">
                    <a:lumMod val="50000"/>
                  </a:schemeClr>
                </a:solidFill>
              </a:rPr>
              <a:t>接线要点：</a:t>
            </a:r>
            <a:r>
              <a:rPr lang="en-US" altLang="zh-CN" b="1" dirty="0">
                <a:solidFill>
                  <a:schemeClr val="accent4">
                    <a:lumMod val="50000"/>
                  </a:schemeClr>
                </a:solidFill>
              </a:rPr>
              <a:t>CD4001 </a:t>
            </a:r>
            <a:r>
              <a:rPr lang="zh-CN" altLang="en-US" b="1" dirty="0">
                <a:solidFill>
                  <a:schemeClr val="accent4">
                    <a:lumMod val="50000"/>
                  </a:schemeClr>
                </a:solidFill>
              </a:rPr>
              <a:t>每个或非门的其中</a:t>
            </a:r>
            <a:endParaRPr lang="en-US" altLang="zh-CN" b="1" dirty="0">
              <a:solidFill>
                <a:schemeClr val="accent4">
                  <a:lumMod val="50000"/>
                </a:schemeClr>
              </a:solidFill>
            </a:endParaRPr>
          </a:p>
          <a:p>
            <a:pPr>
              <a:defRPr/>
            </a:pPr>
            <a:r>
              <a:rPr lang="zh-CN" altLang="en-US" b="1" dirty="0">
                <a:solidFill>
                  <a:schemeClr val="accent4">
                    <a:lumMod val="50000"/>
                  </a:schemeClr>
                </a:solidFill>
              </a:rPr>
              <a:t>一个引脚接地，其它引脚串联即可。</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30832" y="242392"/>
            <a:ext cx="8373616" cy="954360"/>
          </a:xfrm>
        </p:spPr>
        <p:txBody>
          <a:bodyPr>
            <a:noAutofit/>
          </a:bodyPr>
          <a:lstStyle/>
          <a:p>
            <a:r>
              <a:rPr lang="zh-CN" altLang="en-US" sz="3200" dirty="0"/>
              <a:t>测量</a:t>
            </a:r>
            <a:r>
              <a:rPr lang="en-US" altLang="zh-CN" sz="3200" dirty="0"/>
              <a:t>74LS00</a:t>
            </a:r>
            <a:r>
              <a:rPr lang="zh-CN" altLang="en-US" sz="3200" dirty="0"/>
              <a:t>传输特性与开关门电平</a:t>
            </a:r>
            <a:r>
              <a:rPr lang="en-US" altLang="zh-CN" sz="3200" i="1" dirty="0"/>
              <a:t>V</a:t>
            </a:r>
            <a:r>
              <a:rPr lang="en-US" altLang="zh-CN" sz="3200" baseline="-25000" dirty="0"/>
              <a:t>ON</a:t>
            </a:r>
            <a:r>
              <a:rPr lang="zh-CN" altLang="en-US" sz="3200" dirty="0"/>
              <a:t>和</a:t>
            </a:r>
            <a:r>
              <a:rPr lang="en-US" altLang="zh-CN" sz="3200" i="1" dirty="0"/>
              <a:t>V</a:t>
            </a:r>
            <a:r>
              <a:rPr lang="en-US" altLang="zh-CN" sz="3200" baseline="-25000" dirty="0"/>
              <a:t>OFF</a:t>
            </a:r>
            <a:endParaRPr lang="zh-CN" altLang="en-US" sz="3200" dirty="0"/>
          </a:p>
        </p:txBody>
      </p:sp>
      <p:sp>
        <p:nvSpPr>
          <p:cNvPr id="3" name="内容占位符 2"/>
          <p:cNvSpPr>
            <a:spLocks noGrp="1"/>
          </p:cNvSpPr>
          <p:nvPr>
            <p:ph idx="1"/>
          </p:nvPr>
        </p:nvSpPr>
        <p:spPr/>
        <p:txBody>
          <a:bodyPr>
            <a:normAutofit/>
          </a:bodyPr>
          <a:lstStyle/>
          <a:p>
            <a:pPr marL="457200" indent="-457200">
              <a:buFont typeface="+mj-lt"/>
              <a:buAutoNum type="arabicPeriod"/>
              <a:defRPr/>
            </a:pPr>
            <a:r>
              <a:rPr lang="zh-CN" altLang="en-US" sz="2800" dirty="0">
                <a:effectLst>
                  <a:outerShdw blurRad="50800" dist="38100" dir="2700000" algn="tl" rotWithShape="0">
                    <a:prstClr val="black">
                      <a:alpha val="40000"/>
                    </a:prstClr>
                  </a:outerShdw>
                </a:effectLst>
              </a:rPr>
              <a:t>将芯片插入实验箱的</a:t>
            </a:r>
            <a:r>
              <a:rPr lang="en-US" altLang="zh-CN" sz="2800" dirty="0">
                <a:effectLst>
                  <a:outerShdw blurRad="50800" dist="38100" dir="2700000" algn="tl" rotWithShape="0">
                    <a:prstClr val="black">
                      <a:alpha val="40000"/>
                    </a:prstClr>
                  </a:outerShdw>
                </a:effectLst>
              </a:rPr>
              <a:t>IC</a:t>
            </a:r>
            <a:r>
              <a:rPr lang="zh-CN" altLang="en-US" sz="2800" dirty="0">
                <a:effectLst>
                  <a:outerShdw blurRad="50800" dist="38100" dir="2700000" algn="tl" rotWithShape="0">
                    <a:prstClr val="black">
                      <a:alpha val="40000"/>
                    </a:prstClr>
                  </a:outerShdw>
                </a:effectLst>
              </a:rPr>
              <a:t>插座</a:t>
            </a:r>
          </a:p>
          <a:p>
            <a:pPr marL="457200" indent="-457200">
              <a:buFont typeface="+mj-lt"/>
              <a:buAutoNum type="arabicPeriod"/>
              <a:defRPr/>
            </a:pPr>
            <a:r>
              <a:rPr lang="zh-CN" altLang="en-US" sz="2800" dirty="0">
                <a:effectLst>
                  <a:outerShdw blurRad="50800" dist="38100" dir="2700000" algn="tl" rotWithShape="0">
                    <a:prstClr val="black">
                      <a:alpha val="40000"/>
                    </a:prstClr>
                  </a:outerShdw>
                </a:effectLst>
              </a:rPr>
              <a:t>按图连接电路（见下页）</a:t>
            </a:r>
          </a:p>
          <a:p>
            <a:pPr marL="457200" indent="-457200">
              <a:buFont typeface="+mj-lt"/>
              <a:buAutoNum type="arabicPeriod"/>
              <a:defRPr/>
            </a:pPr>
            <a:r>
              <a:rPr lang="zh-CN" altLang="en-US" sz="2800" dirty="0">
                <a:effectLst>
                  <a:outerShdw blurRad="50800" dist="38100" dir="2700000" algn="tl" rotWithShape="0">
                    <a:prstClr val="black">
                      <a:alpha val="40000"/>
                    </a:prstClr>
                  </a:outerShdw>
                </a:effectLst>
              </a:rPr>
              <a:t>将直流电表分别接入 </a:t>
            </a:r>
            <a:r>
              <a:rPr lang="en-US" altLang="zh-CN" sz="2800" i="1" dirty="0">
                <a:effectLst>
                  <a:outerShdw blurRad="50800" dist="38100" dir="2700000" algn="tl" rotWithShape="0">
                    <a:prstClr val="black">
                      <a:alpha val="40000"/>
                    </a:prstClr>
                  </a:outerShdw>
                </a:effectLst>
              </a:rPr>
              <a:t>A </a:t>
            </a:r>
            <a:r>
              <a:rPr lang="zh-CN" altLang="en-US" sz="2800" dirty="0">
                <a:effectLst>
                  <a:outerShdw blurRad="50800" dist="38100" dir="2700000" algn="tl" rotWithShape="0">
                    <a:prstClr val="black">
                      <a:alpha val="40000"/>
                    </a:prstClr>
                  </a:outerShdw>
                </a:effectLst>
              </a:rPr>
              <a:t>端和</a:t>
            </a:r>
            <a:r>
              <a:rPr lang="zh-CN" altLang="en-US" sz="2800" dirty="0">
                <a:effectLst>
                  <a:outerShdw blurRad="50800" dist="38100" dir="2700000" algn="tl" rotWithShape="0">
                    <a:prstClr val="black">
                      <a:alpha val="40000"/>
                    </a:prstClr>
                  </a:outerShdw>
                </a:effectLst>
                <a:latin typeface="楷体_GB2312" pitchFamily="49" charset="-122"/>
                <a:ea typeface="楷体_GB2312" pitchFamily="49" charset="-122"/>
              </a:rPr>
              <a:t>与非门</a:t>
            </a:r>
            <a:r>
              <a:rPr lang="zh-CN" altLang="en-US" sz="2800" dirty="0">
                <a:effectLst>
                  <a:outerShdw blurRad="50800" dist="38100" dir="2700000" algn="tl" rotWithShape="0">
                    <a:prstClr val="black">
                      <a:alpha val="40000"/>
                    </a:prstClr>
                  </a:outerShdw>
                </a:effectLst>
              </a:rPr>
              <a:t>的输出</a:t>
            </a:r>
            <a:r>
              <a:rPr lang="en-US" altLang="zh-CN" sz="2800" dirty="0">
                <a:effectLst>
                  <a:outerShdw blurRad="50800" dist="38100" dir="2700000" algn="tl" rotWithShape="0">
                    <a:prstClr val="black">
                      <a:alpha val="40000"/>
                    </a:prstClr>
                  </a:outerShdw>
                </a:effectLst>
              </a:rPr>
              <a:t>2Y</a:t>
            </a:r>
            <a:r>
              <a:rPr lang="zh-CN" altLang="en-US" sz="2800" dirty="0">
                <a:effectLst>
                  <a:outerShdw blurRad="50800" dist="38100" dir="2700000" algn="tl" rotWithShape="0">
                    <a:prstClr val="black">
                      <a:alpha val="40000"/>
                    </a:prstClr>
                  </a:outerShdw>
                </a:effectLst>
              </a:rPr>
              <a:t>端</a:t>
            </a:r>
          </a:p>
          <a:p>
            <a:pPr marL="457200" indent="-457200">
              <a:buFont typeface="+mj-lt"/>
              <a:buAutoNum type="arabicPeriod"/>
              <a:defRPr/>
            </a:pPr>
            <a:r>
              <a:rPr lang="zh-CN" altLang="en-US" sz="2800" dirty="0">
                <a:effectLst>
                  <a:outerShdw blurRad="50800" dist="38100" dir="2700000" algn="tl" rotWithShape="0">
                    <a:prstClr val="black">
                      <a:alpha val="40000"/>
                    </a:prstClr>
                  </a:outerShdw>
                </a:effectLst>
              </a:rPr>
              <a:t>从</a:t>
            </a:r>
            <a:r>
              <a:rPr lang="en-US" altLang="zh-CN" sz="2800" i="1" dirty="0">
                <a:effectLst>
                  <a:outerShdw blurRad="50800" dist="38100" dir="2700000" algn="tl" rotWithShape="0">
                    <a:prstClr val="black">
                      <a:alpha val="40000"/>
                    </a:prstClr>
                  </a:outerShdw>
                </a:effectLst>
              </a:rPr>
              <a:t>b</a:t>
            </a:r>
            <a:r>
              <a:rPr lang="zh-CN" altLang="en-US" sz="2800" dirty="0">
                <a:effectLst>
                  <a:outerShdw blurRad="50800" dist="38100" dir="2700000" algn="tl" rotWithShape="0">
                    <a:prstClr val="black">
                      <a:alpha val="40000"/>
                    </a:prstClr>
                  </a:outerShdw>
                </a:effectLst>
              </a:rPr>
              <a:t>端往</a:t>
            </a:r>
            <a:r>
              <a:rPr lang="en-US" altLang="zh-CN" sz="2800" i="1" dirty="0">
                <a:effectLst>
                  <a:outerShdw blurRad="50800" dist="38100" dir="2700000" algn="tl" rotWithShape="0">
                    <a:prstClr val="black">
                      <a:alpha val="40000"/>
                    </a:prstClr>
                  </a:outerShdw>
                </a:effectLst>
              </a:rPr>
              <a:t>a</a:t>
            </a:r>
            <a:r>
              <a:rPr lang="zh-CN" altLang="en-US" sz="2800" dirty="0">
                <a:effectLst>
                  <a:outerShdw blurRad="50800" dist="38100" dir="2700000" algn="tl" rotWithShape="0">
                    <a:prstClr val="black">
                      <a:alpha val="40000"/>
                    </a:prstClr>
                  </a:outerShdw>
                </a:effectLst>
              </a:rPr>
              <a:t>端缓慢调节电位器</a:t>
            </a:r>
            <a:r>
              <a:rPr lang="en-US" altLang="zh-CN" sz="2800" i="1" dirty="0">
                <a:effectLst>
                  <a:outerShdw blurRad="50800" dist="38100" dir="2700000" algn="tl" rotWithShape="0">
                    <a:prstClr val="black">
                      <a:alpha val="40000"/>
                    </a:prstClr>
                  </a:outerShdw>
                </a:effectLst>
              </a:rPr>
              <a:t>W</a:t>
            </a:r>
            <a:r>
              <a:rPr lang="zh-CN" altLang="en-US" sz="2800" dirty="0">
                <a:effectLst>
                  <a:outerShdw blurRad="50800" dist="38100" dir="2700000" algn="tl" rotWithShape="0">
                    <a:prstClr val="black">
                      <a:alpha val="40000"/>
                    </a:prstClr>
                  </a:outerShdw>
                </a:effectLst>
              </a:rPr>
              <a:t>，观察</a:t>
            </a:r>
            <a:r>
              <a:rPr lang="en-US" altLang="zh-CN" sz="2800" i="1" dirty="0">
                <a:effectLst>
                  <a:outerShdw blurRad="50800" dist="38100" dir="2700000" algn="tl" rotWithShape="0">
                    <a:prstClr val="black">
                      <a:alpha val="40000"/>
                    </a:prstClr>
                  </a:outerShdw>
                </a:effectLst>
              </a:rPr>
              <a:t>V</a:t>
            </a:r>
            <a:r>
              <a:rPr lang="en-US" altLang="zh-CN" sz="2800" i="1" baseline="-25000" dirty="0">
                <a:effectLst>
                  <a:outerShdw blurRad="50800" dist="38100" dir="2700000" algn="tl" rotWithShape="0">
                    <a:prstClr val="black">
                      <a:alpha val="40000"/>
                    </a:prstClr>
                  </a:outerShdw>
                </a:effectLst>
              </a:rPr>
              <a:t>i </a:t>
            </a:r>
            <a:r>
              <a:rPr lang="en-US" altLang="zh-CN" sz="2800" dirty="0">
                <a:effectLst>
                  <a:outerShdw blurRad="50800" dist="38100" dir="2700000" algn="tl" rotWithShape="0">
                    <a:prstClr val="black">
                      <a:alpha val="40000"/>
                    </a:prstClr>
                  </a:outerShdw>
                </a:effectLst>
              </a:rPr>
              <a:t>,</a:t>
            </a:r>
            <a:r>
              <a:rPr lang="en-US" altLang="zh-CN" sz="2800" i="1" dirty="0">
                <a:effectLst>
                  <a:outerShdw blurRad="50800" dist="38100" dir="2700000" algn="tl" rotWithShape="0">
                    <a:prstClr val="black">
                      <a:alpha val="40000"/>
                    </a:prstClr>
                  </a:outerShdw>
                </a:effectLst>
              </a:rPr>
              <a:t>V</a:t>
            </a:r>
            <a:r>
              <a:rPr lang="en-US" altLang="zh-CN" sz="2800" i="1" baseline="-25000" dirty="0">
                <a:effectLst>
                  <a:outerShdw blurRad="50800" dist="38100" dir="2700000" algn="tl" rotWithShape="0">
                    <a:prstClr val="black">
                      <a:alpha val="40000"/>
                    </a:prstClr>
                  </a:outerShdw>
                </a:effectLst>
              </a:rPr>
              <a:t>o</a:t>
            </a:r>
            <a:r>
              <a:rPr lang="en-US" altLang="zh-CN" sz="2800" i="1" dirty="0">
                <a:effectLst>
                  <a:outerShdw blurRad="50800" dist="38100" dir="2700000" algn="tl" rotWithShape="0">
                    <a:prstClr val="black">
                      <a:alpha val="40000"/>
                    </a:prstClr>
                  </a:outerShdw>
                </a:effectLst>
              </a:rPr>
              <a:t> </a:t>
            </a:r>
            <a:r>
              <a:rPr lang="zh-CN" altLang="en-US" sz="2800" dirty="0">
                <a:effectLst>
                  <a:outerShdw blurRad="50800" dist="38100" dir="2700000" algn="tl" rotWithShape="0">
                    <a:prstClr val="black">
                      <a:alpha val="40000"/>
                    </a:prstClr>
                  </a:outerShdw>
                </a:effectLst>
              </a:rPr>
              <a:t>两电压表的读数，并记录数据填入表格</a:t>
            </a:r>
            <a:endParaRPr lang="zh-CN" altLang="en-US" sz="2800" i="1" baseline="-25000" dirty="0">
              <a:effectLst>
                <a:outerShdw blurRad="50800" dist="38100" dir="2700000" algn="tl" rotWithShape="0">
                  <a:prstClr val="black">
                    <a:alpha val="40000"/>
                  </a:prstClr>
                </a:outerShdw>
              </a:effectLst>
            </a:endParaRPr>
          </a:p>
          <a:p>
            <a:pPr marL="457200" indent="-457200">
              <a:buFont typeface="+mj-lt"/>
              <a:buAutoNum type="arabicPeriod"/>
              <a:defRPr/>
            </a:pPr>
            <a:r>
              <a:rPr lang="zh-CN" altLang="en-US" sz="2800" dirty="0">
                <a:effectLst>
                  <a:outerShdw blurRad="50800" dist="38100" dir="2700000" algn="tl" rotWithShape="0">
                    <a:prstClr val="black">
                      <a:alpha val="40000"/>
                    </a:prstClr>
                  </a:outerShdw>
                </a:effectLst>
              </a:rPr>
              <a:t>根据表格数据画出曲线图，并求</a:t>
            </a:r>
            <a:r>
              <a:rPr lang="en-US" altLang="zh-CN" sz="2800" i="1" dirty="0">
                <a:effectLst>
                  <a:outerShdw blurRad="50800" dist="38100" dir="2700000" algn="tl" rotWithShape="0">
                    <a:prstClr val="black">
                      <a:alpha val="40000"/>
                    </a:prstClr>
                  </a:outerShdw>
                </a:effectLst>
              </a:rPr>
              <a:t>V</a:t>
            </a:r>
            <a:r>
              <a:rPr lang="en-US" altLang="zh-CN" sz="2800" baseline="-25000" dirty="0">
                <a:effectLst>
                  <a:outerShdw blurRad="50800" dist="38100" dir="2700000" algn="tl" rotWithShape="0">
                    <a:prstClr val="black">
                      <a:alpha val="40000"/>
                    </a:prstClr>
                  </a:outerShdw>
                </a:effectLst>
              </a:rPr>
              <a:t>ON</a:t>
            </a:r>
            <a:r>
              <a:rPr lang="zh-CN" altLang="en-US" sz="2800" dirty="0">
                <a:effectLst>
                  <a:outerShdw blurRad="50800" dist="38100" dir="2700000" algn="tl" rotWithShape="0">
                    <a:prstClr val="black">
                      <a:alpha val="40000"/>
                    </a:prstClr>
                  </a:outerShdw>
                </a:effectLst>
              </a:rPr>
              <a:t>和</a:t>
            </a:r>
            <a:r>
              <a:rPr lang="en-US" altLang="zh-CN" sz="2800" i="1" dirty="0">
                <a:effectLst>
                  <a:outerShdw blurRad="50800" dist="38100" dir="2700000" algn="tl" rotWithShape="0">
                    <a:prstClr val="black">
                      <a:alpha val="40000"/>
                    </a:prstClr>
                  </a:outerShdw>
                </a:effectLst>
              </a:rPr>
              <a:t>V</a:t>
            </a:r>
            <a:r>
              <a:rPr lang="en-US" altLang="zh-CN" sz="2800" baseline="-25000" dirty="0">
                <a:effectLst>
                  <a:outerShdw blurRad="50800" dist="38100" dir="2700000" algn="tl" rotWithShape="0">
                    <a:prstClr val="black">
                      <a:alpha val="40000"/>
                    </a:prstClr>
                  </a:outerShdw>
                </a:effectLst>
              </a:rPr>
              <a:t>OFF</a:t>
            </a:r>
            <a:endParaRPr lang="zh-CN" altLang="en-US" sz="2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30832" y="242392"/>
            <a:ext cx="8373616" cy="954360"/>
          </a:xfrm>
        </p:spPr>
        <p:txBody>
          <a:bodyPr>
            <a:noAutofit/>
          </a:bodyPr>
          <a:lstStyle/>
          <a:p>
            <a:r>
              <a:rPr lang="zh-CN" altLang="en-US" sz="3200" dirty="0"/>
              <a:t>测量</a:t>
            </a:r>
            <a:r>
              <a:rPr lang="en-US" altLang="zh-CN" sz="3200" dirty="0"/>
              <a:t>74LS00</a:t>
            </a:r>
            <a:r>
              <a:rPr lang="zh-CN" altLang="en-US" sz="3200" dirty="0"/>
              <a:t>传输特性与开关门电平</a:t>
            </a:r>
            <a:r>
              <a:rPr lang="en-US" altLang="zh-CN" sz="3200" i="1" dirty="0"/>
              <a:t>V</a:t>
            </a:r>
            <a:r>
              <a:rPr lang="en-US" altLang="zh-CN" sz="3200" baseline="-25000" dirty="0"/>
              <a:t>ON</a:t>
            </a:r>
            <a:r>
              <a:rPr lang="zh-CN" altLang="en-US" sz="3200" dirty="0"/>
              <a:t>和</a:t>
            </a:r>
            <a:r>
              <a:rPr lang="en-US" altLang="zh-CN" sz="3200" i="1" dirty="0"/>
              <a:t>V</a:t>
            </a:r>
            <a:r>
              <a:rPr lang="en-US" altLang="zh-CN" sz="3200" baseline="-25000" dirty="0"/>
              <a:t>OFF</a:t>
            </a:r>
            <a:endParaRPr lang="zh-CN" altLang="en-US" sz="3200" dirty="0"/>
          </a:p>
        </p:txBody>
      </p:sp>
      <p:graphicFrame>
        <p:nvGraphicFramePr>
          <p:cNvPr id="5" name="电路图"/>
          <p:cNvGraphicFramePr>
            <a:graphicFrameLocks noChangeAspect="1"/>
          </p:cNvGraphicFramePr>
          <p:nvPr/>
        </p:nvGraphicFramePr>
        <p:xfrm>
          <a:off x="251520" y="1875060"/>
          <a:ext cx="5141912" cy="3786188"/>
        </p:xfrm>
        <a:graphic>
          <a:graphicData uri="http://schemas.openxmlformats.org/presentationml/2006/ole">
            <mc:AlternateContent xmlns:mc="http://schemas.openxmlformats.org/markup-compatibility/2006">
              <mc:Choice xmlns:v="urn:schemas-microsoft-com:vml" Requires="v">
                <p:oleObj spid="_x0000_s24591" name="Visio" r:id="rId3" imgW="4109720" imgH="3041650" progId="">
                  <p:embed/>
                </p:oleObj>
              </mc:Choice>
              <mc:Fallback>
                <p:oleObj name="Visio" r:id="rId3" imgW="4109720" imgH="3041650" progId="">
                  <p:embed/>
                  <p:pic>
                    <p:nvPicPr>
                      <p:cNvPr id="0" name="图片 1537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520" y="1875060"/>
                        <a:ext cx="5141912" cy="378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6" name="Picture 7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36096" y="1554063"/>
            <a:ext cx="3486150" cy="446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测量</a:t>
            </a:r>
            <a:r>
              <a:rPr lang="en-US" altLang="zh-CN" dirty="0">
                <a:sym typeface="+mn-ea"/>
              </a:rPr>
              <a:t>74LS00</a:t>
            </a:r>
            <a:r>
              <a:rPr lang="zh-CN" altLang="en-US" dirty="0">
                <a:sym typeface="+mn-ea"/>
              </a:rPr>
              <a:t>传输特性接线图</a:t>
            </a:r>
            <a:endParaRPr lang="zh-CN" altLang="en-US"/>
          </a:p>
        </p:txBody>
      </p:sp>
      <p:pic>
        <p:nvPicPr>
          <p:cNvPr id="4" name="内容占位符 3" descr="csys2_副本"/>
          <p:cNvPicPr>
            <a:picLocks noGrp="1" noChangeAspect="1"/>
          </p:cNvPicPr>
          <p:nvPr>
            <p:ph idx="1"/>
          </p:nvPr>
        </p:nvPicPr>
        <p:blipFill>
          <a:blip r:embed="rId2"/>
          <a:stretch>
            <a:fillRect/>
          </a:stretch>
        </p:blipFill>
        <p:spPr>
          <a:xfrm>
            <a:off x="17145" y="1558925"/>
            <a:ext cx="4408805" cy="4526280"/>
          </a:xfrm>
          <a:prstGeom prst="rect">
            <a:avLst/>
          </a:prstGeom>
        </p:spPr>
      </p:pic>
      <p:pic>
        <p:nvPicPr>
          <p:cNvPr id="5" name="图片 4" descr="csys1_副本"/>
          <p:cNvPicPr>
            <a:picLocks noChangeAspect="1"/>
          </p:cNvPicPr>
          <p:nvPr/>
        </p:nvPicPr>
        <p:blipFill>
          <a:blip r:embed="rId3"/>
          <a:stretch>
            <a:fillRect/>
          </a:stretch>
        </p:blipFill>
        <p:spPr>
          <a:xfrm>
            <a:off x="4279900" y="1322070"/>
            <a:ext cx="4958080" cy="525018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计算机逻辑设计实验要求</a:t>
            </a:r>
            <a:endParaRPr lang="zh-CN" altLang="en-US"/>
          </a:p>
        </p:txBody>
      </p:sp>
      <p:sp>
        <p:nvSpPr>
          <p:cNvPr id="3" name="内容占位符 2"/>
          <p:cNvSpPr>
            <a:spLocks noGrp="1"/>
          </p:cNvSpPr>
          <p:nvPr>
            <p:ph idx="1"/>
          </p:nvPr>
        </p:nvSpPr>
        <p:spPr>
          <a:xfrm>
            <a:off x="102870" y="1344295"/>
            <a:ext cx="8951595" cy="5438140"/>
          </a:xfrm>
        </p:spPr>
        <p:txBody>
          <a:bodyPr>
            <a:normAutofit fontScale="85000" lnSpcReduction="10000"/>
          </a:bodyPr>
          <a:lstStyle/>
          <a:p>
            <a:pPr marL="0" indent="0">
              <a:buNone/>
            </a:pPr>
            <a:r>
              <a:rPr lang="en-US" altLang="zh-CN" sz="3100"/>
              <a:t>1.</a:t>
            </a:r>
            <a:r>
              <a:rPr lang="zh-CN" altLang="en-US" sz="3100"/>
              <a:t>逻辑设计共：</a:t>
            </a:r>
            <a:r>
              <a:rPr lang="en-US" altLang="zh-CN" sz="3100"/>
              <a:t>13</a:t>
            </a:r>
            <a:r>
              <a:rPr lang="zh-CN" altLang="en-US" sz="3100"/>
              <a:t>个实验。每次实验课</a:t>
            </a:r>
            <a:r>
              <a:rPr lang="en-US" altLang="zh-CN" sz="3100"/>
              <a:t>“</a:t>
            </a:r>
            <a:r>
              <a:rPr lang="en-US" altLang="zh-CN" sz="3100">
                <a:latin typeface="Arial" panose="020B0604020202020204" pitchFamily="34" charset="0"/>
                <a:cs typeface="Arial" panose="020B0604020202020204" pitchFamily="34" charset="0"/>
              </a:rPr>
              <a:t>√</a:t>
            </a:r>
            <a:r>
              <a:rPr lang="en-US" altLang="zh-CN" sz="3100"/>
              <a:t>”</a:t>
            </a:r>
            <a:r>
              <a:rPr lang="zh-CN" altLang="en-US" sz="3100"/>
              <a:t>签到。</a:t>
            </a:r>
          </a:p>
          <a:p>
            <a:pPr marL="0" indent="0">
              <a:buNone/>
            </a:pPr>
            <a:r>
              <a:rPr lang="en-US" altLang="zh-CN" sz="3100"/>
              <a:t>2.</a:t>
            </a:r>
            <a:r>
              <a:rPr lang="zh-CN" altLang="en-US" sz="3100"/>
              <a:t>每个实验完成后必须给老师检查通过后在点名册对应实验中签名（没有签名说明实验没有完成）。</a:t>
            </a:r>
          </a:p>
          <a:p>
            <a:pPr marL="0" indent="0">
              <a:buNone/>
            </a:pPr>
            <a:r>
              <a:rPr lang="en-US" altLang="zh-CN" sz="3100"/>
              <a:t>3.</a:t>
            </a:r>
            <a:r>
              <a:rPr lang="zh-CN" altLang="en-US" sz="3100"/>
              <a:t>实验</a:t>
            </a:r>
            <a:r>
              <a:rPr lang="en-US" altLang="zh-CN" sz="3100"/>
              <a:t>1</a:t>
            </a:r>
            <a:r>
              <a:rPr lang="zh-CN" altLang="en-US" sz="3100"/>
              <a:t>至</a:t>
            </a:r>
            <a:r>
              <a:rPr lang="en-US" altLang="zh-CN" sz="3100"/>
              <a:t>3</a:t>
            </a:r>
            <a:r>
              <a:rPr lang="zh-CN" altLang="en-US" sz="3100"/>
              <a:t>必须实验课结束之前完成，实验</a:t>
            </a:r>
            <a:r>
              <a:rPr lang="en-US" altLang="zh-CN" sz="3100"/>
              <a:t>4</a:t>
            </a:r>
            <a:r>
              <a:rPr lang="zh-CN" altLang="en-US" sz="3100"/>
              <a:t>是</a:t>
            </a:r>
            <a:r>
              <a:rPr lang="en-US" altLang="zh-CN" sz="3100"/>
              <a:t>ISE</a:t>
            </a:r>
            <a:r>
              <a:rPr lang="zh-CN" altLang="en-US" sz="3100"/>
              <a:t>平台介绍主要课后自学，实验</a:t>
            </a:r>
            <a:r>
              <a:rPr lang="en-US" altLang="zh-CN" sz="3100"/>
              <a:t>5-13</a:t>
            </a:r>
            <a:r>
              <a:rPr lang="zh-CN" altLang="en-US" sz="3100"/>
              <a:t>在下一次课结束时完成。延期完成请及时给老师检查，同时会扣一定的分数。</a:t>
            </a:r>
          </a:p>
          <a:p>
            <a:pPr marL="0" indent="0">
              <a:buNone/>
            </a:pPr>
            <a:r>
              <a:rPr lang="en-US" altLang="zh-CN" sz="3100"/>
              <a:t>4.</a:t>
            </a:r>
            <a:r>
              <a:rPr lang="zh-CN" altLang="en-US" sz="3100"/>
              <a:t>实验报告说明：实验</a:t>
            </a:r>
            <a:r>
              <a:rPr lang="en-US" altLang="zh-CN" sz="3100"/>
              <a:t>1-4</a:t>
            </a:r>
            <a:r>
              <a:rPr lang="zh-CN" altLang="en-US" sz="3100"/>
              <a:t>、</a:t>
            </a:r>
            <a:r>
              <a:rPr lang="zh-CN" altLang="en-US" sz="3100">
                <a:sym typeface="+mn-ea"/>
              </a:rPr>
              <a:t>实验</a:t>
            </a:r>
            <a:r>
              <a:rPr lang="en-US" altLang="zh-CN" sz="3100">
                <a:sym typeface="+mn-ea"/>
              </a:rPr>
              <a:t>5-7</a:t>
            </a:r>
            <a:r>
              <a:rPr lang="zh-CN" altLang="en-US" sz="3100">
                <a:sym typeface="+mn-ea"/>
              </a:rPr>
              <a:t>、实验</a:t>
            </a:r>
            <a:r>
              <a:rPr lang="en-US" altLang="zh-CN" sz="3100">
                <a:sym typeface="+mn-ea"/>
              </a:rPr>
              <a:t>8-10</a:t>
            </a:r>
            <a:r>
              <a:rPr lang="zh-CN" altLang="en-US" sz="3100">
                <a:sym typeface="+mn-ea"/>
              </a:rPr>
              <a:t>、实验</a:t>
            </a:r>
            <a:r>
              <a:rPr lang="en-US" altLang="zh-CN" sz="3100">
                <a:sym typeface="+mn-ea"/>
              </a:rPr>
              <a:t>11-13</a:t>
            </a:r>
            <a:r>
              <a:rPr lang="zh-CN" altLang="en-US" sz="3100">
                <a:sym typeface="+mn-ea"/>
              </a:rPr>
              <a:t>各</a:t>
            </a:r>
            <a:r>
              <a:rPr lang="zh-CN" altLang="en-US" sz="3100"/>
              <a:t>合写一份报告，共计</a:t>
            </a:r>
            <a:r>
              <a:rPr lang="en-US" altLang="zh-CN" sz="3100"/>
              <a:t>4</a:t>
            </a:r>
            <a:r>
              <a:rPr lang="zh-CN" altLang="en-US" sz="3100"/>
              <a:t>份报告。报告迟交每天扣</a:t>
            </a:r>
            <a:r>
              <a:rPr lang="en-US" altLang="zh-CN" sz="3100"/>
              <a:t>5</a:t>
            </a:r>
            <a:r>
              <a:rPr lang="zh-CN" altLang="en-US" sz="3100"/>
              <a:t>分。</a:t>
            </a:r>
          </a:p>
          <a:p>
            <a:pPr marL="0" indent="0">
              <a:buNone/>
            </a:pPr>
            <a:r>
              <a:rPr lang="en-US" altLang="zh-CN" sz="3100"/>
              <a:t>5.</a:t>
            </a:r>
            <a:r>
              <a:rPr lang="zh-CN" altLang="en-US" sz="3100"/>
              <a:t>实验占总成绩</a:t>
            </a:r>
            <a:r>
              <a:rPr lang="en-US" altLang="zh-CN" sz="3100"/>
              <a:t>30</a:t>
            </a:r>
            <a:r>
              <a:rPr lang="zh-CN" altLang="en-US" sz="3100"/>
              <a:t>分。每个实验完成签名</a:t>
            </a:r>
            <a:r>
              <a:rPr lang="en-US" altLang="zh-CN" sz="3100"/>
              <a:t>1</a:t>
            </a:r>
            <a:r>
              <a:rPr lang="zh-CN" altLang="en-US" sz="3100"/>
              <a:t>分，小计</a:t>
            </a:r>
            <a:r>
              <a:rPr lang="en-US" altLang="zh-CN" sz="3100"/>
              <a:t>13</a:t>
            </a:r>
            <a:r>
              <a:rPr lang="zh-CN" altLang="en-US" sz="3100"/>
              <a:t>分。每</a:t>
            </a:r>
            <a:r>
              <a:rPr lang="zh-CN" altLang="en-US" sz="3100">
                <a:sym typeface="+mn-ea"/>
              </a:rPr>
              <a:t>份报告</a:t>
            </a:r>
            <a:r>
              <a:rPr lang="en-US" altLang="zh-CN" sz="3100">
                <a:sym typeface="+mn-ea"/>
              </a:rPr>
              <a:t>4</a:t>
            </a:r>
            <a:r>
              <a:rPr lang="zh-CN" altLang="en-US" sz="3100">
                <a:sym typeface="+mn-ea"/>
              </a:rPr>
              <a:t>分，小计</a:t>
            </a:r>
            <a:r>
              <a:rPr lang="en-US" altLang="zh-CN" sz="3100">
                <a:sym typeface="+mn-ea"/>
              </a:rPr>
              <a:t>16</a:t>
            </a:r>
            <a:r>
              <a:rPr lang="zh-CN" altLang="en-US" sz="3100">
                <a:sym typeface="+mn-ea"/>
              </a:rPr>
              <a:t>分，加</a:t>
            </a:r>
            <a:r>
              <a:rPr lang="en-US" altLang="zh-CN" sz="3100">
                <a:sym typeface="+mn-ea"/>
              </a:rPr>
              <a:t>1</a:t>
            </a:r>
            <a:r>
              <a:rPr lang="zh-CN" altLang="en-US" sz="3100">
                <a:sym typeface="+mn-ea"/>
              </a:rPr>
              <a:t>分机动合计</a:t>
            </a:r>
            <a:r>
              <a:rPr lang="en-US" altLang="zh-CN" sz="3100">
                <a:sym typeface="+mn-ea"/>
              </a:rPr>
              <a:t>30</a:t>
            </a:r>
            <a:r>
              <a:rPr lang="zh-CN" altLang="en-US" sz="3100">
                <a:sym typeface="+mn-ea"/>
              </a:rPr>
              <a:t>分。超过</a:t>
            </a:r>
            <a:r>
              <a:rPr lang="en-US" altLang="zh-CN" sz="3100">
                <a:sym typeface="+mn-ea"/>
              </a:rPr>
              <a:t>5</a:t>
            </a:r>
            <a:r>
              <a:rPr lang="zh-CN" altLang="en-US" sz="3100">
                <a:sym typeface="+mn-ea"/>
              </a:rPr>
              <a:t>个实验来完成，实验成绩计</a:t>
            </a:r>
            <a:r>
              <a:rPr lang="en-US" altLang="zh-CN" sz="3100">
                <a:sym typeface="+mn-ea"/>
              </a:rPr>
              <a:t>0</a:t>
            </a:r>
            <a:r>
              <a:rPr lang="zh-CN" altLang="en-US" sz="3100">
                <a:sym typeface="+mn-ea"/>
              </a:rPr>
              <a:t>分。</a:t>
            </a:r>
          </a:p>
          <a:p>
            <a:pPr marL="0" indent="0">
              <a:buNone/>
            </a:pPr>
            <a:r>
              <a:rPr lang="en-US" altLang="zh-CN" sz="3100">
                <a:sym typeface="+mn-ea"/>
              </a:rPr>
              <a:t>6.</a:t>
            </a:r>
            <a:r>
              <a:rPr lang="zh-CN" altLang="en-US" sz="3100">
                <a:sym typeface="+mn-ea"/>
              </a:rPr>
              <a:t>实验报告必须上交到指定的网站：</a:t>
            </a:r>
            <a:r>
              <a:rPr lang="zh-CN" altLang="en-US" sz="4000">
                <a:solidFill>
                  <a:srgbClr val="FF0000"/>
                </a:solidFill>
                <a:sym typeface="+mn-ea"/>
              </a:rPr>
              <a:t>学在浙大或</a:t>
            </a:r>
            <a:r>
              <a:rPr lang="en-US" altLang="zh-CN" sz="4000">
                <a:solidFill>
                  <a:srgbClr val="FF0000"/>
                </a:solidFill>
                <a:sym typeface="+mn-ea"/>
              </a:rPr>
              <a:t>Platform</a:t>
            </a:r>
            <a:r>
              <a:rPr lang="zh-CN" altLang="en-US" sz="4000">
                <a:solidFill>
                  <a:srgbClr val="FF0000"/>
                </a:solidFill>
                <a:sym typeface="+mn-ea"/>
              </a:rPr>
              <a:t>平台，钉钉发给老师不计成绩。</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实验室规章制度</a:t>
            </a:r>
          </a:p>
        </p:txBody>
      </p:sp>
      <p:sp>
        <p:nvSpPr>
          <p:cNvPr id="3" name="内容占位符 2"/>
          <p:cNvSpPr>
            <a:spLocks noGrp="1"/>
          </p:cNvSpPr>
          <p:nvPr>
            <p:ph idx="1"/>
          </p:nvPr>
        </p:nvSpPr>
        <p:spPr>
          <a:xfrm>
            <a:off x="457200" y="1196975"/>
            <a:ext cx="8229600" cy="3733800"/>
          </a:xfrm>
        </p:spPr>
        <p:txBody>
          <a:bodyPr>
            <a:normAutofit fontScale="90000" lnSpcReduction="10000"/>
          </a:bodyPr>
          <a:lstStyle/>
          <a:p>
            <a:pPr marL="0" indent="0">
              <a:buNone/>
            </a:pPr>
            <a:r>
              <a:rPr lang="en-US" altLang="zh-CN"/>
              <a:t>1.</a:t>
            </a:r>
            <a:r>
              <a:rPr lang="zh-CN" altLang="en-US"/>
              <a:t>不能在实验室内吃零食和就餐。订餐请到走道上就餐。</a:t>
            </a:r>
          </a:p>
          <a:p>
            <a:pPr marL="0" indent="0">
              <a:buNone/>
            </a:pPr>
            <a:r>
              <a:rPr lang="en-US" altLang="zh-CN"/>
              <a:t>2.</a:t>
            </a:r>
            <a:r>
              <a:rPr lang="zh-CN" altLang="en-US"/>
              <a:t>实验结束时请关闭电脑主机电源，勿关显示器电源，后面实验同学以为电脑坏了。</a:t>
            </a:r>
          </a:p>
          <a:p>
            <a:pPr marL="0" indent="0">
              <a:buNone/>
            </a:pPr>
            <a:r>
              <a:rPr lang="en-US" altLang="zh-CN"/>
              <a:t>3.</a:t>
            </a:r>
            <a:r>
              <a:rPr lang="en-US" altLang="zh-CN">
                <a:sym typeface="+mn-ea"/>
              </a:rPr>
              <a:t>Sword</a:t>
            </a:r>
            <a:r>
              <a:rPr lang="zh-CN" altLang="en-US">
                <a:sym typeface="+mn-ea"/>
              </a:rPr>
              <a:t>实验箱</a:t>
            </a:r>
            <a:r>
              <a:rPr lang="zh-CN" altLang="en-US"/>
              <a:t>的盖子不要合上，</a:t>
            </a:r>
            <a:r>
              <a:rPr lang="zh-CN" altLang="en-US">
                <a:sym typeface="+mn-ea"/>
              </a:rPr>
              <a:t>关闭各种仪器的电源。导线放实验箱内。</a:t>
            </a:r>
            <a:endParaRPr lang="zh-CN" altLang="en-US"/>
          </a:p>
          <a:p>
            <a:pPr marL="0" indent="0">
              <a:buNone/>
            </a:pPr>
            <a:r>
              <a:rPr lang="en-US" altLang="zh-CN"/>
              <a:t>4.</a:t>
            </a:r>
            <a:r>
              <a:rPr lang="zh-CN" altLang="en-US">
                <a:sym typeface="+mn-ea"/>
              </a:rPr>
              <a:t>实验结束后请整理好</a:t>
            </a:r>
            <a:r>
              <a:rPr lang="zh-CN" altLang="en-US" sz="5000">
                <a:solidFill>
                  <a:srgbClr val="FF0000"/>
                </a:solidFill>
                <a:sym typeface="+mn-ea"/>
              </a:rPr>
              <a:t>椅子</a:t>
            </a:r>
            <a:r>
              <a:rPr lang="zh-CN" altLang="en-US">
                <a:sym typeface="+mn-ea"/>
              </a:rPr>
              <a:t>，实验签上</a:t>
            </a:r>
            <a:r>
              <a:rPr lang="zh-CN" altLang="en-US" sz="3555">
                <a:solidFill>
                  <a:srgbClr val="FF0000"/>
                </a:solidFill>
                <a:sym typeface="+mn-ea"/>
              </a:rPr>
              <a:t>椅子号</a:t>
            </a:r>
            <a:r>
              <a:rPr lang="zh-CN" altLang="en-US">
                <a:sym typeface="+mn-ea"/>
              </a:rPr>
              <a:t>。</a:t>
            </a:r>
            <a:endParaRPr lang="zh-CN" altLang="en-US"/>
          </a:p>
        </p:txBody>
      </p:sp>
      <p:pic>
        <p:nvPicPr>
          <p:cNvPr id="5" name="图片 4" descr="椅子"/>
          <p:cNvPicPr>
            <a:picLocks noChangeAspect="1"/>
          </p:cNvPicPr>
          <p:nvPr/>
        </p:nvPicPr>
        <p:blipFill>
          <a:blip r:embed="rId2"/>
          <a:stretch>
            <a:fillRect/>
          </a:stretch>
        </p:blipFill>
        <p:spPr>
          <a:xfrm>
            <a:off x="405130" y="4627880"/>
            <a:ext cx="2421890" cy="2178050"/>
          </a:xfrm>
          <a:prstGeom prst="rect">
            <a:avLst/>
          </a:prstGeom>
        </p:spPr>
      </p:pic>
      <p:pic>
        <p:nvPicPr>
          <p:cNvPr id="6" name="图片 5" descr="SWORD1"/>
          <p:cNvPicPr>
            <a:picLocks noChangeAspect="1"/>
          </p:cNvPicPr>
          <p:nvPr/>
        </p:nvPicPr>
        <p:blipFill>
          <a:blip r:embed="rId3"/>
          <a:stretch>
            <a:fillRect/>
          </a:stretch>
        </p:blipFill>
        <p:spPr>
          <a:xfrm>
            <a:off x="3333750" y="4699635"/>
            <a:ext cx="2440940" cy="2134870"/>
          </a:xfrm>
          <a:prstGeom prst="rect">
            <a:avLst/>
          </a:prstGeom>
        </p:spPr>
      </p:pic>
      <p:pic>
        <p:nvPicPr>
          <p:cNvPr id="7" name="图片 6" descr="SWORD2"/>
          <p:cNvPicPr>
            <a:picLocks noChangeAspect="1"/>
          </p:cNvPicPr>
          <p:nvPr/>
        </p:nvPicPr>
        <p:blipFill>
          <a:blip r:embed="rId4"/>
          <a:stretch>
            <a:fillRect/>
          </a:stretch>
        </p:blipFill>
        <p:spPr>
          <a:xfrm>
            <a:off x="6096000" y="4656455"/>
            <a:ext cx="2849245" cy="213741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WordArt 3"/>
          <p:cNvSpPr>
            <a:spLocks noChangeArrowheads="1" noChangeShapeType="1" noTextEdit="1"/>
          </p:cNvSpPr>
          <p:nvPr/>
        </p:nvSpPr>
        <p:spPr bwMode="gray">
          <a:xfrm>
            <a:off x="2051720" y="3212976"/>
            <a:ext cx="4724400" cy="609600"/>
          </a:xfrm>
          <a:prstGeom prst="rect">
            <a:avLst/>
          </a:prstGeom>
        </p:spPr>
        <p:txBody>
          <a:bodyPr wrap="none" fromWordArt="1">
            <a:prstTxWarp prst="textDeflate">
              <a:avLst>
                <a:gd name="adj" fmla="val 0"/>
              </a:avLst>
            </a:prstTxWarp>
          </a:bodyPr>
          <a:lstStyle/>
          <a:p>
            <a:pPr algn="ctr"/>
            <a:r>
              <a:rPr lang="en-US" altLang="zh-CN" sz="5400" b="1" kern="10" dirty="0">
                <a:ln w="28575">
                  <a:solidFill>
                    <a:schemeClr val="bg1"/>
                  </a:solidFill>
                  <a:round/>
                </a:ln>
                <a:gradFill rotWithShape="1">
                  <a:gsLst>
                    <a:gs pos="0">
                      <a:schemeClr val="tx2"/>
                    </a:gs>
                    <a:gs pos="100000">
                      <a:schemeClr val="accent1"/>
                    </a:gs>
                  </a:gsLst>
                  <a:lin ang="0" scaled="1"/>
                </a:gradFill>
                <a:effectLst>
                  <a:outerShdw dist="89803" dir="2700000" algn="ctr" rotWithShape="0">
                    <a:srgbClr val="000000">
                      <a:alpha val="50000"/>
                    </a:srgbClr>
                  </a:outerShdw>
                </a:effectLst>
                <a:latin typeface="Verdana" panose="020B0604030504040204"/>
                <a:ea typeface="Verdana" panose="020B0604030504040204"/>
                <a:cs typeface="Verdana" panose="020B0604030504040204"/>
              </a:rPr>
              <a:t>Thank You !</a:t>
            </a:r>
            <a:endParaRPr lang="zh-CN" altLang="en-US" sz="5400" b="1" kern="10" dirty="0">
              <a:ln w="28575">
                <a:solidFill>
                  <a:schemeClr val="bg1"/>
                </a:solidFill>
                <a:round/>
              </a:ln>
              <a:gradFill rotWithShape="1">
                <a:gsLst>
                  <a:gs pos="0">
                    <a:schemeClr val="tx2"/>
                  </a:gs>
                  <a:gs pos="100000">
                    <a:schemeClr val="accent1"/>
                  </a:gs>
                </a:gsLst>
                <a:lin ang="0" scaled="1"/>
              </a:gradFill>
              <a:effectLst>
                <a:outerShdw dist="89803" dir="2700000" algn="ctr" rotWithShape="0">
                  <a:srgbClr val="000000">
                    <a:alpha val="50000"/>
                  </a:srgbClr>
                </a:outerShdw>
              </a:effectLst>
              <a:latin typeface="Verdana" panose="020B0604030504040204"/>
              <a:cs typeface="Verdana" panose="020B0604030504040204"/>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zQ2ODMxNGM3ZGNiNTdhYjNhZjZhN2YwNjhkY2YwZWYifQ=="/>
  <p:tag name="KSO_WPP_MARK_KEY" val="fc750536-33c4-4b46-a76d-fe198ce0a16f"/>
</p:tagLst>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实验室PPT模版2013 beta1">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a:solidFill>
            <a:srgbClr val="FF0000"/>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3588</Words>
  <Application>Microsoft Office PowerPoint</Application>
  <PresentationFormat>On-screen Show (4:3)</PresentationFormat>
  <Paragraphs>292</Paragraphs>
  <Slides>37</Slides>
  <Notes>0</Notes>
  <HiddenSlides>0</HiddenSlides>
  <MMClips>0</MMClips>
  <ScaleCrop>false</ScaleCrop>
  <HeadingPairs>
    <vt:vector size="8" baseType="variant">
      <vt:variant>
        <vt:lpstr>Fonts Used</vt:lpstr>
      </vt:variant>
      <vt:variant>
        <vt:i4>12</vt:i4>
      </vt:variant>
      <vt:variant>
        <vt:lpstr>Theme</vt:lpstr>
      </vt:variant>
      <vt:variant>
        <vt:i4>3</vt:i4>
      </vt:variant>
      <vt:variant>
        <vt:lpstr>Embedded OLE Servers</vt:lpstr>
      </vt:variant>
      <vt:variant>
        <vt:i4>2</vt:i4>
      </vt:variant>
      <vt:variant>
        <vt:lpstr>Slide Titles</vt:lpstr>
      </vt:variant>
      <vt:variant>
        <vt:i4>37</vt:i4>
      </vt:variant>
    </vt:vector>
  </HeadingPairs>
  <TitlesOfParts>
    <vt:vector size="54" baseType="lpstr">
      <vt:lpstr>黑体</vt:lpstr>
      <vt:lpstr>华文细黑</vt:lpstr>
      <vt:lpstr>楷体_GB2312</vt:lpstr>
      <vt:lpstr>宋体</vt:lpstr>
      <vt:lpstr>微软雅黑</vt:lpstr>
      <vt:lpstr>新宋体</vt:lpstr>
      <vt:lpstr>Arial</vt:lpstr>
      <vt:lpstr>Calibri</vt:lpstr>
      <vt:lpstr>Helvetica</vt:lpstr>
      <vt:lpstr>Times New Roman</vt:lpstr>
      <vt:lpstr>Verdana</vt:lpstr>
      <vt:lpstr>Wingdings</vt:lpstr>
      <vt:lpstr>自定义设计方案</vt:lpstr>
      <vt:lpstr>实验室PPT模版2013 beta1</vt:lpstr>
      <vt:lpstr>1_自定义设计方案</vt:lpstr>
      <vt:lpstr>Visio</vt:lpstr>
      <vt:lpstr>Bitmap Image</vt:lpstr>
      <vt:lpstr>数字逻辑设计实验</vt:lpstr>
      <vt:lpstr>提  纲</vt:lpstr>
      <vt:lpstr>实验目的</vt:lpstr>
      <vt:lpstr>实验设备与材料</vt:lpstr>
      <vt:lpstr>实验任务</vt:lpstr>
      <vt:lpstr>实验原理</vt:lpstr>
      <vt:lpstr>扇出系数（负载能力）No</vt:lpstr>
      <vt:lpstr>74LS00与非门扇出系数测量</vt:lpstr>
      <vt:lpstr>低电平输入电流 IiL</vt:lpstr>
      <vt:lpstr>常用逻辑电平标准</vt:lpstr>
      <vt:lpstr>输出高电平VoH</vt:lpstr>
      <vt:lpstr>输出低电平VoL</vt:lpstr>
      <vt:lpstr>电压传输特性</vt:lpstr>
      <vt:lpstr>关门电平VOFF</vt:lpstr>
      <vt:lpstr>开门电平VON</vt:lpstr>
      <vt:lpstr>噪音容限（Noise Margin）</vt:lpstr>
      <vt:lpstr>平均传输延迟时间tpd</vt:lpstr>
      <vt:lpstr>平均传输延迟时间tpd</vt:lpstr>
      <vt:lpstr>平均传输延迟时间tpd测量原理</vt:lpstr>
      <vt:lpstr>空载导通功耗 PON</vt:lpstr>
      <vt:lpstr>空载截止功耗POFF</vt:lpstr>
      <vt:lpstr>实验内容与测试步骤（实验内容）</vt:lpstr>
      <vt:lpstr>电路设计实验箱说明</vt:lpstr>
      <vt:lpstr>实验箱面板说明</vt:lpstr>
      <vt:lpstr>实验箱面板说明</vt:lpstr>
      <vt:lpstr>验证74LS00“与非”门逻辑功能</vt:lpstr>
      <vt:lpstr>74LS00测试接线图</vt:lpstr>
      <vt:lpstr>验证CD4001 “或非”门逻辑功能</vt:lpstr>
      <vt:lpstr>测量74LS00逻辑门的传输延迟时间tpd</vt:lpstr>
      <vt:lpstr>测量74LS00传输延迟接线图</vt:lpstr>
      <vt:lpstr>测量CD4001逻辑门的传输延迟时间tpd</vt:lpstr>
      <vt:lpstr>测量74LS00传输特性与开关门电平VON和VOFF</vt:lpstr>
      <vt:lpstr>测量74LS00传输特性与开关门电平VON和VOFF</vt:lpstr>
      <vt:lpstr>测量74LS00传输特性接线图</vt:lpstr>
      <vt:lpstr>计算机逻辑设计实验要求</vt:lpstr>
      <vt:lpstr>实验室规章制度</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xu3stones</dc:creator>
  <cp:lastModifiedBy>RedFlag</cp:lastModifiedBy>
  <cp:revision>348</cp:revision>
  <dcterms:created xsi:type="dcterms:W3CDTF">2011-08-03T07:44:00Z</dcterms:created>
  <dcterms:modified xsi:type="dcterms:W3CDTF">2026-03-18T03:15:51Z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A0A13FDCA90C4B829AC86F4E466ABA69</vt:lpwstr>
  </property>
</Properties>
</file>