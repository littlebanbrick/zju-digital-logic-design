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3" r:id="rId3"/>
  </p:sldMasterIdLst>
  <p:notesMasterIdLst>
    <p:notesMasterId r:id="rId66"/>
  </p:notesMasterIdLst>
  <p:sldIdLst>
    <p:sldId id="256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9" r:id="rId12"/>
    <p:sldId id="311" r:id="rId13"/>
    <p:sldId id="280" r:id="rId14"/>
    <p:sldId id="277" r:id="rId15"/>
    <p:sldId id="278" r:id="rId16"/>
    <p:sldId id="281" r:id="rId17"/>
    <p:sldId id="282" r:id="rId18"/>
    <p:sldId id="283" r:id="rId19"/>
    <p:sldId id="383" r:id="rId20"/>
    <p:sldId id="284" r:id="rId21"/>
    <p:sldId id="562" r:id="rId22"/>
    <p:sldId id="285" r:id="rId23"/>
    <p:sldId id="563" r:id="rId24"/>
    <p:sldId id="564" r:id="rId25"/>
    <p:sldId id="565" r:id="rId26"/>
    <p:sldId id="566" r:id="rId27"/>
    <p:sldId id="1691" r:id="rId28"/>
    <p:sldId id="1692" r:id="rId29"/>
    <p:sldId id="1693" r:id="rId30"/>
    <p:sldId id="609" r:id="rId31"/>
    <p:sldId id="604" r:id="rId32"/>
    <p:sldId id="605" r:id="rId33"/>
    <p:sldId id="606" r:id="rId34"/>
    <p:sldId id="608" r:id="rId35"/>
    <p:sldId id="607" r:id="rId36"/>
    <p:sldId id="473" r:id="rId37"/>
    <p:sldId id="290" r:id="rId38"/>
    <p:sldId id="611" r:id="rId39"/>
    <p:sldId id="617" r:id="rId40"/>
    <p:sldId id="612" r:id="rId41"/>
    <p:sldId id="613" r:id="rId42"/>
    <p:sldId id="614" r:id="rId43"/>
    <p:sldId id="615" r:id="rId44"/>
    <p:sldId id="616" r:id="rId45"/>
    <p:sldId id="618" r:id="rId46"/>
    <p:sldId id="619" r:id="rId47"/>
    <p:sldId id="620" r:id="rId48"/>
    <p:sldId id="288" r:id="rId49"/>
    <p:sldId id="622" r:id="rId50"/>
    <p:sldId id="623" r:id="rId51"/>
    <p:sldId id="621" r:id="rId52"/>
    <p:sldId id="624" r:id="rId53"/>
    <p:sldId id="294" r:id="rId54"/>
    <p:sldId id="625" r:id="rId55"/>
    <p:sldId id="350" r:id="rId56"/>
    <p:sldId id="626" r:id="rId57"/>
    <p:sldId id="627" r:id="rId58"/>
    <p:sldId id="628" r:id="rId59"/>
    <p:sldId id="443" r:id="rId60"/>
    <p:sldId id="444" r:id="rId61"/>
    <p:sldId id="445" r:id="rId62"/>
    <p:sldId id="446" r:id="rId63"/>
    <p:sldId id="447" r:id="rId64"/>
    <p:sldId id="269" r:id="rId65"/>
  </p:sldIdLst>
  <p:sldSz cx="9144000" cy="6858000" type="screen4x3"/>
  <p:notesSz cx="6858000" cy="9144000"/>
  <p:custDataLst>
    <p:tags r:id="rId6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E2BB560-6633-472E-86A8-D6CD2949BF9A}">
          <p14:sldIdLst>
            <p14:sldId id="256"/>
            <p14:sldId id="270"/>
            <p14:sldId id="271"/>
            <p14:sldId id="272"/>
            <p14:sldId id="273"/>
            <p14:sldId id="274"/>
            <p14:sldId id="275"/>
            <p14:sldId id="276"/>
            <p14:sldId id="279"/>
            <p14:sldId id="311"/>
            <p14:sldId id="280"/>
            <p14:sldId id="277"/>
            <p14:sldId id="278"/>
            <p14:sldId id="281"/>
            <p14:sldId id="282"/>
            <p14:sldId id="283"/>
            <p14:sldId id="383"/>
            <p14:sldId id="284"/>
            <p14:sldId id="562"/>
            <p14:sldId id="285"/>
            <p14:sldId id="563"/>
            <p14:sldId id="564"/>
            <p14:sldId id="565"/>
            <p14:sldId id="566"/>
            <p14:sldId id="1691"/>
            <p14:sldId id="1692"/>
            <p14:sldId id="1693"/>
            <p14:sldId id="609"/>
            <p14:sldId id="604"/>
            <p14:sldId id="605"/>
            <p14:sldId id="606"/>
            <p14:sldId id="608"/>
            <p14:sldId id="607"/>
            <p14:sldId id="473"/>
            <p14:sldId id="290"/>
            <p14:sldId id="611"/>
            <p14:sldId id="617"/>
            <p14:sldId id="612"/>
            <p14:sldId id="613"/>
            <p14:sldId id="614"/>
            <p14:sldId id="615"/>
            <p14:sldId id="616"/>
            <p14:sldId id="618"/>
            <p14:sldId id="619"/>
            <p14:sldId id="620"/>
            <p14:sldId id="288"/>
            <p14:sldId id="622"/>
            <p14:sldId id="623"/>
            <p14:sldId id="621"/>
            <p14:sldId id="624"/>
            <p14:sldId id="294"/>
            <p14:sldId id="625"/>
            <p14:sldId id="350"/>
            <p14:sldId id="626"/>
            <p14:sldId id="627"/>
            <p14:sldId id="628"/>
            <p14:sldId id="443"/>
            <p14:sldId id="444"/>
            <p14:sldId id="445"/>
            <p14:sldId id="446"/>
            <p14:sldId id="447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33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2" autoAdjust="0"/>
    <p:restoredTop sz="82100" autoAdjust="0"/>
  </p:normalViewPr>
  <p:slideViewPr>
    <p:cSldViewPr showGuides="1">
      <p:cViewPr varScale="1">
        <p:scale>
          <a:sx n="94" d="100"/>
          <a:sy n="94" d="100"/>
        </p:scale>
        <p:origin x="214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presProps" Target="presProps.xml"/><Relationship Id="rId7" Type="http://schemas.openxmlformats.org/officeDocument/2006/relationships/slide" Target="slides/slide4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tags" Target="tags/tag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4" Type="http://schemas.openxmlformats.org/officeDocument/2006/relationships/image" Target="../media/image2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A232E-0D23-E744-A2E7-48CC2B10A8E9}" type="datetimeFigureOut">
              <a:rPr kumimoji="1" lang="zh-CN" altLang="en-US" smtClean="0"/>
              <a:t>2025/3/19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3A588-43E9-AC44-AC90-AB7B6B5540F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2" y="0"/>
            <a:ext cx="9102436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93561" y="1950515"/>
            <a:ext cx="8134672" cy="1470025"/>
          </a:xfrm>
        </p:spPr>
        <p:txBody>
          <a:bodyPr>
            <a:noAutofit/>
          </a:bodyPr>
          <a:lstStyle>
            <a:lvl1pPr>
              <a:defRPr sz="520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4293096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580315"/>
            <a:ext cx="1368152" cy="55815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6309320"/>
            <a:ext cx="7887572" cy="1828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2" y="0"/>
            <a:ext cx="9102436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580315"/>
            <a:ext cx="1368152" cy="55815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6309320"/>
            <a:ext cx="7887572" cy="1828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005464" cy="954360"/>
          </a:xfrm>
        </p:spPr>
        <p:txBody>
          <a:bodyPr>
            <a:normAutofit/>
          </a:bodyPr>
          <a:lstStyle>
            <a:lvl1pPr algn="l">
              <a:defRPr sz="400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Clr>
                <a:schemeClr val="accent5">
                  <a:lumMod val="75000"/>
                </a:schemeClr>
              </a:buClr>
              <a:buSzPct val="80000"/>
              <a:buFont typeface="Wingdings" panose="05000000000000000000" pitchFamily="2" charset="2"/>
              <a:buChar char="p"/>
              <a:defRPr b="1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n"/>
              <a:defRPr b="1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p"/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buClr>
                <a:schemeClr val="accent5">
                  <a:lumMod val="75000"/>
                </a:schemeClr>
              </a:buClr>
              <a:buSzPct val="60000"/>
              <a:buFont typeface="Wingdings" panose="05000000000000000000" pitchFamily="2" charset="2"/>
              <a:buChar char="n"/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4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7005464" cy="954360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336699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SzPct val="8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buClr>
                <a:schemeClr val="tx1"/>
              </a:buClr>
              <a:buSzPct val="70000"/>
              <a:buFont typeface="Wingdings" panose="05000000000000000000" pitchFamily="2" charset="2"/>
              <a:buChar char="p"/>
              <a:defRPr sz="1800" b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buClr>
                <a:schemeClr val="tx1"/>
              </a:buClr>
              <a:buSzPct val="50000"/>
              <a:buFont typeface="Wingdings" panose="05000000000000000000" pitchFamily="2" charset="2"/>
              <a:buChar char="n"/>
              <a:defRPr sz="1600"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400"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>
              <a:defRPr sz="1200"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2025/3/19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将图片拖动到占位符，或单击添加图标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将图片拖动到占位符，或单击添加图标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DDDDDD"/>
          </a:solidFill>
          <a:ln w="9525" algn="ctr">
            <a:noFill/>
            <a:miter lim="800000"/>
          </a:ln>
          <a:effectLst/>
        </p:spPr>
        <p:txBody>
          <a:bodyPr wrap="none" lIns="91425" tIns="45712" rIns="91425" bIns="45712" anchor="ctr">
            <a:spAutoFit/>
          </a:bodyPr>
          <a:lstStyle/>
          <a:p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0BAF8-1120-4869-B1EC-9D010EF77D65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336699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SzPct val="50000"/>
        <a:buFont typeface="Wingdings" panose="05000000000000000000" pitchFamily="2" charset="2"/>
        <a:buChar char="p"/>
        <a:defRPr sz="2200" kern="12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DDDDDD"/>
          </a:solidFill>
          <a:ln w="9525" algn="ctr">
            <a:noFill/>
            <a:miter lim="800000"/>
          </a:ln>
          <a:effectLst/>
        </p:spPr>
        <p:txBody>
          <a:bodyPr wrap="none" lIns="91425" tIns="45712" rIns="91425" bIns="45712" anchor="ctr">
            <a:spAutoFit/>
          </a:bodyPr>
          <a:lstStyle/>
          <a:p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0BAF8-1120-4869-B1EC-9D010EF77D65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336699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SzPct val="50000"/>
        <a:buFont typeface="Wingdings" panose="05000000000000000000" pitchFamily="2" charset="2"/>
        <a:buChar char="p"/>
        <a:defRPr sz="2200" kern="12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10.wmf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9.emf"/><Relationship Id="rId4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1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4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5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0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8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0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24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18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44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45.png"/><Relationship Id="rId4" Type="http://schemas.openxmlformats.org/officeDocument/2006/relationships/image" Target="../media/image44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2.jpe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4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73.wmf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93561" y="1052736"/>
            <a:ext cx="8134672" cy="1728191"/>
          </a:xfrm>
        </p:spPr>
        <p:txBody>
          <a:bodyPr/>
          <a:lstStyle/>
          <a:p>
            <a:r>
              <a:rPr lang="zh-CN" altLang="en-US" sz="4400" b="1" dirty="0">
                <a:solidFill>
                  <a:schemeClr val="tx1"/>
                </a:solidFill>
                <a:ea typeface="宋体" panose="02010600030101010101" pitchFamily="2" charset="-122"/>
              </a:rPr>
              <a:t>数字逻辑设计实验</a:t>
            </a:r>
            <a:endParaRPr lang="zh-CN" altLang="en-US" sz="4400" dirty="0">
              <a:effectLst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9845" y="3277870"/>
            <a:ext cx="9222675" cy="2815426"/>
          </a:xfrm>
        </p:spPr>
        <p:txBody>
          <a:bodyPr>
            <a:normAutofit fontScale="97500"/>
          </a:bodyPr>
          <a:lstStyle/>
          <a:p>
            <a:pPr>
              <a:spcBef>
                <a:spcPct val="0"/>
              </a:spcBef>
            </a:pP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洪奇军</a:t>
            </a:r>
          </a:p>
          <a:p>
            <a:pPr>
              <a:spcBef>
                <a:spcPct val="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redflag@zju.edu.cn</a:t>
            </a:r>
            <a:endParaRPr lang="en-US" altLang="zh-CN" sz="28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spcBef>
                <a:spcPct val="0"/>
              </a:spcBef>
            </a:pPr>
            <a:r>
              <a:rPr kumimoji="1" lang="zh-CN" altLang="en-US" sz="2800" dirty="0">
                <a:solidFill>
                  <a:schemeClr val="tx1"/>
                </a:solidFill>
                <a:ea typeface="宋体" panose="02010600030101010101" pitchFamily="2" charset="-122"/>
                <a:sym typeface="+mn-ea"/>
              </a:rPr>
              <a:t>https://3200105455.pages.zjusct.io/202</a:t>
            </a:r>
            <a:r>
              <a:rPr kumimoji="1" lang="en-US" altLang="zh-CN" sz="2800" dirty="0">
                <a:solidFill>
                  <a:schemeClr val="tx1"/>
                </a:solidFill>
                <a:ea typeface="宋体" panose="02010600030101010101" pitchFamily="2" charset="-122"/>
                <a:sym typeface="+mn-ea"/>
              </a:rPr>
              <a:t>4</a:t>
            </a:r>
            <a:r>
              <a:rPr kumimoji="1" lang="zh-CN" altLang="en-US" sz="2800" dirty="0">
                <a:solidFill>
                  <a:schemeClr val="tx1"/>
                </a:solidFill>
                <a:ea typeface="宋体" panose="02010600030101010101" pitchFamily="2" charset="-122"/>
                <a:sym typeface="+mn-ea"/>
              </a:rPr>
              <a:t>_dd/</a:t>
            </a:r>
            <a:endParaRPr lang="zh-CN" altLang="en-US" sz="28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1">
              <a:spcBef>
                <a:spcPct val="0"/>
              </a:spcBef>
            </a:pPr>
            <a:r>
              <a:rPr lang="zh-CN" altLang="en-US" sz="20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计算系统</a:t>
            </a:r>
            <a:r>
              <a:rPr lang="en-US" altLang="zh-CN" sz="20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1</a:t>
            </a:r>
            <a:r>
              <a:rPr lang="zh-CN" altLang="en-US" sz="20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：</a:t>
            </a: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https://zju-sys.pages.zjusct.io/sys1/sys1-sp24/</a:t>
            </a:r>
          </a:p>
          <a:p>
            <a:pPr marL="0" lvl="1">
              <a:spcBef>
                <a:spcPct val="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2025</a:t>
            </a: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年</a:t>
            </a:r>
            <a:r>
              <a:rPr lang="en-US" altLang="zh-CN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3</a:t>
            </a: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月</a:t>
            </a:r>
            <a:r>
              <a:rPr lang="en-US" altLang="zh-CN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19</a:t>
            </a: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日</a:t>
            </a:r>
            <a:endParaRPr lang="zh-CN" altLang="en-US" sz="2800" b="1" dirty="0">
              <a:latin typeface="+mj-lt"/>
            </a:endParaRPr>
          </a:p>
          <a:p>
            <a:pPr>
              <a:spcBef>
                <a:spcPct val="0"/>
              </a:spcBef>
            </a:pPr>
            <a:endParaRPr lang="en-US" altLang="zh-CN" sz="28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</a:pPr>
            <a:endParaRPr lang="zh-CN" altLang="en-US" b="1" dirty="0"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5581" y="2349178"/>
            <a:ext cx="82809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3333FF"/>
                </a:solidFill>
                <a:latin typeface="Helvetica" pitchFamily="34" charset="0"/>
                <a:ea typeface="宋体" panose="02010600030101010101" pitchFamily="2" charset="-122"/>
              </a:rPr>
              <a:t>实验</a:t>
            </a:r>
            <a:r>
              <a:rPr lang="en-US" altLang="zh-CN" sz="4000" b="1" dirty="0">
                <a:solidFill>
                  <a:srgbClr val="3333FF"/>
                </a:solidFill>
                <a:latin typeface="Helvetica" pitchFamily="34" charset="0"/>
                <a:ea typeface="宋体" panose="02010600030101010101" pitchFamily="2" charset="-122"/>
              </a:rPr>
              <a:t>5.</a:t>
            </a:r>
            <a:r>
              <a:rPr lang="zh-CN" altLang="en-US" sz="4000" b="1" dirty="0">
                <a:solidFill>
                  <a:srgbClr val="3333FF"/>
                </a:solidFill>
                <a:latin typeface="Helvetica" pitchFamily="34" charset="0"/>
                <a:ea typeface="宋体" panose="02010600030101010101" pitchFamily="2" charset="-122"/>
              </a:rPr>
              <a:t>变量译码器设计与应用</a:t>
            </a:r>
            <a:endParaRPr lang="en-US" altLang="zh-CN" sz="4000" b="1" dirty="0">
              <a:solidFill>
                <a:srgbClr val="3333FF"/>
              </a:solidFill>
              <a:latin typeface="Helvetica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  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实验目的</a:t>
            </a:r>
            <a:endParaRPr lang="en-US" altLang="zh-CN" dirty="0"/>
          </a:p>
          <a:p>
            <a:r>
              <a:rPr lang="zh-CN" altLang="en-US" dirty="0"/>
              <a:t>实验设备与材料</a:t>
            </a:r>
            <a:endParaRPr lang="en-US" altLang="zh-CN" dirty="0"/>
          </a:p>
          <a:p>
            <a:r>
              <a:rPr lang="zh-CN" altLang="en-US" dirty="0"/>
              <a:t>实验任务</a:t>
            </a:r>
            <a:endParaRPr lang="en-US" altLang="zh-CN" dirty="0"/>
          </a:p>
          <a:p>
            <a:r>
              <a:rPr lang="zh-CN" altLang="en-US" dirty="0"/>
              <a:t>实验原理</a:t>
            </a:r>
            <a:endParaRPr lang="en-US" altLang="zh-CN" dirty="0"/>
          </a:p>
          <a:p>
            <a:r>
              <a:rPr lang="zh-CN" altLang="en-US" dirty="0"/>
              <a:t>实验内容与步骤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实验目的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2776"/>
            <a:ext cx="8507288" cy="518457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dirty="0"/>
              <a:t>掌握变量译码器的的逻辑构成和逻辑功能。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dirty="0"/>
              <a:t>用变量译码器实现组合函数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dirty="0"/>
              <a:t>掌握变量译码器的典型应用（地址译码的具体方法）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dirty="0"/>
              <a:t>了解存储器编址的概念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dirty="0"/>
              <a:t>采用原理图设计电路模块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dirty="0"/>
              <a:t>进一步熟悉</a:t>
            </a:r>
            <a:r>
              <a:rPr lang="en-US" altLang="zh-CN" sz="2800" dirty="0"/>
              <a:t>ISE</a:t>
            </a:r>
            <a:r>
              <a:rPr lang="zh-CN" altLang="en-US" sz="2800" dirty="0"/>
              <a:t>平台及下载实验平台物理验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endParaRPr lang="zh-CN" alt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实验设备与材料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实验设备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装有</a:t>
            </a:r>
            <a:r>
              <a:rPr lang="en-US" altLang="zh-CN" dirty="0"/>
              <a:t>Xilinx ISE 14.7</a:t>
            </a:r>
            <a:r>
              <a:rPr lang="zh-CN" altLang="en-US" dirty="0"/>
              <a:t>的计算机</a:t>
            </a:r>
            <a:r>
              <a:rPr lang="en-US" altLang="zh-CN" dirty="0"/>
              <a:t>	1</a:t>
            </a:r>
            <a:r>
              <a:rPr lang="zh-CN" altLang="en-US" dirty="0"/>
              <a:t>台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SWORD</a:t>
            </a:r>
            <a:r>
              <a:rPr lang="zh-CN" altLang="en-US" dirty="0"/>
              <a:t>开发板</a:t>
            </a:r>
            <a:r>
              <a:rPr lang="en-US" altLang="zh-CN" dirty="0"/>
              <a:t>					1</a:t>
            </a:r>
            <a:r>
              <a:rPr lang="zh-CN" altLang="en-US" dirty="0"/>
              <a:t>套</a:t>
            </a:r>
          </a:p>
          <a:p>
            <a:r>
              <a:rPr lang="zh-CN" altLang="en-US" dirty="0"/>
              <a:t>实验材料</a:t>
            </a:r>
          </a:p>
          <a:p>
            <a:pPr lvl="1"/>
            <a:r>
              <a:rPr lang="zh-CN" altLang="en-US" dirty="0"/>
              <a:t>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实验任务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原理图设计实现</a:t>
            </a:r>
            <a:r>
              <a:rPr lang="en-US" altLang="zh-CN" sz="2800" dirty="0"/>
              <a:t>74LS138</a:t>
            </a:r>
            <a:r>
              <a:rPr lang="zh-CN" altLang="en-US" sz="2800" dirty="0"/>
              <a:t>译码器模块</a:t>
            </a:r>
          </a:p>
          <a:p>
            <a:pPr>
              <a:lnSpc>
                <a:spcPct val="150000"/>
              </a:lnSpc>
            </a:pP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用</a:t>
            </a:r>
            <a:r>
              <a:rPr lang="en-US" altLang="zh-CN" sz="2800" dirty="0"/>
              <a:t>74LS138</a:t>
            </a:r>
            <a:r>
              <a:rPr lang="zh-CN" altLang="en-US" sz="2800" dirty="0"/>
              <a:t>译码器实现楼道灯控制</a:t>
            </a:r>
          </a:p>
          <a:p>
            <a:pPr>
              <a:lnSpc>
                <a:spcPct val="150000"/>
              </a:lnSpc>
            </a:pPr>
            <a:endParaRPr lang="zh-CN" alt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译码器是将一种输入编码转换成另一种编码的电路，即将给定的代码进行“翻译”并转换成指定的状态或输出信号（脉冲或电平）</a:t>
            </a:r>
            <a:endParaRPr lang="en-US" altLang="zh-CN" sz="2800" dirty="0"/>
          </a:p>
          <a:p>
            <a:endParaRPr lang="zh-CN" altLang="en-US" sz="2800" dirty="0"/>
          </a:p>
          <a:p>
            <a:r>
              <a:rPr lang="zh-CN" altLang="en-US" sz="2800" dirty="0"/>
              <a:t>译码可分为：变量译码、显示译码</a:t>
            </a:r>
          </a:p>
          <a:p>
            <a:pPr lvl="1"/>
            <a:r>
              <a:rPr lang="zh-CN" altLang="en-US" sz="2400" dirty="0">
                <a:solidFill>
                  <a:srgbClr val="FF0000"/>
                </a:solidFill>
              </a:rPr>
              <a:t>变量译码</a:t>
            </a:r>
            <a:r>
              <a:rPr lang="zh-CN" altLang="en-US" sz="2400" dirty="0"/>
              <a:t>一般是将一种较少位输入变为较多位输出的器件，如</a:t>
            </a:r>
            <a:r>
              <a:rPr lang="en-US" altLang="zh-CN" sz="2400" dirty="0"/>
              <a:t>2</a:t>
            </a:r>
            <a:r>
              <a:rPr lang="en-US" altLang="zh-CN" sz="2400" baseline="30000" dirty="0"/>
              <a:t>n</a:t>
            </a:r>
            <a:r>
              <a:rPr lang="zh-CN" altLang="en-US" sz="2400" dirty="0"/>
              <a:t>译码和</a:t>
            </a:r>
            <a:r>
              <a:rPr lang="en-US" altLang="zh-CN" sz="2400" dirty="0"/>
              <a:t>8421BCD</a:t>
            </a:r>
            <a:r>
              <a:rPr lang="zh-CN" altLang="en-US" sz="2400" dirty="0"/>
              <a:t>码译码</a:t>
            </a:r>
          </a:p>
          <a:p>
            <a:pPr lvl="1"/>
            <a:r>
              <a:rPr lang="zh-CN" altLang="en-US" sz="2400" dirty="0">
                <a:solidFill>
                  <a:srgbClr val="FF0000"/>
                </a:solidFill>
              </a:rPr>
              <a:t>显示译码</a:t>
            </a:r>
            <a:r>
              <a:rPr lang="zh-CN" altLang="en-US" sz="2400" dirty="0"/>
              <a:t>主要进行</a:t>
            </a:r>
            <a:r>
              <a:rPr lang="en-US" altLang="zh-CN" sz="2400" dirty="0"/>
              <a:t>2</a:t>
            </a:r>
            <a:r>
              <a:rPr lang="zh-CN" altLang="en-US" sz="2400" dirty="0"/>
              <a:t>进制数显示成</a:t>
            </a:r>
            <a:r>
              <a:rPr lang="en-US" altLang="zh-CN" sz="2400" dirty="0"/>
              <a:t>10</a:t>
            </a:r>
            <a:r>
              <a:rPr lang="zh-CN" altLang="en-US" sz="2400" dirty="0"/>
              <a:t>进制或</a:t>
            </a:r>
            <a:r>
              <a:rPr lang="en-US" altLang="zh-CN" sz="2400" dirty="0"/>
              <a:t>16</a:t>
            </a:r>
            <a:r>
              <a:rPr lang="zh-CN" altLang="en-US" sz="2400" dirty="0"/>
              <a:t>进制数的转换，可分为驱动</a:t>
            </a:r>
            <a:r>
              <a:rPr lang="en-US" altLang="zh-CN" sz="2400" dirty="0"/>
              <a:t>LED</a:t>
            </a:r>
            <a:r>
              <a:rPr lang="zh-CN" altLang="en-US" sz="2400" dirty="0"/>
              <a:t>和</a:t>
            </a:r>
            <a:r>
              <a:rPr lang="en-US" altLang="zh-CN" sz="2400" dirty="0"/>
              <a:t>LCD</a:t>
            </a:r>
            <a:r>
              <a:rPr lang="zh-CN" altLang="en-US" sz="2400" dirty="0"/>
              <a:t>两类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804660" y="2564765"/>
            <a:ext cx="1310640" cy="14947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变量译码器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变量译码器是一个将</a:t>
            </a:r>
            <a:r>
              <a:rPr lang="en-US" altLang="zh-CN" i="1" dirty="0"/>
              <a:t>n</a:t>
            </a:r>
            <a:r>
              <a:rPr lang="zh-CN" altLang="en-US" dirty="0"/>
              <a:t>个输入变为</a:t>
            </a:r>
            <a:r>
              <a:rPr lang="en-US" altLang="zh-CN" dirty="0"/>
              <a:t>2</a:t>
            </a:r>
            <a:r>
              <a:rPr lang="en-US" altLang="zh-CN" i="1" baseline="30000" dirty="0"/>
              <a:t>n</a:t>
            </a:r>
            <a:r>
              <a:rPr lang="zh-CN" altLang="en-US" dirty="0"/>
              <a:t>个最小项输出的多输出端的组合逻辑电路。</a:t>
            </a:r>
            <a:r>
              <a:rPr lang="en-US" altLang="zh-CN" i="1" dirty="0"/>
              <a:t>n</a:t>
            </a:r>
            <a:r>
              <a:rPr lang="zh-CN" altLang="en-US" dirty="0"/>
              <a:t>通常在</a:t>
            </a:r>
            <a:r>
              <a:rPr lang="en-US" altLang="zh-CN" dirty="0"/>
              <a:t>2~64</a:t>
            </a:r>
            <a:r>
              <a:rPr lang="zh-CN" altLang="en-US" dirty="0"/>
              <a:t>之间。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85750" y="3429000"/>
          <a:ext cx="8572500" cy="203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" name="Visio" r:id="rId3" imgW="4913630" imgH="1185545" progId="Visio.Drawing.11">
                  <p:embed/>
                </p:oleObj>
              </mc:Choice>
              <mc:Fallback>
                <p:oleObj name="Visio" r:id="rId3" imgW="4913630" imgH="1185545" progId="Visio.Drawing.11">
                  <p:embed/>
                  <p:pic>
                    <p:nvPicPr>
                      <p:cNvPr id="0" name="变量译码器示意图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" y="3429000"/>
                        <a:ext cx="8572500" cy="203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变量译码器</a:t>
            </a:r>
            <a:r>
              <a:rPr lang="en-US" altLang="zh-CN" dirty="0"/>
              <a:t>—74LS138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74LS138</a:t>
            </a:r>
            <a:r>
              <a:rPr lang="zh-CN" altLang="en-US" dirty="0"/>
              <a:t>变量译码器功能表和引脚</a:t>
            </a:r>
          </a:p>
        </p:txBody>
      </p:sp>
      <p:graphicFrame>
        <p:nvGraphicFramePr>
          <p:cNvPr id="4" name="74LS138表格 1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46968" y="2348880"/>
          <a:ext cx="3937000" cy="38557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35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32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输入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 gridSpan="8"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译码器输出</a:t>
                      </a:r>
                      <a:endParaRPr lang="en-US" altLang="zh-CN" baseline="0" dirty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  <a:p>
                      <a:pPr algn="ctr"/>
                      <a:r>
                        <a:rPr lang="zh-CN" altLang="en-US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（低电平有效）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alpha val="2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使能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变量</a:t>
                      </a:r>
                    </a:p>
                  </a:txBody>
                  <a:tcPr marL="0" marR="0" marT="0" marB="0" anchor="ctr"/>
                </a:tc>
                <a:tc gridSpan="8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GG</a:t>
                      </a:r>
                      <a:r>
                        <a:rPr lang="en-US" altLang="zh-CN" b="1" baseline="-2500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2A</a:t>
                      </a:r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G</a:t>
                      </a:r>
                      <a:r>
                        <a:rPr lang="en-US" altLang="zh-CN" b="1" baseline="-2500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2B</a:t>
                      </a:r>
                      <a:endParaRPr lang="zh-CN" altLang="en-US" b="1" baseline="-2500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CBA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Y</a:t>
                      </a:r>
                      <a:r>
                        <a:rPr lang="en-US" altLang="zh-CN" b="1" baseline="-2500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b="1" baseline="-2500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Y</a:t>
                      </a:r>
                      <a:r>
                        <a:rPr lang="en-US" altLang="zh-CN" b="1" baseline="-2500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="1" baseline="-2500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Y</a:t>
                      </a:r>
                      <a:r>
                        <a:rPr lang="en-US" altLang="zh-CN" b="1" baseline="-2500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2</a:t>
                      </a:r>
                      <a:endParaRPr lang="zh-CN" altLang="en-US" b="1" baseline="-2500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Y</a:t>
                      </a:r>
                      <a:r>
                        <a:rPr lang="en-US" altLang="zh-CN" b="1" baseline="-2500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3</a:t>
                      </a:r>
                      <a:endParaRPr lang="zh-CN" altLang="en-US" b="1" baseline="-2500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Y</a:t>
                      </a:r>
                      <a:r>
                        <a:rPr lang="en-US" altLang="zh-CN" b="1" baseline="-2500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4</a:t>
                      </a:r>
                      <a:endParaRPr lang="zh-CN" altLang="en-US" b="1" baseline="-2500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Y</a:t>
                      </a:r>
                      <a:r>
                        <a:rPr lang="en-US" altLang="zh-CN" b="1" baseline="-2500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5</a:t>
                      </a:r>
                      <a:endParaRPr lang="zh-CN" altLang="en-US" b="1" baseline="-2500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Y</a:t>
                      </a:r>
                      <a:r>
                        <a:rPr lang="en-US" altLang="zh-CN" b="1" baseline="-2500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6</a:t>
                      </a:r>
                      <a:endParaRPr lang="zh-CN" altLang="en-US" b="1" baseline="-2500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Y</a:t>
                      </a:r>
                      <a:r>
                        <a:rPr lang="en-US" altLang="zh-CN" b="1" baseline="-2500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7</a:t>
                      </a:r>
                      <a:endParaRPr lang="zh-CN" altLang="en-US" b="1" baseline="-2500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×11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×××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621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0××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×××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 dirty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100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000</a:t>
                      </a:r>
                      <a:endParaRPr lang="zh-CN" altLang="en-US" baseline="0" dirty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b="1" baseline="0">
                        <a:solidFill>
                          <a:srgbClr val="FF0000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100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001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altLang="zh-CN" b="1" kern="1200" baseline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0</a:t>
                      </a:r>
                      <a:endParaRPr kumimoji="0" lang="zh-CN" altLang="en-US" b="1" kern="1200" baseline="0">
                        <a:solidFill>
                          <a:srgbClr val="FF0000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100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010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altLang="zh-CN" b="1" kern="1200" baseline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0</a:t>
                      </a:r>
                      <a:endParaRPr kumimoji="0" lang="zh-CN" altLang="en-US" b="1" kern="1200" baseline="0">
                        <a:solidFill>
                          <a:srgbClr val="FF0000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100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011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altLang="zh-CN" b="1" kern="1200" baseline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0</a:t>
                      </a:r>
                      <a:endParaRPr kumimoji="0" lang="zh-CN" altLang="en-US" b="1" kern="1200" baseline="0">
                        <a:solidFill>
                          <a:srgbClr val="FF0000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100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100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altLang="zh-CN" b="1" kern="1200" baseline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0</a:t>
                      </a:r>
                      <a:endParaRPr kumimoji="0" lang="zh-CN" altLang="en-US" b="1" kern="1200" baseline="0">
                        <a:solidFill>
                          <a:srgbClr val="FF0000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100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101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altLang="zh-CN" b="1" kern="1200" baseline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0</a:t>
                      </a:r>
                      <a:endParaRPr kumimoji="0" lang="zh-CN" altLang="en-US" b="1" kern="1200" baseline="0">
                        <a:solidFill>
                          <a:srgbClr val="FF0000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100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110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altLang="zh-CN" b="1" kern="1200" baseline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0</a:t>
                      </a:r>
                      <a:endParaRPr kumimoji="0" lang="zh-CN" altLang="en-US" b="1" kern="1200" baseline="0">
                        <a:solidFill>
                          <a:srgbClr val="FF0000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100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111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altLang="zh-CN" b="1" kern="1200" baseline="0" dirty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0</a:t>
                      </a:r>
                      <a:endParaRPr kumimoji="0" lang="zh-CN" altLang="en-US" b="1" kern="1200" baseline="0" dirty="0">
                        <a:solidFill>
                          <a:srgbClr val="FF0000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5" name="74LS138引脚图片"/>
          <p:cNvGraphicFramePr>
            <a:graphicFrameLocks noChangeAspect="1"/>
          </p:cNvGraphicFramePr>
          <p:nvPr/>
        </p:nvGraphicFramePr>
        <p:xfrm>
          <a:off x="4663380" y="2600358"/>
          <a:ext cx="4229100" cy="32489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Visio" r:id="rId4" imgW="3089910" imgH="2531745" progId="Visio.Drawing.11">
                  <p:embed/>
                </p:oleObj>
              </mc:Choice>
              <mc:Fallback>
                <p:oleObj name="Visio" r:id="rId4" imgW="3089910" imgH="2531745" progId="Visio.Drawing.11">
                  <p:embed/>
                  <p:pic>
                    <p:nvPicPr>
                      <p:cNvPr id="0" name="图片 30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3380" y="2600358"/>
                        <a:ext cx="4229100" cy="32489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变量译码器</a:t>
            </a:r>
            <a:r>
              <a:rPr lang="en-US" altLang="zh-CN" dirty="0"/>
              <a:t>—74LS138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484784"/>
            <a:ext cx="3034680" cy="4525963"/>
          </a:xfrm>
        </p:spPr>
        <p:txBody>
          <a:bodyPr/>
          <a:lstStyle/>
          <a:p>
            <a:r>
              <a:rPr lang="zh-CN" altLang="en-US" dirty="0"/>
              <a:t>带</a:t>
            </a:r>
            <a:r>
              <a:rPr lang="en-US" altLang="zh-CN" dirty="0"/>
              <a:t>3</a:t>
            </a:r>
            <a:r>
              <a:rPr lang="zh-CN" altLang="en-US" dirty="0"/>
              <a:t>个使能端的</a:t>
            </a:r>
            <a:r>
              <a:rPr lang="en-US" altLang="zh-CN" dirty="0"/>
              <a:t>3-8</a:t>
            </a:r>
            <a:r>
              <a:rPr lang="zh-CN" altLang="en-US" dirty="0"/>
              <a:t>译码器的逻辑结构由三级门电路构成，输出低电平有效</a:t>
            </a:r>
            <a:endParaRPr lang="en-US" altLang="zh-CN" dirty="0"/>
          </a:p>
          <a:p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275458" y="1124744"/>
          <a:ext cx="5754688" cy="559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6" name="Visio" r:id="rId4" imgW="3002915" imgH="2926080" progId="Visio.Drawing.11">
                  <p:embed/>
                </p:oleObj>
              </mc:Choice>
              <mc:Fallback>
                <p:oleObj name="Visio" r:id="rId4" imgW="3002915" imgH="2926080" progId="Visio.Drawing.11">
                  <p:embed/>
                  <p:pic>
                    <p:nvPicPr>
                      <p:cNvPr id="0" name="3-8译码器逻辑图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458" y="1124744"/>
                        <a:ext cx="5754688" cy="559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/>
          <p:nvPr>
            <p:custDataLst>
              <p:tags r:id="rId2"/>
            </p:custDataLst>
          </p:nvPr>
        </p:nvGraphicFramePr>
        <p:xfrm>
          <a:off x="3358515" y="1196340"/>
          <a:ext cx="5734050" cy="5309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7" r:id="rId6" imgW="6010275" imgH="5305425" progId="Paint.Picture">
                  <p:embed/>
                </p:oleObj>
              </mc:Choice>
              <mc:Fallback>
                <p:oleObj r:id="rId6" imgW="6010275" imgH="5305425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358515" y="1196340"/>
                        <a:ext cx="5734050" cy="53092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1140" y="242570"/>
            <a:ext cx="8079740" cy="954405"/>
          </a:xfrm>
        </p:spPr>
        <p:txBody>
          <a:bodyPr/>
          <a:lstStyle/>
          <a:p>
            <a:r>
              <a:rPr lang="zh-CN" altLang="en-US" dirty="0"/>
              <a:t>变量译码器</a:t>
            </a:r>
            <a:r>
              <a:rPr lang="en-US" altLang="zh-CN" dirty="0"/>
              <a:t>—74LS138 </a:t>
            </a:r>
            <a:r>
              <a:rPr lang="zh-CN" altLang="en-US" dirty="0"/>
              <a:t>连线明细图</a:t>
            </a:r>
          </a:p>
        </p:txBody>
      </p:sp>
      <p:graphicFrame>
        <p:nvGraphicFramePr>
          <p:cNvPr id="6" name="对象 5"/>
          <p:cNvGraphicFramePr/>
          <p:nvPr/>
        </p:nvGraphicFramePr>
        <p:xfrm>
          <a:off x="1011555" y="1263650"/>
          <a:ext cx="7120890" cy="5532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6" r:id="rId3" imgW="7115175" imgH="5791200" progId="Paint.Picture">
                  <p:embed/>
                </p:oleObj>
              </mc:Choice>
              <mc:Fallback>
                <p:oleObj r:id="rId3" imgW="7115175" imgH="5791200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11555" y="1263650"/>
                        <a:ext cx="7120890" cy="5532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/>
          <p:nvPr/>
        </p:nvGraphicFramePr>
        <p:xfrm>
          <a:off x="1140460" y="1196975"/>
          <a:ext cx="6863715" cy="5500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7" r:id="rId5" imgW="6858000" imgH="5495925" progId="Paint.Picture">
                  <p:embed/>
                </p:oleObj>
              </mc:Choice>
              <mc:Fallback>
                <p:oleObj r:id="rId5" imgW="6858000" imgH="5495925" progId="Paint.Picture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40460" y="1196975"/>
                        <a:ext cx="6863715" cy="55003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/>
          <p:nvPr/>
        </p:nvGraphicFramePr>
        <p:xfrm>
          <a:off x="850265" y="1156970"/>
          <a:ext cx="7460615" cy="563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8" r:id="rId7" imgW="7315200" imgH="5638800" progId="Paint.Picture">
                  <p:embed/>
                </p:oleObj>
              </mc:Choice>
              <mc:Fallback>
                <p:oleObj r:id="rId7" imgW="7315200" imgH="5638800" progId="Paint.Picture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50265" y="1156970"/>
                        <a:ext cx="7460615" cy="563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变量译码器</a:t>
            </a:r>
            <a:r>
              <a:rPr lang="en-US" altLang="zh-CN" dirty="0"/>
              <a:t>—74LS138</a:t>
            </a:r>
            <a:endParaRPr lang="zh-CN" altLang="en-US" dirty="0"/>
          </a:p>
        </p:txBody>
      </p:sp>
      <p:sp>
        <p:nvSpPr>
          <p:cNvPr id="5" name="3-8译码器Verilog代码 10"/>
          <p:cNvSpPr/>
          <p:nvPr/>
        </p:nvSpPr>
        <p:spPr>
          <a:xfrm>
            <a:off x="457200" y="1282690"/>
            <a:ext cx="8001000" cy="5120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  <a:ea typeface="新宋体" panose="02010609030101010101" charset="-122"/>
              </a:rPr>
              <a:t>module</a:t>
            </a:r>
            <a:r>
              <a:rPr lang="en-US" altLang="zh-CN" sz="1600" b="1" dirty="0">
                <a:latin typeface="Courier New" panose="02070309020205020404" pitchFamily="49" charset="0"/>
                <a:ea typeface="新宋体" panose="02010609030101010101" charset="-122"/>
              </a:rPr>
              <a:t> decoder_3_8(C,B,A,G,G2A,G2B,Y);</a:t>
            </a:r>
          </a:p>
          <a:p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  <a:ea typeface="新宋体" panose="02010609030101010101" charset="-122"/>
              </a:rPr>
              <a:t>input</a:t>
            </a:r>
            <a:r>
              <a:rPr lang="en-US" altLang="zh-CN" sz="1600" b="1" dirty="0">
                <a:latin typeface="Courier New" panose="02070309020205020404" pitchFamily="49" charset="0"/>
                <a:ea typeface="新宋体" panose="02010609030101010101" charset="-122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  <a:ea typeface="新宋体" panose="02010609030101010101" charset="-122"/>
              </a:rPr>
              <a:t>wire</a:t>
            </a:r>
            <a:r>
              <a:rPr lang="en-US" altLang="zh-CN" sz="1600" b="1" dirty="0">
                <a:latin typeface="Courier New" panose="02070309020205020404" pitchFamily="49" charset="0"/>
                <a:ea typeface="新宋体" panose="02010609030101010101" charset="-122"/>
              </a:rPr>
              <a:t> A, B, C, G, G2A, G2B;</a:t>
            </a:r>
          </a:p>
          <a:p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  <a:ea typeface="新宋体" panose="02010609030101010101" charset="-122"/>
              </a:rPr>
              <a:t>output</a:t>
            </a:r>
            <a:r>
              <a:rPr lang="en-US" altLang="zh-CN" sz="1600" b="1" dirty="0">
                <a:latin typeface="Courier New" panose="02070309020205020404" pitchFamily="49" charset="0"/>
                <a:ea typeface="新宋体" panose="02010609030101010101" charset="-122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  <a:ea typeface="新宋体" panose="02010609030101010101" charset="-122"/>
              </a:rPr>
              <a:t>wire</a:t>
            </a:r>
            <a:r>
              <a:rPr lang="en-US" altLang="zh-CN" sz="1600" b="1" dirty="0">
                <a:latin typeface="Courier New" panose="02070309020205020404" pitchFamily="49" charset="0"/>
                <a:ea typeface="新宋体" panose="02010609030101010101" charset="-122"/>
              </a:rPr>
              <a:t> [7:0] Y;</a:t>
            </a:r>
          </a:p>
          <a:p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  <a:ea typeface="新宋体" panose="02010609030101010101" charset="-122"/>
              </a:rPr>
              <a:t>not</a:t>
            </a:r>
            <a:r>
              <a:rPr lang="en-US" altLang="zh-CN" sz="1600" b="1" dirty="0">
                <a:latin typeface="Courier New" panose="02070309020205020404" pitchFamily="49" charset="0"/>
                <a:ea typeface="新宋体" panose="02010609030101010101" charset="-122"/>
              </a:rPr>
              <a:t> 	node_0_0(</a:t>
            </a:r>
            <a:r>
              <a:rPr lang="en-US" altLang="zh-CN" sz="1600" b="1" dirty="0" err="1">
                <a:latin typeface="Courier New" panose="02070309020205020404" pitchFamily="49" charset="0"/>
                <a:ea typeface="新宋体" panose="02010609030101010101" charset="-122"/>
              </a:rPr>
              <a:t>A_n</a:t>
            </a:r>
            <a:r>
              <a:rPr lang="en-US" altLang="zh-CN" sz="1600" b="1" dirty="0">
                <a:latin typeface="Courier New" panose="02070309020205020404" pitchFamily="49" charset="0"/>
                <a:ea typeface="新宋体" panose="02010609030101010101" charset="-122"/>
              </a:rPr>
              <a:t>, A),</a:t>
            </a:r>
          </a:p>
          <a:p>
            <a:r>
              <a:rPr lang="en-US" altLang="zh-CN" sz="1600" b="1" dirty="0">
                <a:latin typeface="Courier New" panose="02070309020205020404" pitchFamily="49" charset="0"/>
                <a:ea typeface="新宋体" panose="02010609030101010101" charset="-122"/>
              </a:rPr>
              <a:t>	node_0_1(</a:t>
            </a:r>
            <a:r>
              <a:rPr lang="en-US" altLang="zh-CN" sz="1600" b="1" dirty="0" err="1">
                <a:latin typeface="Courier New" panose="02070309020205020404" pitchFamily="49" charset="0"/>
                <a:ea typeface="新宋体" panose="02010609030101010101" charset="-122"/>
              </a:rPr>
              <a:t>B_n</a:t>
            </a:r>
            <a:r>
              <a:rPr lang="en-US" altLang="zh-CN" sz="1600" b="1" dirty="0">
                <a:latin typeface="Courier New" panose="02070309020205020404" pitchFamily="49" charset="0"/>
                <a:ea typeface="新宋体" panose="02010609030101010101" charset="-122"/>
              </a:rPr>
              <a:t>, B),</a:t>
            </a:r>
          </a:p>
          <a:p>
            <a:r>
              <a:rPr lang="en-US" altLang="zh-CN" sz="1600" b="1" dirty="0">
                <a:latin typeface="Courier New" panose="02070309020205020404" pitchFamily="49" charset="0"/>
                <a:ea typeface="新宋体" panose="02010609030101010101" charset="-122"/>
              </a:rPr>
              <a:t>	node_0_2(</a:t>
            </a:r>
            <a:r>
              <a:rPr lang="en-US" altLang="zh-CN" sz="1600" b="1" dirty="0" err="1">
                <a:latin typeface="Courier New" panose="02070309020205020404" pitchFamily="49" charset="0"/>
                <a:ea typeface="新宋体" panose="02010609030101010101" charset="-122"/>
              </a:rPr>
              <a:t>C_n</a:t>
            </a:r>
            <a:r>
              <a:rPr lang="en-US" altLang="zh-CN" sz="1600" b="1" dirty="0">
                <a:latin typeface="Courier New" panose="02070309020205020404" pitchFamily="49" charset="0"/>
                <a:ea typeface="新宋体" panose="02010609030101010101" charset="-122"/>
              </a:rPr>
              <a:t>, C),</a:t>
            </a:r>
          </a:p>
          <a:p>
            <a:r>
              <a:rPr lang="en-US" altLang="zh-CN" sz="1600" b="1" dirty="0">
                <a:latin typeface="Courier New" panose="02070309020205020404" pitchFamily="49" charset="0"/>
                <a:ea typeface="新宋体" panose="02010609030101010101" charset="-122"/>
              </a:rPr>
              <a:t>	node_0_3(</a:t>
            </a:r>
            <a:r>
              <a:rPr lang="en-US" altLang="zh-CN" sz="1600" b="1" dirty="0" err="1">
                <a:latin typeface="Courier New" panose="02070309020205020404" pitchFamily="49" charset="0"/>
                <a:ea typeface="新宋体" panose="02010609030101010101" charset="-122"/>
              </a:rPr>
              <a:t>G_n</a:t>
            </a:r>
            <a:r>
              <a:rPr lang="en-US" altLang="zh-CN" sz="1600" b="1" dirty="0">
                <a:latin typeface="Courier New" panose="02070309020205020404" pitchFamily="49" charset="0"/>
                <a:ea typeface="新宋体" panose="02010609030101010101" charset="-122"/>
              </a:rPr>
              <a:t>, G);</a:t>
            </a:r>
          </a:p>
          <a:p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  <a:ea typeface="新宋体" panose="02010609030101010101" charset="-122"/>
              </a:rPr>
              <a:t>and</a:t>
            </a:r>
            <a:r>
              <a:rPr lang="en-US" altLang="zh-CN" sz="1600" b="1" dirty="0">
                <a:latin typeface="Courier New" panose="02070309020205020404" pitchFamily="49" charset="0"/>
                <a:ea typeface="新宋体" panose="02010609030101010101" charset="-122"/>
              </a:rPr>
              <a:t>	node_1_0(D0, </a:t>
            </a:r>
            <a:r>
              <a:rPr lang="en-US" altLang="zh-CN" sz="1600" b="1" dirty="0" err="1">
                <a:latin typeface="Courier New" panose="02070309020205020404" pitchFamily="49" charset="0"/>
                <a:ea typeface="新宋体" panose="02010609030101010101" charset="-122"/>
              </a:rPr>
              <a:t>B_n</a:t>
            </a:r>
            <a:r>
              <a:rPr lang="en-US" altLang="zh-CN" sz="1600" b="1" dirty="0">
                <a:latin typeface="Courier New" panose="02070309020205020404" pitchFamily="49" charset="0"/>
                <a:ea typeface="新宋体" panose="02010609030101010101" charset="-122"/>
              </a:rPr>
              <a:t>, </a:t>
            </a:r>
            <a:r>
              <a:rPr lang="en-US" altLang="zh-CN" sz="1600" b="1" dirty="0" err="1">
                <a:latin typeface="Courier New" panose="02070309020205020404" pitchFamily="49" charset="0"/>
                <a:ea typeface="新宋体" panose="02010609030101010101" charset="-122"/>
              </a:rPr>
              <a:t>A_n</a:t>
            </a:r>
            <a:r>
              <a:rPr lang="en-US" altLang="zh-CN" sz="1600" b="1" dirty="0">
                <a:latin typeface="Courier New" panose="02070309020205020404" pitchFamily="49" charset="0"/>
                <a:ea typeface="新宋体" panose="02010609030101010101" charset="-122"/>
              </a:rPr>
              <a:t>),</a:t>
            </a:r>
          </a:p>
          <a:p>
            <a:r>
              <a:rPr lang="en-US" altLang="zh-CN" sz="1600" b="1" dirty="0">
                <a:latin typeface="Courier New" panose="02070309020205020404" pitchFamily="49" charset="0"/>
                <a:ea typeface="新宋体" panose="02010609030101010101" charset="-122"/>
              </a:rPr>
              <a:t>	node_1_1(D1, </a:t>
            </a:r>
            <a:r>
              <a:rPr lang="en-US" altLang="zh-CN" sz="1600" b="1" dirty="0" err="1">
                <a:latin typeface="Courier New" panose="02070309020205020404" pitchFamily="49" charset="0"/>
                <a:ea typeface="新宋体" panose="02010609030101010101" charset="-122"/>
              </a:rPr>
              <a:t>B_n</a:t>
            </a:r>
            <a:r>
              <a:rPr lang="en-US" altLang="zh-CN" sz="1600" b="1" dirty="0">
                <a:latin typeface="Courier New" panose="02070309020205020404" pitchFamily="49" charset="0"/>
                <a:ea typeface="新宋体" panose="02010609030101010101" charset="-122"/>
              </a:rPr>
              <a:t>, A  ),</a:t>
            </a:r>
          </a:p>
          <a:p>
            <a:r>
              <a:rPr lang="en-US" altLang="zh-CN" sz="1600" b="1" dirty="0">
                <a:latin typeface="Courier New" panose="02070309020205020404" pitchFamily="49" charset="0"/>
                <a:ea typeface="新宋体" panose="02010609030101010101" charset="-122"/>
              </a:rPr>
              <a:t>	node_1_2(D2, B,   </a:t>
            </a:r>
            <a:r>
              <a:rPr lang="en-US" altLang="zh-CN" sz="1600" b="1" dirty="0" err="1">
                <a:latin typeface="Courier New" panose="02070309020205020404" pitchFamily="49" charset="0"/>
                <a:ea typeface="新宋体" panose="02010609030101010101" charset="-122"/>
              </a:rPr>
              <a:t>A_n</a:t>
            </a:r>
            <a:r>
              <a:rPr lang="en-US" altLang="zh-CN" sz="1600" b="1" dirty="0">
                <a:latin typeface="Courier New" panose="02070309020205020404" pitchFamily="49" charset="0"/>
                <a:ea typeface="新宋体" panose="02010609030101010101" charset="-122"/>
              </a:rPr>
              <a:t>),</a:t>
            </a:r>
          </a:p>
          <a:p>
            <a:r>
              <a:rPr lang="en-US" altLang="zh-CN" sz="1600" b="1" dirty="0">
                <a:latin typeface="Courier New" panose="02070309020205020404" pitchFamily="49" charset="0"/>
                <a:ea typeface="新宋体" panose="02010609030101010101" charset="-122"/>
              </a:rPr>
              <a:t>	node_1_3(D3, B,   A  );</a:t>
            </a:r>
          </a:p>
          <a:p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  <a:ea typeface="新宋体" panose="02010609030101010101" charset="-122"/>
              </a:rPr>
              <a:t>nor</a:t>
            </a:r>
            <a:r>
              <a:rPr lang="en-US" altLang="zh-CN" sz="1600" b="1" dirty="0">
                <a:latin typeface="Courier New" panose="02070309020205020404" pitchFamily="49" charset="0"/>
                <a:ea typeface="新宋体" panose="02010609030101010101" charset="-122"/>
              </a:rPr>
              <a:t>	node_1_4(EN, </a:t>
            </a:r>
            <a:r>
              <a:rPr lang="en-US" altLang="zh-CN" sz="1600" b="1" dirty="0" err="1">
                <a:latin typeface="Courier New" panose="02070309020205020404" pitchFamily="49" charset="0"/>
                <a:ea typeface="新宋体" panose="02010609030101010101" charset="-122"/>
              </a:rPr>
              <a:t>G_n</a:t>
            </a:r>
            <a:r>
              <a:rPr lang="en-US" altLang="zh-CN" sz="1600" b="1" dirty="0">
                <a:latin typeface="Courier New" panose="02070309020205020404" pitchFamily="49" charset="0"/>
                <a:ea typeface="新宋体" panose="02010609030101010101" charset="-122"/>
              </a:rPr>
              <a:t>, G2A, G2B);</a:t>
            </a:r>
          </a:p>
          <a:p>
            <a:r>
              <a:rPr lang="en-US" altLang="zh-CN" sz="1600" b="1" dirty="0" err="1">
                <a:solidFill>
                  <a:srgbClr val="0000FF"/>
                </a:solidFill>
                <a:latin typeface="Courier New" panose="02070309020205020404" pitchFamily="49" charset="0"/>
                <a:ea typeface="新宋体" panose="02010609030101010101" charset="-122"/>
              </a:rPr>
              <a:t>nand</a:t>
            </a:r>
            <a:r>
              <a:rPr lang="en-US" altLang="zh-CN" sz="1600" b="1" dirty="0">
                <a:latin typeface="Courier New" panose="02070309020205020404" pitchFamily="49" charset="0"/>
                <a:ea typeface="新宋体" panose="02010609030101010101" charset="-122"/>
              </a:rPr>
              <a:t>	node_2_0(Y[0], EN, D0, </a:t>
            </a:r>
            <a:r>
              <a:rPr lang="en-US" altLang="zh-CN" sz="1600" b="1" dirty="0" err="1">
                <a:latin typeface="Courier New" panose="02070309020205020404" pitchFamily="49" charset="0"/>
                <a:ea typeface="新宋体" panose="02010609030101010101" charset="-122"/>
              </a:rPr>
              <a:t>C_n</a:t>
            </a:r>
            <a:r>
              <a:rPr lang="en-US" altLang="zh-CN" sz="1600" b="1" dirty="0">
                <a:latin typeface="Courier New" panose="02070309020205020404" pitchFamily="49" charset="0"/>
                <a:ea typeface="新宋体" panose="02010609030101010101" charset="-122"/>
              </a:rPr>
              <a:t>),</a:t>
            </a:r>
          </a:p>
          <a:p>
            <a:r>
              <a:rPr lang="en-US" altLang="zh-CN" sz="1600" b="1" dirty="0">
                <a:latin typeface="Courier New" panose="02070309020205020404" pitchFamily="49" charset="0"/>
                <a:ea typeface="新宋体" panose="02010609030101010101" charset="-122"/>
              </a:rPr>
              <a:t>	node_2_1(Y[1], EN, D1, </a:t>
            </a:r>
            <a:r>
              <a:rPr lang="en-US" altLang="zh-CN" sz="1600" b="1" dirty="0" err="1">
                <a:latin typeface="Courier New" panose="02070309020205020404" pitchFamily="49" charset="0"/>
                <a:ea typeface="新宋体" panose="02010609030101010101" charset="-122"/>
              </a:rPr>
              <a:t>C_n</a:t>
            </a:r>
            <a:r>
              <a:rPr lang="en-US" altLang="zh-CN" sz="1600" b="1" dirty="0">
                <a:latin typeface="Courier New" panose="02070309020205020404" pitchFamily="49" charset="0"/>
                <a:ea typeface="新宋体" panose="02010609030101010101" charset="-122"/>
              </a:rPr>
              <a:t>),</a:t>
            </a:r>
          </a:p>
          <a:p>
            <a:r>
              <a:rPr lang="en-US" altLang="zh-CN" sz="1600" b="1" dirty="0">
                <a:latin typeface="Courier New" panose="02070309020205020404" pitchFamily="49" charset="0"/>
                <a:ea typeface="新宋体" panose="02010609030101010101" charset="-122"/>
              </a:rPr>
              <a:t>	node_2_2(Y[2], EN, D2, </a:t>
            </a:r>
            <a:r>
              <a:rPr lang="en-US" altLang="zh-CN" sz="1600" b="1" dirty="0" err="1">
                <a:latin typeface="Courier New" panose="02070309020205020404" pitchFamily="49" charset="0"/>
                <a:ea typeface="新宋体" panose="02010609030101010101" charset="-122"/>
              </a:rPr>
              <a:t>C_n</a:t>
            </a:r>
            <a:r>
              <a:rPr lang="en-US" altLang="zh-CN" sz="1600" b="1" dirty="0">
                <a:latin typeface="Courier New" panose="02070309020205020404" pitchFamily="49" charset="0"/>
                <a:ea typeface="新宋体" panose="02010609030101010101" charset="-122"/>
              </a:rPr>
              <a:t>),</a:t>
            </a:r>
          </a:p>
          <a:p>
            <a:r>
              <a:rPr lang="en-US" altLang="zh-CN" sz="1600" b="1" dirty="0">
                <a:latin typeface="Courier New" panose="02070309020205020404" pitchFamily="49" charset="0"/>
                <a:ea typeface="新宋体" panose="02010609030101010101" charset="-122"/>
              </a:rPr>
              <a:t>	node_2_3(Y[3], EN, D3, </a:t>
            </a:r>
            <a:r>
              <a:rPr lang="en-US" altLang="zh-CN" sz="1600" b="1" dirty="0" err="1">
                <a:latin typeface="Courier New" panose="02070309020205020404" pitchFamily="49" charset="0"/>
                <a:ea typeface="新宋体" panose="02010609030101010101" charset="-122"/>
              </a:rPr>
              <a:t>C_n</a:t>
            </a:r>
            <a:r>
              <a:rPr lang="en-US" altLang="zh-CN" sz="1600" b="1" dirty="0">
                <a:latin typeface="Courier New" panose="02070309020205020404" pitchFamily="49" charset="0"/>
                <a:ea typeface="新宋体" panose="02010609030101010101" charset="-122"/>
              </a:rPr>
              <a:t>),</a:t>
            </a:r>
          </a:p>
          <a:p>
            <a:r>
              <a:rPr lang="en-US" altLang="zh-CN" sz="1600" b="1" dirty="0">
                <a:latin typeface="Courier New" panose="02070309020205020404" pitchFamily="49" charset="0"/>
                <a:ea typeface="新宋体" panose="02010609030101010101" charset="-122"/>
              </a:rPr>
              <a:t>	node_2_4(Y[4], EN, D0, C  ),</a:t>
            </a:r>
          </a:p>
          <a:p>
            <a:r>
              <a:rPr lang="en-US" altLang="zh-CN" sz="1600" b="1" dirty="0">
                <a:latin typeface="Courier New" panose="02070309020205020404" pitchFamily="49" charset="0"/>
                <a:ea typeface="新宋体" panose="02010609030101010101" charset="-122"/>
              </a:rPr>
              <a:t>	node_2_5(Y[5], EN, D1, C  ),</a:t>
            </a:r>
          </a:p>
          <a:p>
            <a:r>
              <a:rPr lang="en-US" altLang="zh-CN" sz="1600" b="1" dirty="0">
                <a:latin typeface="Courier New" panose="02070309020205020404" pitchFamily="49" charset="0"/>
                <a:ea typeface="新宋体" panose="02010609030101010101" charset="-122"/>
              </a:rPr>
              <a:t>	node_2_6(Y[6], EN, D2, C  ),</a:t>
            </a:r>
          </a:p>
          <a:p>
            <a:r>
              <a:rPr lang="en-US" altLang="zh-CN" sz="1600" b="1" dirty="0">
                <a:latin typeface="Courier New" panose="02070309020205020404" pitchFamily="49" charset="0"/>
                <a:ea typeface="新宋体" panose="02010609030101010101" charset="-122"/>
              </a:rPr>
              <a:t>	node_2_7(Y[7], EN, D3, C  );</a:t>
            </a:r>
          </a:p>
          <a:p>
            <a:r>
              <a:rPr lang="en-US" altLang="zh-CN" sz="1600" b="1" dirty="0" err="1">
                <a:solidFill>
                  <a:srgbClr val="0000FF"/>
                </a:solidFill>
                <a:latin typeface="Courier New" panose="02070309020205020404" pitchFamily="49" charset="0"/>
                <a:ea typeface="新宋体" panose="02010609030101010101" charset="-122"/>
              </a:rPr>
              <a:t>endmodule</a:t>
            </a:r>
            <a:endParaRPr lang="zh-CN" altLang="en-US" sz="1600" b="1" dirty="0">
              <a:solidFill>
                <a:srgbClr val="0000FF"/>
              </a:solidFill>
              <a:latin typeface="Courier New" panose="02070309020205020404" pitchFamily="49" charset="0"/>
              <a:ea typeface="新宋体" panose="02010609030101010101" charset="-122"/>
            </a:endParaRPr>
          </a:p>
        </p:txBody>
      </p:sp>
      <p:graphicFrame>
        <p:nvGraphicFramePr>
          <p:cNvPr id="6" name="对象 5"/>
          <p:cNvGraphicFramePr/>
          <p:nvPr/>
        </p:nvGraphicFramePr>
        <p:xfrm>
          <a:off x="4860290" y="1268730"/>
          <a:ext cx="3678555" cy="5122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r:id="rId3" imgW="6934200" imgH="5572125" progId="Paint.Picture">
                  <p:embed/>
                </p:oleObj>
              </mc:Choice>
              <mc:Fallback>
                <p:oleObj r:id="rId3" imgW="6934200" imgH="5572125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60290" y="1268730"/>
                        <a:ext cx="3678555" cy="51225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变量译码器</a:t>
            </a:r>
            <a:r>
              <a:rPr lang="en-US" altLang="zh-CN" dirty="0"/>
              <a:t>—74LS139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40768"/>
            <a:ext cx="3970784" cy="4525963"/>
          </a:xfrm>
        </p:spPr>
        <p:txBody>
          <a:bodyPr/>
          <a:lstStyle/>
          <a:p>
            <a:r>
              <a:rPr lang="en-US" altLang="zh-CN" dirty="0"/>
              <a:t>74LS139</a:t>
            </a:r>
            <a:r>
              <a:rPr lang="zh-CN" altLang="en-US" dirty="0"/>
              <a:t>变量译码器功能表和引脚</a:t>
            </a:r>
          </a:p>
        </p:txBody>
      </p:sp>
      <p:graphicFrame>
        <p:nvGraphicFramePr>
          <p:cNvPr id="4" name="74LS139表格 15"/>
          <p:cNvGraphicFramePr>
            <a:graphicFrameLocks noGrp="1"/>
          </p:cNvGraphicFramePr>
          <p:nvPr/>
        </p:nvGraphicFramePr>
        <p:xfrm>
          <a:off x="5076056" y="1412776"/>
          <a:ext cx="3886202" cy="24841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5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3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0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03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输入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 gridSpan="4"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译码器输出</a:t>
                      </a:r>
                      <a:endParaRPr lang="en-US" altLang="zh-CN" baseline="0" dirty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  <a:p>
                      <a:pPr algn="ctr"/>
                      <a:r>
                        <a:rPr lang="zh-CN" altLang="en-US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（低电平有效）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alpha val="2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使能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变量</a:t>
                      </a:r>
                    </a:p>
                  </a:txBody>
                  <a:tcPr marL="0" marR="0" marT="0" marB="0" anchor="ctr"/>
                </a:tc>
                <a:tc gridSpan="4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G</a:t>
                      </a:r>
                      <a:endParaRPr lang="zh-CN" altLang="en-US" b="1" baseline="-2500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BA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Y</a:t>
                      </a:r>
                      <a:r>
                        <a:rPr lang="en-US" altLang="zh-CN" b="1" baseline="-2500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b="1" baseline="-2500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Y</a:t>
                      </a:r>
                      <a:r>
                        <a:rPr lang="en-US" altLang="zh-CN" b="1" baseline="-2500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="1" baseline="-25000" dirty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Y</a:t>
                      </a:r>
                      <a:r>
                        <a:rPr lang="en-US" altLang="zh-CN" b="1" baseline="-2500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2</a:t>
                      </a:r>
                      <a:endParaRPr lang="zh-CN" altLang="en-US" b="1" baseline="-25000" dirty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Y</a:t>
                      </a:r>
                      <a:r>
                        <a:rPr lang="en-US" altLang="zh-CN" b="1" baseline="-2500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3</a:t>
                      </a:r>
                      <a:endParaRPr lang="zh-CN" altLang="en-US" b="1" baseline="-2500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××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621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00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baseline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baseline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b="1" baseline="0">
                        <a:solidFill>
                          <a:srgbClr val="FF0000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10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baseline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b="1" baseline="0">
                        <a:solidFill>
                          <a:srgbClr val="FF0000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baseline="0" dirty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b="1" baseline="0" dirty="0">
                        <a:solidFill>
                          <a:srgbClr val="FF0000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74LS139引脚图片"/>
          <p:cNvGraphicFramePr>
            <a:graphicFrameLocks noChangeAspect="1"/>
          </p:cNvGraphicFramePr>
          <p:nvPr/>
        </p:nvGraphicFramePr>
        <p:xfrm>
          <a:off x="270892" y="2708920"/>
          <a:ext cx="4229100" cy="324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" name="Visio" r:id="rId3" imgW="2329815" imgH="1908810" progId="Visio.Drawing.11">
                  <p:embed/>
                </p:oleObj>
              </mc:Choice>
              <mc:Fallback>
                <p:oleObj name="Visio" r:id="rId3" imgW="2329815" imgH="1908810" progId="Visio.Drawing.11">
                  <p:embed/>
                  <p:pic>
                    <p:nvPicPr>
                      <p:cNvPr id="0" name="图片 41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892" y="2708920"/>
                        <a:ext cx="4229100" cy="3249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1"/>
          <p:cNvSpPr>
            <a:spLocks noChangeArrowheads="1"/>
          </p:cNvSpPr>
          <p:nvPr/>
        </p:nvSpPr>
        <p:spPr bwMode="auto">
          <a:xfrm>
            <a:off x="4572000" y="4077072"/>
            <a:ext cx="4572000" cy="2553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90600" indent="-5334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algn="just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decoder_2_4(B, A, G, Y,);</a:t>
            </a:r>
          </a:p>
          <a:p>
            <a:pPr lvl="1" algn="just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  //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端口及变量定义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case({B,A})</a:t>
            </a:r>
          </a:p>
          <a:p>
            <a:pPr lvl="1" algn="just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  2’b00:Y=4’b1110;</a:t>
            </a:r>
          </a:p>
          <a:p>
            <a:pPr lvl="1" algn="just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  2’b01:Y=4’b1101;</a:t>
            </a:r>
          </a:p>
          <a:p>
            <a:pPr lvl="1" algn="just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        2’b10:Y=4’b1011;</a:t>
            </a:r>
          </a:p>
          <a:p>
            <a:pPr lvl="1" algn="just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  2’b11:Y=4’b0111;</a:t>
            </a:r>
          </a:p>
          <a:p>
            <a:pPr lvl="1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endmodule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用变量译码器实现组合函数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340"/>
            <a:ext cx="8229600" cy="4930140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变量译码器的输出对应所有输入变量的最小项组合，如果将函数转换成最小项和的形式，则可以用变量译码器实现函数的组合电路</a:t>
            </a:r>
            <a:r>
              <a:rPr lang="en-US" altLang="zh-CN" sz="2800" dirty="0"/>
              <a:t>: </a:t>
            </a:r>
          </a:p>
          <a:p>
            <a:pPr marL="0" indent="0">
              <a:buNone/>
            </a:pPr>
            <a:r>
              <a:rPr lang="en-US" altLang="zh-CN" sz="2800" dirty="0"/>
              <a:t> F = S3S2S1+S3S2S1+S3S2S1+S3S2S1</a:t>
            </a:r>
          </a:p>
          <a:p>
            <a:pPr marL="0" indent="0">
              <a:buNone/>
            </a:pPr>
            <a:r>
              <a:rPr lang="zh-CN" altLang="en-US" sz="2800" dirty="0"/>
              <a:t> </a:t>
            </a:r>
            <a:r>
              <a:rPr lang="en-US" altLang="zh-CN" sz="2800" dirty="0">
                <a:solidFill>
                  <a:schemeClr val="accent2"/>
                </a:solidFill>
              </a:rPr>
              <a:t>F =  001  + 010  + 100  +111</a:t>
            </a:r>
          </a:p>
          <a:p>
            <a:r>
              <a:rPr lang="zh-CN" altLang="en-US" sz="2800" dirty="0"/>
              <a:t>  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2003207" y="2599695"/>
            <a:ext cx="288032" cy="0"/>
          </a:xfrm>
          <a:prstGeom prst="line">
            <a:avLst/>
          </a:prstGeom>
          <a:ln>
            <a:solidFill>
              <a:srgbClr val="3366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2395632" y="2599695"/>
            <a:ext cx="288032" cy="0"/>
          </a:xfrm>
          <a:prstGeom prst="line">
            <a:avLst/>
          </a:prstGeom>
          <a:ln>
            <a:solidFill>
              <a:srgbClr val="3366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275856" y="2599695"/>
            <a:ext cx="288032" cy="0"/>
          </a:xfrm>
          <a:prstGeom prst="line">
            <a:avLst/>
          </a:prstGeom>
          <a:ln>
            <a:solidFill>
              <a:srgbClr val="3366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3953391" y="2599695"/>
            <a:ext cx="288032" cy="0"/>
          </a:xfrm>
          <a:prstGeom prst="line">
            <a:avLst/>
          </a:prstGeom>
          <a:ln>
            <a:solidFill>
              <a:srgbClr val="3366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4878065" y="2599695"/>
            <a:ext cx="288032" cy="0"/>
          </a:xfrm>
          <a:prstGeom prst="line">
            <a:avLst/>
          </a:prstGeom>
          <a:ln>
            <a:solidFill>
              <a:srgbClr val="3366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5244455" y="2599695"/>
            <a:ext cx="288032" cy="0"/>
          </a:xfrm>
          <a:prstGeom prst="line">
            <a:avLst/>
          </a:prstGeom>
          <a:ln>
            <a:solidFill>
              <a:srgbClr val="3366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544830" y="3576955"/>
          <a:ext cx="5070475" cy="2875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9" name="Visio" r:id="rId4" imgW="4389120" imgH="2666365" progId="Visio.Drawing.11">
                  <p:embed/>
                </p:oleObj>
              </mc:Choice>
              <mc:Fallback>
                <p:oleObj name="Visio" r:id="rId4" imgW="4389120" imgH="2666365" progId="Visio.Drawing.11">
                  <p:embed/>
                  <p:pic>
                    <p:nvPicPr>
                      <p:cNvPr id="0" name="74LS138引脚图片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" y="3576955"/>
                        <a:ext cx="5070475" cy="28759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7030085" y="2362200"/>
            <a:ext cx="2002155" cy="640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sym typeface="+mn-ea"/>
              </a:rPr>
              <a:t>楼道灯真值表分析输入输出关系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5923280" y="3077845"/>
          <a:ext cx="2929255" cy="36169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72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2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2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i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S</a:t>
                      </a:r>
                      <a:r>
                        <a:rPr lang="en-US" altLang="zh-CN" sz="2000" baseline="-2500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3</a:t>
                      </a:r>
                      <a:endParaRPr lang="zh-CN" altLang="en-US" sz="2000" baseline="-2500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i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S</a:t>
                      </a:r>
                      <a:r>
                        <a:rPr lang="en-US" altLang="zh-CN" sz="2000" baseline="-2500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2</a:t>
                      </a:r>
                      <a:endParaRPr lang="zh-CN" altLang="en-US" sz="2000" baseline="-2500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i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S</a:t>
                      </a:r>
                      <a:r>
                        <a:rPr lang="en-US" altLang="zh-CN" sz="2000" baseline="-2500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aseline="-2500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i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F</a:t>
                      </a:r>
                      <a:endParaRPr lang="zh-CN" altLang="en-US" sz="2000" i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0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1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2" name="对象 11"/>
          <p:cNvGraphicFramePr/>
          <p:nvPr/>
        </p:nvGraphicFramePr>
        <p:xfrm>
          <a:off x="231140" y="2479675"/>
          <a:ext cx="6736715" cy="598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" r:id="rId6" imgW="11496675" imgH="1019175" progId="Paint.Picture">
                  <p:embed/>
                </p:oleObj>
              </mc:Choice>
              <mc:Fallback>
                <p:oleObj r:id="rId6" imgW="11496675" imgH="1019175" progId="Paint.Picture">
                  <p:embed/>
                  <p:pic>
                    <p:nvPicPr>
                      <p:cNvPr id="0" name="图片 1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31140" y="2479675"/>
                        <a:ext cx="6736715" cy="5981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用变量译码器实现组合函数</a:t>
            </a:r>
          </a:p>
        </p:txBody>
      </p:sp>
      <p:sp>
        <p:nvSpPr>
          <p:cNvPr id="4" name="矩形 3"/>
          <p:cNvSpPr/>
          <p:nvPr/>
        </p:nvSpPr>
        <p:spPr>
          <a:xfrm>
            <a:off x="497467" y="1369968"/>
            <a:ext cx="7920038" cy="19380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533400" indent="-533400"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module    </a:t>
            </a: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lampCtr1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(S1, S2, S3, F);</a:t>
            </a:r>
          </a:p>
          <a:p>
            <a:pPr marL="533400" indent="-533400"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………………  //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端口及变量定义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33400" indent="-533400"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decoder_3_8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Decoder3_8(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S1, S2, S3, G, G2A,G2B, Y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</a:p>
          <a:p>
            <a:pPr marL="533400" indent="-533400"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0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nand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   node(F, Y[1], Y[2], Y[4] , Y[7]);</a:t>
            </a:r>
          </a:p>
          <a:p>
            <a:pPr marL="533400" indent="-533400" algn="just" eaLnBrk="1" hangingPunct="1">
              <a:defRPr/>
            </a:pPr>
            <a:r>
              <a:rPr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endmodule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33400" indent="-533400" algn="just" eaLnBrk="1" hangingPunct="1">
              <a:buFont typeface="Wingdings" panose="05000000000000000000" pitchFamily="2" charset="2"/>
              <a:buNone/>
              <a:defRPr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/>
          <p:nvPr/>
        </p:nvGraphicFramePr>
        <p:xfrm>
          <a:off x="231140" y="3175635"/>
          <a:ext cx="5071110" cy="3060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3" r:id="rId3" imgW="5067300" imgH="3057525" progId="Paint.Picture">
                  <p:embed/>
                </p:oleObj>
              </mc:Choice>
              <mc:Fallback>
                <p:oleObj r:id="rId3" imgW="5067300" imgH="3057525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1140" y="3175635"/>
                        <a:ext cx="5071110" cy="30600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/>
          <p:nvPr/>
        </p:nvGraphicFramePr>
        <p:xfrm>
          <a:off x="5302250" y="3001645"/>
          <a:ext cx="3594100" cy="2745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4" r:id="rId5" imgW="3590925" imgH="2743200" progId="Paint.Picture">
                  <p:embed/>
                </p:oleObj>
              </mc:Choice>
              <mc:Fallback>
                <p:oleObj r:id="rId5" imgW="3590925" imgH="2743200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02250" y="3001645"/>
                        <a:ext cx="3594100" cy="27451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变量译码器实现存储器地址译码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>
            <a:normAutofit fontScale="85000" lnSpcReduction="10000"/>
          </a:bodyPr>
          <a:lstStyle/>
          <a:p>
            <a:r>
              <a:rPr lang="zh-CN" altLang="en-US" dirty="0"/>
              <a:t>存储器电路中地址译码的意义：</a:t>
            </a:r>
            <a:endParaRPr lang="en-US" altLang="zh-CN" dirty="0"/>
          </a:p>
          <a:p>
            <a:pPr lvl="1"/>
            <a:r>
              <a:rPr lang="zh-CN" altLang="en-US" dirty="0"/>
              <a:t>在容量扩展时，将不同的芯片分配到不同地址段，来达到更大的</a:t>
            </a:r>
            <a:r>
              <a:rPr lang="zh-CN" altLang="en-US" dirty="0">
                <a:solidFill>
                  <a:srgbClr val="FF0000"/>
                </a:solidFill>
              </a:rPr>
              <a:t>存储容量（寻址范围）</a:t>
            </a:r>
          </a:p>
          <a:p>
            <a:pPr lvl="1"/>
            <a:r>
              <a:rPr lang="zh-CN" altLang="en-US" dirty="0"/>
              <a:t>在容量扩展时，将不同的芯片分配在同一地址段，来达到更大的</a:t>
            </a:r>
            <a:r>
              <a:rPr lang="zh-CN" altLang="en-US" dirty="0">
                <a:solidFill>
                  <a:srgbClr val="FF0000"/>
                </a:solidFill>
              </a:rPr>
              <a:t>存储单元（存储字）</a:t>
            </a:r>
          </a:p>
          <a:p>
            <a:r>
              <a:rPr lang="zh-CN" altLang="en-US" dirty="0"/>
              <a:t>地址译码原理：将访问存储器的地址线高位作为译码器的输入，译码器的输出控制各存储器的片选信号。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字扩展</a:t>
            </a:r>
            <a:r>
              <a:rPr lang="zh-CN" altLang="en-US" dirty="0"/>
              <a:t>：译码器的</a:t>
            </a:r>
            <a:r>
              <a:rPr lang="zh-CN" altLang="en-US" dirty="0">
                <a:solidFill>
                  <a:srgbClr val="FF0000"/>
                </a:solidFill>
              </a:rPr>
              <a:t>不同输出</a:t>
            </a:r>
            <a:r>
              <a:rPr lang="zh-CN" altLang="en-US" dirty="0"/>
              <a:t>连接到</a:t>
            </a:r>
            <a:r>
              <a:rPr lang="zh-CN" altLang="en-US" dirty="0">
                <a:solidFill>
                  <a:srgbClr val="FF0000"/>
                </a:solidFill>
              </a:rPr>
              <a:t>不同存储芯片</a:t>
            </a:r>
            <a:r>
              <a:rPr lang="zh-CN" altLang="en-US" dirty="0"/>
              <a:t>的片选端。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位扩展</a:t>
            </a:r>
            <a:r>
              <a:rPr lang="zh-CN" altLang="en-US" dirty="0"/>
              <a:t>：译码器的</a:t>
            </a:r>
            <a:r>
              <a:rPr lang="zh-CN" altLang="en-US" dirty="0">
                <a:solidFill>
                  <a:srgbClr val="FF0000"/>
                </a:solidFill>
              </a:rPr>
              <a:t>同一输出</a:t>
            </a:r>
            <a:r>
              <a:rPr lang="zh-CN" altLang="en-US" dirty="0"/>
              <a:t>连接到</a:t>
            </a:r>
            <a:r>
              <a:rPr lang="zh-CN" altLang="en-US" dirty="0">
                <a:solidFill>
                  <a:srgbClr val="FF0000"/>
                </a:solidFill>
              </a:rPr>
              <a:t>不同存储芯片</a:t>
            </a:r>
            <a:r>
              <a:rPr lang="zh-CN" altLang="en-US" dirty="0"/>
              <a:t>的片选端。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变量译码器实现存储器地址译码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95" y="1260475"/>
            <a:ext cx="2802890" cy="486600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同时进行字扩展和位扩展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字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扩展</a:t>
            </a:r>
            <a:endParaRPr lang="zh-CN" alt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4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</a:rPr>
              <a:t>个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256*8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</a:rPr>
              <a:t>位</a:t>
            </a:r>
          </a:p>
          <a:p>
            <a:pPr marL="0" indent="0">
              <a:buNone/>
            </a:pP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1024=1K*8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  <a:sym typeface="+mn-ea"/>
              </a:rPr>
              <a:t>字扩展地址线增</a:t>
            </a:r>
            <a:endParaRPr lang="en-US" altLang="zh-CN" dirty="0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位扩展</a:t>
            </a:r>
          </a:p>
          <a:p>
            <a:pPr marL="0" indent="0">
              <a:buNone/>
            </a:pP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1k*8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位</a:t>
            </a:r>
          </a:p>
          <a:p>
            <a:pPr marL="0" indent="0">
              <a:buNone/>
            </a:pP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-&gt;1k*16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位</a:t>
            </a:r>
          </a:p>
          <a:p>
            <a:pPr marL="0" indent="0">
              <a:buNone/>
            </a:pPr>
            <a:endParaRPr lang="zh-CN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100391" y="1260505"/>
          <a:ext cx="6648450" cy="544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8" name="Visio" r:id="rId3" imgW="4042410" imgH="3320415" progId="Visio.Drawing.11">
                  <p:embed/>
                </p:oleObj>
              </mc:Choice>
              <mc:Fallback>
                <p:oleObj name="Visio" r:id="rId3" imgW="4042410" imgH="3320415" progId="Visio.Drawing.11">
                  <p:embed/>
                  <p:pic>
                    <p:nvPicPr>
                      <p:cNvPr id="0" name="同时进行字扩展和位扩展 图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0391" y="1260505"/>
                        <a:ext cx="6648450" cy="544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400165" y="1010285"/>
            <a:ext cx="1579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位扩展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629650" y="3345815"/>
            <a:ext cx="4591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字扩展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sym typeface="+mn-ea"/>
              </a:rPr>
              <a:t>变量译码器实现存储器地址译码</a:t>
            </a:r>
            <a:endParaRPr lang="zh-CN" altLang="en-US"/>
          </a:p>
        </p:txBody>
      </p:sp>
      <p:graphicFrame>
        <p:nvGraphicFramePr>
          <p:cNvPr id="7" name="内容占位符 6"/>
          <p:cNvGraphicFramePr>
            <a:graphicFrameLocks noGrp="1" noChangeAspect="1"/>
          </p:cNvGraphicFramePr>
          <p:nvPr>
            <p:ph idx="1"/>
          </p:nvPr>
        </p:nvGraphicFramePr>
        <p:xfrm>
          <a:off x="231140" y="1268095"/>
          <a:ext cx="4467860" cy="2829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9" r:id="rId3" imgW="3867150" imgH="2638425" progId="Paint.Picture">
                  <p:embed/>
                </p:oleObj>
              </mc:Choice>
              <mc:Fallback>
                <p:oleObj r:id="rId3" imgW="3867150" imgH="2638425" progId="Paint.Picture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1140" y="1268095"/>
                        <a:ext cx="4467860" cy="28295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/>
          <p:nvPr/>
        </p:nvGraphicFramePr>
        <p:xfrm>
          <a:off x="4845050" y="1196975"/>
          <a:ext cx="3992880" cy="282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0" r:id="rId5" imgW="4219575" imgH="3152775" progId="Paint.Picture">
                  <p:embed/>
                </p:oleObj>
              </mc:Choice>
              <mc:Fallback>
                <p:oleObj r:id="rId5" imgW="4219575" imgH="3152775" progId="Paint.Picture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45050" y="1196975"/>
                        <a:ext cx="3992880" cy="2828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/>
          <p:nvPr/>
        </p:nvGraphicFramePr>
        <p:xfrm>
          <a:off x="98425" y="4097655"/>
          <a:ext cx="4307840" cy="277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1" r:id="rId7" imgW="4419600" imgH="3190875" progId="Paint.Picture">
                  <p:embed/>
                </p:oleObj>
              </mc:Choice>
              <mc:Fallback>
                <p:oleObj r:id="rId7" imgW="4419600" imgH="3190875" progId="Paint.Picture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8425" y="4097655"/>
                        <a:ext cx="4307840" cy="2778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/>
          <p:nvPr/>
        </p:nvGraphicFramePr>
        <p:xfrm>
          <a:off x="4940300" y="4025900"/>
          <a:ext cx="3727450" cy="2723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2" r:id="rId9" imgW="3962400" imgH="3238500" progId="Paint.Picture">
                  <p:embed/>
                </p:oleObj>
              </mc:Choice>
              <mc:Fallback>
                <p:oleObj r:id="rId9" imgW="3962400" imgH="3238500" progId="Paint.Picture">
                  <p:embed/>
                  <p:pic>
                    <p:nvPicPr>
                      <p:cNvPr id="0" name="图片 1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940300" y="4025900"/>
                        <a:ext cx="3727450" cy="27235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实验内容与步骤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任务</a:t>
            </a:r>
            <a:r>
              <a:rPr lang="en-US" altLang="zh-CN" sz="2800" dirty="0"/>
              <a:t>1</a:t>
            </a:r>
            <a:r>
              <a:rPr lang="zh-CN" altLang="en-US" sz="2800" dirty="0"/>
              <a:t>：原理图设计实现</a:t>
            </a:r>
            <a:r>
              <a:rPr lang="en-US" altLang="zh-CN" sz="2800" dirty="0"/>
              <a:t>74LS138</a:t>
            </a:r>
            <a:r>
              <a:rPr lang="zh-CN" altLang="en-US" sz="2800" dirty="0"/>
              <a:t>译码器模块</a:t>
            </a:r>
          </a:p>
          <a:p>
            <a:pPr>
              <a:lnSpc>
                <a:spcPct val="150000"/>
              </a:lnSpc>
            </a:pP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任务</a:t>
            </a:r>
            <a:r>
              <a:rPr lang="en-US" altLang="zh-CN" sz="2800" dirty="0"/>
              <a:t>2</a:t>
            </a:r>
            <a:r>
              <a:rPr lang="zh-CN" altLang="en-US" sz="2800" dirty="0"/>
              <a:t>：用</a:t>
            </a:r>
            <a:r>
              <a:rPr lang="en-US" altLang="zh-CN" sz="2800" dirty="0"/>
              <a:t>74LS138</a:t>
            </a:r>
            <a:r>
              <a:rPr lang="zh-CN" altLang="en-US" sz="2800" dirty="0"/>
              <a:t>译码器实现楼道灯控制器</a:t>
            </a:r>
          </a:p>
          <a:p>
            <a:endParaRPr lang="zh-CN" alt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D_74LS138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557020"/>
            <a:ext cx="8467725" cy="435737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设计实现</a:t>
            </a:r>
            <a:r>
              <a:rPr lang="en-US" altLang="zh-CN" dirty="0"/>
              <a:t>74LS138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Logisim</a:t>
            </a:r>
            <a:r>
              <a:rPr lang="zh-CN" altLang="en-US" dirty="0">
                <a:solidFill>
                  <a:srgbClr val="FF0000"/>
                </a:solidFill>
              </a:rPr>
              <a:t>中新建电路图</a:t>
            </a:r>
            <a:r>
              <a:rPr lang="en-US" altLang="zh-CN" dirty="0">
                <a:solidFill>
                  <a:srgbClr val="FF0000"/>
                </a:solidFill>
              </a:rPr>
              <a:t>LAB5_D_74LS138</a:t>
            </a:r>
            <a:r>
              <a:rPr lang="zh-CN" altLang="en-US" dirty="0">
                <a:solidFill>
                  <a:srgbClr val="FF0000"/>
                </a:solidFill>
              </a:rPr>
              <a:t>。</a:t>
            </a:r>
          </a:p>
          <a:p>
            <a:pPr marL="0" indent="0">
              <a:buNone/>
            </a:pPr>
            <a:r>
              <a:rPr lang="en-US" altLang="zh-CN" dirty="0"/>
              <a:t>  </a:t>
            </a:r>
            <a:endParaRPr dirty="0"/>
          </a:p>
          <a:p>
            <a:r>
              <a:rPr dirty="0">
                <a:sym typeface="+mn-ea"/>
              </a:rPr>
              <a:t>Circuit Name</a:t>
            </a:r>
            <a:r>
              <a:rPr lang="zh-CN" dirty="0">
                <a:sym typeface="+mn-ea"/>
              </a:rPr>
              <a:t>修改为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D_74LS138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dirty="0"/>
              <a:t>新建一个 Logisim 项目时，它默认为项目名 Untitled，当前电路名</a:t>
            </a:r>
            <a:r>
              <a:rPr dirty="0">
                <a:sym typeface="+mn-ea"/>
              </a:rPr>
              <a:t>()</a:t>
            </a:r>
            <a:r>
              <a:rPr dirty="0"/>
              <a:t> main，选中电路 main。在 Properties 中可以修改电路名(Circuit Name)。</a:t>
            </a:r>
          </a:p>
          <a:p>
            <a:pPr marL="0" indent="0">
              <a:buNone/>
            </a:pPr>
            <a:endParaRPr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sym typeface="+mn-ea"/>
              </a:rPr>
              <a:t>Circuit Name</a:t>
            </a:r>
            <a:r>
              <a:rPr lang="zh-CN" dirty="0">
                <a:sym typeface="+mn-ea"/>
              </a:rPr>
              <a:t>修改为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D_74LS138</a:t>
            </a:r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5740" y="1412875"/>
            <a:ext cx="5588635" cy="483171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电路图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4845" y="1600200"/>
            <a:ext cx="5273675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Splitter分流器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505" y="1412875"/>
            <a:ext cx="5163185" cy="49631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624195" y="1624330"/>
            <a:ext cx="350583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当一个信号有多条线，即位宽不为 1 时，我们可能需要分流器来将其拆分为多条线或从多个来源汇集。Logisim Wiring 库中提供了分流器</a:t>
            </a:r>
            <a:r>
              <a:rPr lang="en-US" altLang="zh-CN">
                <a:sym typeface="+mn-ea"/>
              </a:rPr>
              <a:t>Splitter</a:t>
            </a:r>
            <a:r>
              <a:rPr lang="zh-CN" altLang="en-US"/>
              <a:t>， Properties 的含义说明：</a:t>
            </a:r>
          </a:p>
          <a:p>
            <a:r>
              <a:rPr lang="zh-CN" altLang="en-US"/>
              <a:t>Facing 与 Appearance：器件朝向与形态，主要为了电路图美观，可根据实际情况自行调整。</a:t>
            </a:r>
          </a:p>
          <a:p>
            <a:r>
              <a:rPr lang="zh-CN" altLang="en-US"/>
              <a:t>Fan Out：分流口数量，将原本的信号拆分成几份。</a:t>
            </a:r>
          </a:p>
          <a:p>
            <a:r>
              <a:rPr lang="zh-CN" altLang="en-US"/>
              <a:t>Bit Width In：信号位宽。</a:t>
            </a:r>
          </a:p>
          <a:p>
            <a:r>
              <a:rPr lang="zh-CN" altLang="en-US"/>
              <a:t>Bit 0/1/...：选择每一位分流所走的端口。</a:t>
            </a:r>
          </a:p>
          <a:p>
            <a:r>
              <a:rPr lang="en-US" altLang="zh-CN"/>
              <a:t>Spacing:</a:t>
            </a:r>
            <a:r>
              <a:rPr lang="zh-CN" altLang="en-US"/>
              <a:t>分线之间的距离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output:Y</a:t>
            </a:r>
            <a:r>
              <a:rPr lang="zh-CN" altLang="en-US"/>
              <a:t>数据位数改为</a:t>
            </a:r>
            <a:r>
              <a:rPr lang="en-US" altLang="zh-CN"/>
              <a:t>8</a:t>
            </a:r>
            <a:r>
              <a:rPr lang="zh-CN" altLang="en-US"/>
              <a:t>位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750" y="1341120"/>
            <a:ext cx="5588635" cy="45262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632575" y="1737995"/>
            <a:ext cx="16840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点击</a:t>
            </a:r>
            <a:r>
              <a:rPr lang="en-US" altLang="zh-CN"/>
              <a:t>Pin”Y”</a:t>
            </a:r>
          </a:p>
          <a:p>
            <a:r>
              <a:rPr lang="en-US" altLang="zh-CN"/>
              <a:t>Data Bits:8,</a:t>
            </a:r>
            <a:r>
              <a:rPr lang="zh-CN" altLang="en-US"/>
              <a:t>默认为</a:t>
            </a:r>
            <a:r>
              <a:rPr lang="en-US" altLang="zh-CN"/>
              <a:t>1.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导出为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Verilog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选择上方状态栏的 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FPGA &gt; Synthesize &amp; Download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在弹出的窗口中，选择目标板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(Target board)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 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FPGA4U</a:t>
            </a:r>
          </a:p>
          <a:p>
            <a:endParaRPr kumimoji="1"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24" y="3573016"/>
            <a:ext cx="4310876" cy="185171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941" y="3559299"/>
            <a:ext cx="4092498" cy="217487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导出为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Verilog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点击 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Settings</a:t>
            </a:r>
            <a:r>
              <a:rPr lang="en-US" altLang="zh-CN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按钮，并且将弹出窗口中 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FPGA Commander Settings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选项下的 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Hardware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discription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language used for FPGA commander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选项更改为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Verilog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并更改保存地址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随后可关闭弹出窗口。</a:t>
            </a:r>
            <a:endParaRPr kumimoji="1"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625" y="3884072"/>
            <a:ext cx="5284749" cy="237571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导出为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Verilog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3530" y="1268730"/>
            <a:ext cx="8541385" cy="4968240"/>
          </a:xfrm>
        </p:spPr>
        <p:txBody>
          <a:bodyPr/>
          <a:lstStyle/>
          <a:p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点击 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Execute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，随后点击弹出窗口中的 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Done</a:t>
            </a:r>
            <a:r>
              <a:rPr lang="en-US" altLang="zh-CN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即可完成。你可以忽略这一步给出的 </a:t>
            </a:r>
            <a:r>
              <a:rPr lang="en-US" altLang="zh-CN" b="0" i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Design is not completely mapped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的警告。</a:t>
            </a:r>
          </a:p>
          <a:p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此时即可在工作目录下的 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verilog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子目录中看到生成的 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Verilog 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文件，如果你不知道文件保存到了哪里，请查看弹窗 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Info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中的信息确定你的工作目录以及导出文件的位置。</a:t>
            </a:r>
            <a:endParaRPr kumimoji="1"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485" y="4941570"/>
            <a:ext cx="5195570" cy="190373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1140" y="242570"/>
            <a:ext cx="7106285" cy="954405"/>
          </a:xfrm>
        </p:spPr>
        <p:txBody>
          <a:bodyPr/>
          <a:lstStyle/>
          <a:p>
            <a:r>
              <a:rPr lang="en-US" altLang="zh-CN"/>
              <a:t>Vivado</a:t>
            </a:r>
            <a:r>
              <a:rPr lang="zh-CN" altLang="en-US"/>
              <a:t>新建</a:t>
            </a:r>
            <a:r>
              <a:rPr lang="en-US" altLang="zh-CN"/>
              <a:t>LAB5_D_74LS138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9795" y="1988820"/>
            <a:ext cx="6447155" cy="45262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66115" y="1362075"/>
            <a:ext cx="5201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新建第一个工程</a:t>
            </a:r>
            <a:r>
              <a:rPr lang="en-US" altLang="zh-CN">
                <a:sym typeface="+mn-ea"/>
              </a:rPr>
              <a:t>LAB5_D_74LS138</a:t>
            </a:r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New Source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911985"/>
            <a:ext cx="8229600" cy="39020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165" y="2853055"/>
            <a:ext cx="5189220" cy="35496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11505" y="1341120"/>
            <a:ext cx="3488055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选择</a:t>
            </a:r>
            <a:r>
              <a:rPr lang="en-US" altLang="zh-CN"/>
              <a:t>“Add Directories”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D_74LS138 Verilog Code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750" y="1772920"/>
            <a:ext cx="6883400" cy="45262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765" y="2113280"/>
            <a:ext cx="5191125" cy="45815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73710" y="1292225"/>
            <a:ext cx="7413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Logisim</a:t>
            </a:r>
            <a:r>
              <a:rPr lang="zh-CN" altLang="en-US"/>
              <a:t>中</a:t>
            </a:r>
            <a:r>
              <a:rPr lang="en-US" altLang="zh-CN"/>
              <a:t>D_74LS138</a:t>
            </a:r>
            <a:r>
              <a:rPr lang="zh-CN" altLang="en-US"/>
              <a:t>电路图转换成</a:t>
            </a:r>
            <a:r>
              <a:rPr lang="en-US" altLang="zh-CN"/>
              <a:t>Verilog code</a:t>
            </a:r>
            <a:r>
              <a:rPr lang="zh-CN" altLang="en-US"/>
              <a:t>目录中选择</a:t>
            </a:r>
            <a:r>
              <a:rPr lang="en-US" altLang="en-US"/>
              <a:t>circuit,gates</a:t>
            </a:r>
            <a:r>
              <a:rPr lang="zh-CN" altLang="en-US"/>
              <a:t>目录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Run Synthesis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3100" y="1600200"/>
            <a:ext cx="779653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Simulation Code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5695" y="1484630"/>
            <a:ext cx="4351020" cy="49612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F781A3-5599-4511-9D1A-86449851B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6715" y="1484630"/>
            <a:ext cx="2717344" cy="297973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模拟图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605" y="2959735"/>
            <a:ext cx="8229600" cy="38982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05" y="1294765"/>
            <a:ext cx="7923530" cy="166497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initial开始正确的模拟代码</a:t>
            </a:r>
            <a:endParaRPr lang="en-US" altLang="zh-CN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1140" y="1297940"/>
            <a:ext cx="4513580" cy="5235575"/>
          </a:xfrm>
        </p:spPr>
        <p:txBody>
          <a:bodyPr>
            <a:normAutofit fontScale="25000" lnSpcReduction="10000"/>
          </a:bodyPr>
          <a:lstStyle/>
          <a:p>
            <a:pPr marL="0" indent="0">
              <a:buNone/>
            </a:pPr>
            <a:r>
              <a:rPr lang="zh-CN" altLang="en-US" sz="10000"/>
              <a:t>  </a:t>
            </a:r>
            <a:r>
              <a:rPr lang="zh-CN" altLang="en-US" sz="8000"/>
              <a:t>integer i;</a:t>
            </a:r>
          </a:p>
          <a:p>
            <a:pPr marL="0" indent="0">
              <a:buNone/>
            </a:pPr>
            <a:r>
              <a:rPr lang="zh-CN" altLang="en-US" sz="8000"/>
              <a:t>	initial </a:t>
            </a:r>
            <a:r>
              <a:rPr lang="zh-CN" altLang="en-US" sz="10000">
                <a:solidFill>
                  <a:schemeClr val="accent2"/>
                </a:solidFill>
              </a:rPr>
              <a:t>begin</a:t>
            </a:r>
          </a:p>
          <a:p>
            <a:pPr marL="0" indent="0">
              <a:buNone/>
            </a:pPr>
            <a:r>
              <a:rPr lang="zh-CN" altLang="en-US" sz="8000"/>
              <a:t>		C = 0;</a:t>
            </a:r>
          </a:p>
          <a:p>
            <a:pPr marL="0" indent="0">
              <a:buNone/>
            </a:pPr>
            <a:r>
              <a:rPr lang="zh-CN" altLang="en-US" sz="8000"/>
              <a:t>		B = 0;</a:t>
            </a:r>
          </a:p>
          <a:p>
            <a:pPr marL="0" indent="0">
              <a:buNone/>
            </a:pPr>
            <a:r>
              <a:rPr lang="zh-CN" altLang="en-US" sz="8000"/>
              <a:t>		A = 0;	</a:t>
            </a:r>
          </a:p>
          <a:p>
            <a:pPr marL="0" indent="0">
              <a:buNone/>
            </a:pPr>
            <a:r>
              <a:rPr lang="zh-CN" altLang="en-US" sz="8000"/>
              <a:t>		G = 1;</a:t>
            </a:r>
          </a:p>
          <a:p>
            <a:pPr marL="0" indent="0">
              <a:buNone/>
            </a:pPr>
            <a:r>
              <a:rPr lang="zh-CN" altLang="en-US" sz="8000"/>
              <a:t>		G2A = 0;</a:t>
            </a:r>
          </a:p>
          <a:p>
            <a:pPr marL="0" indent="0">
              <a:buNone/>
            </a:pPr>
            <a:r>
              <a:rPr lang="zh-CN" altLang="en-US" sz="8000"/>
              <a:t>		G2B = 0;</a:t>
            </a:r>
          </a:p>
          <a:p>
            <a:pPr marL="0" indent="0">
              <a:buNone/>
            </a:pPr>
            <a:r>
              <a:rPr lang="zh-CN" altLang="en-US" sz="8000"/>
              <a:t>		#50;</a:t>
            </a:r>
          </a:p>
          <a:p>
            <a:pPr marL="0" indent="0">
              <a:buNone/>
            </a:pPr>
            <a:r>
              <a:rPr lang="zh-CN" altLang="en-US" sz="8000"/>
              <a:t>for (i=0; i&lt;=7;i=i+1) </a:t>
            </a:r>
            <a:r>
              <a:rPr lang="zh-CN" altLang="en-US" sz="8000">
                <a:solidFill>
                  <a:schemeClr val="accent6">
                    <a:lumMod val="50000"/>
                  </a:schemeClr>
                </a:solidFill>
              </a:rPr>
              <a:t>begin</a:t>
            </a:r>
            <a:endParaRPr lang="zh-CN" altLang="en-US" sz="8000"/>
          </a:p>
          <a:p>
            <a:pPr marL="0" indent="0">
              <a:buNone/>
            </a:pPr>
            <a:r>
              <a:rPr lang="zh-CN" altLang="en-US" sz="8000"/>
              <a:t>	{C,B,A} = i;</a:t>
            </a:r>
          </a:p>
          <a:p>
            <a:pPr marL="0" indent="0">
              <a:buNone/>
            </a:pPr>
            <a:r>
              <a:rPr lang="zh-CN" altLang="en-US" sz="8000"/>
              <a:t>		#50;</a:t>
            </a:r>
          </a:p>
          <a:p>
            <a:pPr marL="0" indent="0">
              <a:buNone/>
            </a:pPr>
            <a:r>
              <a:rPr lang="zh-CN" altLang="en-US" sz="8000"/>
              <a:t>		</a:t>
            </a:r>
            <a:r>
              <a:rPr lang="zh-CN" altLang="en-US" sz="8000">
                <a:solidFill>
                  <a:schemeClr val="accent6">
                    <a:lumMod val="50000"/>
                  </a:schemeClr>
                </a:solidFill>
              </a:rPr>
              <a:t>end</a:t>
            </a:r>
            <a:endParaRPr lang="zh-CN" altLang="en-US" sz="8000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endmodule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690110" y="1416050"/>
            <a:ext cx="4219575" cy="4907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</a:rPr>
              <a:t>                                   assign G = 0;</a:t>
            </a:r>
          </a:p>
          <a:p>
            <a:r>
              <a:rPr lang="en-US" altLang="zh-CN" dirty="0">
                <a:solidFill>
                  <a:schemeClr val="tx2"/>
                </a:solidFill>
              </a:rPr>
              <a:t>		assign G2A = 0;</a:t>
            </a:r>
          </a:p>
          <a:p>
            <a:r>
              <a:rPr lang="en-US" altLang="zh-CN" dirty="0">
                <a:solidFill>
                  <a:schemeClr val="tx2"/>
                </a:solidFill>
              </a:rPr>
              <a:t>		assign G2B = 0;</a:t>
            </a:r>
          </a:p>
          <a:p>
            <a:r>
              <a:rPr lang="en-US" altLang="zh-CN" dirty="0">
                <a:solidFill>
                  <a:schemeClr val="tx2"/>
                </a:solidFill>
              </a:rPr>
              <a:t>		#50;</a:t>
            </a:r>
          </a:p>
          <a:p>
            <a:r>
              <a:rPr lang="en-US" altLang="zh-CN" dirty="0">
                <a:solidFill>
                  <a:schemeClr val="tx2"/>
                </a:solidFill>
              </a:rPr>
              <a:t>		</a:t>
            </a:r>
          </a:p>
          <a:p>
            <a:r>
              <a:rPr lang="en-US" altLang="zh-CN" dirty="0">
                <a:solidFill>
                  <a:schemeClr val="tx2"/>
                </a:solidFill>
              </a:rPr>
              <a:t>		assign G = 1;</a:t>
            </a:r>
          </a:p>
          <a:p>
            <a:r>
              <a:rPr lang="en-US" altLang="zh-CN" dirty="0">
                <a:solidFill>
                  <a:schemeClr val="tx2"/>
                </a:solidFill>
              </a:rPr>
              <a:t>		assign G2A = 1;</a:t>
            </a:r>
          </a:p>
          <a:p>
            <a:r>
              <a:rPr lang="en-US" altLang="zh-CN" dirty="0">
                <a:solidFill>
                  <a:schemeClr val="tx2"/>
                </a:solidFill>
              </a:rPr>
              <a:t>		assign G2B = 0;</a:t>
            </a:r>
          </a:p>
          <a:p>
            <a:r>
              <a:rPr lang="en-US" altLang="zh-CN" dirty="0">
                <a:solidFill>
                  <a:schemeClr val="tx2"/>
                </a:solidFill>
              </a:rPr>
              <a:t>		#50;</a:t>
            </a:r>
          </a:p>
          <a:p>
            <a:r>
              <a:rPr lang="en-US" altLang="zh-CN" dirty="0">
                <a:solidFill>
                  <a:schemeClr val="tx2"/>
                </a:solidFill>
              </a:rPr>
              <a:t>		</a:t>
            </a:r>
          </a:p>
          <a:p>
            <a:r>
              <a:rPr lang="en-US" altLang="zh-CN" dirty="0">
                <a:solidFill>
                  <a:schemeClr val="tx2"/>
                </a:solidFill>
              </a:rPr>
              <a:t>		assign G = 1;</a:t>
            </a:r>
          </a:p>
          <a:p>
            <a:r>
              <a:rPr lang="en-US" altLang="zh-CN" dirty="0">
                <a:solidFill>
                  <a:schemeClr val="tx2"/>
                </a:solidFill>
              </a:rPr>
              <a:t>		assign G2A = 0;</a:t>
            </a:r>
          </a:p>
          <a:p>
            <a:r>
              <a:rPr lang="en-US" altLang="zh-CN" dirty="0">
                <a:solidFill>
                  <a:schemeClr val="tx2"/>
                </a:solidFill>
              </a:rPr>
              <a:t>		assign G2B = 1;</a:t>
            </a:r>
          </a:p>
          <a:p>
            <a:r>
              <a:rPr lang="en-US" altLang="zh-CN" dirty="0">
                <a:solidFill>
                  <a:schemeClr val="tx2"/>
                </a:solidFill>
              </a:rPr>
              <a:t>		#50;</a:t>
            </a:r>
            <a:r>
              <a:rPr lang="en-US" altLang="zh-CN" dirty="0">
                <a:solidFill>
                  <a:srgbClr val="FF0000"/>
                </a:solidFill>
              </a:rPr>
              <a:t>		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	</a:t>
            </a:r>
            <a:r>
              <a:rPr lang="en-US" altLang="zh-CN" sz="2500" dirty="0">
                <a:solidFill>
                  <a:schemeClr val="accent2"/>
                </a:solidFill>
              </a:rPr>
              <a:t>end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 err="1">
                <a:solidFill>
                  <a:srgbClr val="FF0000"/>
                </a:solidFill>
              </a:rPr>
              <a:t>endmodule</a:t>
            </a:r>
            <a:endParaRPr lang="en-US" altLang="zh-CN" dirty="0">
              <a:solidFill>
                <a:srgbClr val="FF0000"/>
              </a:solidFill>
            </a:endParaRPr>
          </a:p>
        </p:txBody>
      </p:sp>
      <p:graphicFrame>
        <p:nvGraphicFramePr>
          <p:cNvPr id="5" name="对象 4"/>
          <p:cNvGraphicFramePr/>
          <p:nvPr/>
        </p:nvGraphicFramePr>
        <p:xfrm>
          <a:off x="3636010" y="1844675"/>
          <a:ext cx="2626360" cy="2877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8" r:id="rId3" imgW="4495800" imgH="4419600" progId="Paint.Picture">
                  <p:embed/>
                </p:oleObj>
              </mc:Choice>
              <mc:Fallback>
                <p:oleObj r:id="rId3" imgW="4495800" imgH="441960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36010" y="1844675"/>
                        <a:ext cx="2626360" cy="28778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波形图示例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7310" y="1268730"/>
            <a:ext cx="563562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	integer i;</a:t>
            </a:r>
          </a:p>
          <a:p>
            <a:r>
              <a:rPr lang="zh-CN" altLang="en-US"/>
              <a:t>       initial</a:t>
            </a:r>
            <a:r>
              <a:rPr lang="zh-CN" altLang="en-US">
                <a:solidFill>
                  <a:schemeClr val="accent6">
                    <a:lumMod val="75000"/>
                  </a:schemeClr>
                </a:solidFill>
              </a:rPr>
              <a:t> begin</a:t>
            </a:r>
            <a:endParaRPr lang="zh-CN" altLang="en-US"/>
          </a:p>
          <a:p>
            <a:r>
              <a:rPr lang="zh-CN" altLang="en-US"/>
              <a:t>	G = 1;	G2A = 0;	G2B = 0;</a:t>
            </a:r>
          </a:p>
          <a:p>
            <a:r>
              <a:rPr lang="zh-CN" altLang="en-US"/>
              <a:t>	A = 0;	B = 0;	C = 0; #50;</a:t>
            </a:r>
          </a:p>
          <a:p>
            <a:r>
              <a:rPr lang="zh-CN" altLang="en-US"/>
              <a:t>	for(i=0;i&lt;7;i=i+1)</a:t>
            </a:r>
          </a:p>
          <a:p>
            <a:r>
              <a:rPr lang="zh-CN" altLang="en-US"/>
              <a:t>	</a:t>
            </a:r>
            <a:r>
              <a:rPr lang="zh-CN" altLang="en-US">
                <a:solidFill>
                  <a:srgbClr val="C00000"/>
                </a:solidFill>
              </a:rPr>
              <a:t>begin	   {C,B,A}=i;</a:t>
            </a:r>
            <a:r>
              <a:rPr lang="en-US" altLang="zh-CN">
                <a:solidFill>
                  <a:srgbClr val="C00000"/>
                </a:solidFill>
              </a:rPr>
              <a:t>  </a:t>
            </a:r>
            <a:r>
              <a:rPr lang="zh-CN" altLang="en-US">
                <a:solidFill>
                  <a:srgbClr val="C00000"/>
                </a:solidFill>
              </a:rPr>
              <a:t>#</a:t>
            </a:r>
            <a:r>
              <a:rPr lang="en-US" altLang="zh-CN">
                <a:solidFill>
                  <a:srgbClr val="C00000"/>
                </a:solidFill>
              </a:rPr>
              <a:t>10</a:t>
            </a:r>
            <a:r>
              <a:rPr lang="zh-CN" altLang="en-US">
                <a:solidFill>
                  <a:srgbClr val="C00000"/>
                </a:solidFill>
              </a:rPr>
              <a:t>0;</a:t>
            </a:r>
            <a:r>
              <a:rPr lang="en-US" altLang="zh-CN">
                <a:solidFill>
                  <a:srgbClr val="C00000"/>
                </a:solidFill>
              </a:rPr>
              <a:t> end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903470" y="1426210"/>
            <a:ext cx="377571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ym typeface="+mn-ea"/>
              </a:rPr>
              <a:t>G = 0;	G2A = 1;	G2B = 1;		for(i=0;i&lt;7;i=i+1)</a:t>
            </a:r>
            <a:endParaRPr lang="zh-CN" altLang="en-US"/>
          </a:p>
          <a:p>
            <a:r>
              <a:rPr lang="zh-CN" altLang="en-US">
                <a:sym typeface="+mn-ea"/>
              </a:rPr>
              <a:t>	</a:t>
            </a:r>
            <a:r>
              <a:rPr lang="zh-CN" altLang="en-US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begin   {C,B,A}=i;#</a:t>
            </a:r>
            <a:r>
              <a:rPr lang="en-US" altLang="zh-CN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10</a:t>
            </a:r>
            <a:r>
              <a:rPr lang="zh-CN" altLang="en-US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0;end</a:t>
            </a:r>
            <a:endParaRPr lang="zh-CN" altLang="en-US"/>
          </a:p>
          <a:p>
            <a:r>
              <a:rPr lang="zh-CN" altLang="en-US">
                <a:solidFill>
                  <a:schemeClr val="accent6">
                    <a:lumMod val="75000"/>
                  </a:schemeClr>
                </a:solidFill>
                <a:sym typeface="+mn-ea"/>
              </a:rPr>
              <a:t>end</a:t>
            </a:r>
            <a:endParaRPr lang="zh-CN" altLang="en-US">
              <a:solidFill>
                <a:schemeClr val="accent6">
                  <a:lumMod val="75000"/>
                </a:schemeClr>
              </a:solidFill>
            </a:endParaRPr>
          </a:p>
          <a:p>
            <a:endParaRPr lang="zh-CN" altLang="en-US">
              <a:solidFill>
                <a:schemeClr val="accent6">
                  <a:lumMod val="75000"/>
                </a:schemeClr>
              </a:solidFill>
            </a:endParaRPr>
          </a:p>
        </p:txBody>
      </p:sp>
      <p:graphicFrame>
        <p:nvGraphicFramePr>
          <p:cNvPr id="7" name="对象 6"/>
          <p:cNvGraphicFramePr/>
          <p:nvPr/>
        </p:nvGraphicFramePr>
        <p:xfrm>
          <a:off x="2988310" y="188595"/>
          <a:ext cx="1952625" cy="1628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4" r:id="rId3" imgW="4495800" imgH="4419600" progId="Paint.Picture">
                  <p:embed/>
                </p:oleObj>
              </mc:Choice>
              <mc:Fallback>
                <p:oleObj r:id="rId3" imgW="4495800" imgH="441960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88310" y="188595"/>
                        <a:ext cx="1952625" cy="16281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360" y="3053080"/>
            <a:ext cx="8534400" cy="339915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74LS138</a:t>
            </a:r>
            <a:r>
              <a:rPr lang="zh-CN" altLang="en-US" dirty="0"/>
              <a:t>测试电路图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32778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Logisim</a:t>
            </a:r>
            <a:r>
              <a:rPr lang="zh-CN" altLang="en-US" dirty="0">
                <a:solidFill>
                  <a:srgbClr val="FF0000"/>
                </a:solidFill>
              </a:rPr>
              <a:t>项目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zh-CN" altLang="en-US" dirty="0">
                <a:solidFill>
                  <a:srgbClr val="FF0000"/>
                </a:solidFill>
              </a:rPr>
              <a:t>工程</a:t>
            </a:r>
            <a:r>
              <a:rPr lang="en-US" altLang="zh-CN" dirty="0">
                <a:solidFill>
                  <a:srgbClr val="FF0000"/>
                </a:solidFill>
              </a:rPr>
              <a:t>)LAB5_D_74LS138</a:t>
            </a:r>
            <a:r>
              <a:rPr lang="zh-CN" altLang="en-US" dirty="0">
                <a:solidFill>
                  <a:srgbClr val="FF0000"/>
                </a:solidFill>
              </a:rPr>
              <a:t>中新建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电路图</a:t>
            </a:r>
            <a:r>
              <a:rPr lang="en-US" altLang="zh-CN" dirty="0">
                <a:solidFill>
                  <a:srgbClr val="FF0000"/>
                </a:solidFill>
              </a:rPr>
              <a:t>D_74LS138_TEST</a:t>
            </a:r>
            <a:r>
              <a:rPr lang="en-US" altLang="zh-CN" dirty="0"/>
              <a:t> </a:t>
            </a:r>
            <a:endParaRPr dirty="0"/>
          </a:p>
          <a:p>
            <a:pPr marL="0" indent="0">
              <a:buNone/>
            </a:pPr>
            <a:endParaRPr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05" y="3009900"/>
            <a:ext cx="8177530" cy="29279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05" y="2924810"/>
            <a:ext cx="4991100" cy="367665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1140" y="242570"/>
            <a:ext cx="7933055" cy="954405"/>
          </a:xfrm>
        </p:spPr>
        <p:txBody>
          <a:bodyPr>
            <a:normAutofit/>
          </a:bodyPr>
          <a:lstStyle/>
          <a:p>
            <a:r>
              <a:rPr lang="en-US" altLang="zh-CN"/>
              <a:t>D_74LS138_TEST</a:t>
            </a:r>
            <a:r>
              <a:rPr lang="zh-CN" altLang="en-US"/>
              <a:t>图加</a:t>
            </a:r>
            <a:r>
              <a:rPr lang="en-US" altLang="zh-CN"/>
              <a:t>D_74LS138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931035"/>
            <a:ext cx="8229600" cy="38633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94970" y="1405890"/>
            <a:ext cx="4105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在</a:t>
            </a:r>
            <a:r>
              <a:rPr lang="en-US" altLang="zh-CN">
                <a:sym typeface="+mn-ea"/>
              </a:rPr>
              <a:t>D_74LS138_TEST</a:t>
            </a:r>
            <a:r>
              <a:rPr lang="zh-CN" altLang="en-US">
                <a:sym typeface="+mn-ea"/>
              </a:rPr>
              <a:t>图中</a:t>
            </a:r>
            <a:r>
              <a:rPr lang="zh-CN" altLang="en-US"/>
              <a:t>点击</a:t>
            </a:r>
            <a:r>
              <a:rPr lang="en-US" altLang="zh-CN"/>
              <a:t>D_74LS138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1140" y="242570"/>
            <a:ext cx="7743825" cy="954405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rgbClr val="FF0000"/>
                </a:solidFill>
                <a:sym typeface="+mn-ea"/>
              </a:rPr>
              <a:t>D_74LS138_TEST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转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Verilog code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8620" y="1600200"/>
            <a:ext cx="5825490" cy="45262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11505" y="1484630"/>
            <a:ext cx="4911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ym typeface="+mn-ea"/>
              </a:rPr>
              <a:t>D_74LS138_TEST</a:t>
            </a:r>
            <a:r>
              <a:rPr lang="zh-CN" altLang="en-US">
                <a:sym typeface="+mn-ea"/>
              </a:rPr>
              <a:t>电路图转换成</a:t>
            </a:r>
            <a:r>
              <a:rPr lang="en-US" altLang="zh-CN">
                <a:sym typeface="+mn-ea"/>
              </a:rPr>
              <a:t>Verilog code</a:t>
            </a:r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1140" y="242570"/>
            <a:ext cx="7106285" cy="954405"/>
          </a:xfrm>
        </p:spPr>
        <p:txBody>
          <a:bodyPr>
            <a:normAutofit fontScale="90000"/>
          </a:bodyPr>
          <a:lstStyle/>
          <a:p>
            <a:r>
              <a:rPr lang="en-US" altLang="zh-CN"/>
              <a:t>Vivado</a:t>
            </a:r>
            <a:r>
              <a:rPr lang="zh-CN" altLang="en-US"/>
              <a:t>新建</a:t>
            </a:r>
            <a:r>
              <a:rPr lang="en-US" altLang="zh-CN"/>
              <a:t>LAB5_D_74LS138T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140" y="1939290"/>
            <a:ext cx="8119745" cy="41871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66115" y="1362075"/>
            <a:ext cx="5201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新建第二个工程</a:t>
            </a:r>
            <a:r>
              <a:rPr lang="en-US" altLang="zh-CN">
                <a:sym typeface="+mn-ea"/>
              </a:rPr>
              <a:t>LAB5_D_74LS138T</a:t>
            </a:r>
            <a:endParaRPr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New Source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911985"/>
            <a:ext cx="8229600" cy="39020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165" y="2853055"/>
            <a:ext cx="5189220" cy="35496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11505" y="1341120"/>
            <a:ext cx="3488055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选择</a:t>
            </a:r>
            <a:r>
              <a:rPr lang="en-US" altLang="zh-CN"/>
              <a:t>“Add Directories”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D_74LS138 Verilog Code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750" y="1772920"/>
            <a:ext cx="6883400" cy="45262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73710" y="1292225"/>
            <a:ext cx="7413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Logisim</a:t>
            </a:r>
            <a:r>
              <a:rPr lang="zh-CN" altLang="en-US"/>
              <a:t>中</a:t>
            </a:r>
            <a:r>
              <a:rPr lang="en-US" altLang="zh-CN"/>
              <a:t>D_74LS138</a:t>
            </a:r>
            <a:r>
              <a:rPr lang="zh-CN" altLang="en-US"/>
              <a:t>电路图转换成</a:t>
            </a:r>
            <a:r>
              <a:rPr lang="en-US" altLang="zh-CN"/>
              <a:t>Verilog code</a:t>
            </a:r>
            <a:r>
              <a:rPr lang="zh-CN" altLang="en-US"/>
              <a:t>目录中选择</a:t>
            </a:r>
            <a:r>
              <a:rPr lang="en-US" altLang="en-US"/>
              <a:t>circuit,gates</a:t>
            </a:r>
            <a:r>
              <a:rPr lang="zh-CN" altLang="en-US"/>
              <a:t>目录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985" y="2348865"/>
            <a:ext cx="7543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Run Synthesis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605" y="1412875"/>
            <a:ext cx="8187690" cy="468439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070" y="242570"/>
            <a:ext cx="8569960" cy="954405"/>
          </a:xfrm>
        </p:spPr>
        <p:txBody>
          <a:bodyPr>
            <a:normAutofit fontScale="90000"/>
          </a:bodyPr>
          <a:lstStyle/>
          <a:p>
            <a:r>
              <a:rPr lang="en-US" altLang="zh-CN" sz="3890"/>
              <a:t>Creat Constraints File D74LS138TEST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5650" y="1484630"/>
            <a:ext cx="7205345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Constraints XDC1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91264" cy="4853136"/>
          </a:xfrm>
        </p:spPr>
        <p:txBody>
          <a:bodyPr>
            <a:normAutofit fontScale="75000" lnSpcReduction="20000"/>
          </a:bodyPr>
          <a:lstStyle/>
          <a:p>
            <a:pPr marL="0" indent="0">
              <a:buNone/>
            </a:pPr>
            <a:r>
              <a:rPr lang="zh-CN" altLang="en-US" dirty="0"/>
              <a:t>set_property  IOSTANDARD LVCMOS15 [get_ports SW[5]]</a:t>
            </a:r>
          </a:p>
          <a:p>
            <a:pPr marL="0" indent="0">
              <a:buNone/>
            </a:pPr>
            <a:r>
              <a:rPr lang="zh-CN" altLang="en-US" dirty="0"/>
              <a:t>set_property  PACKAGE_PIN Y12 [get_ports SW[5]]</a:t>
            </a:r>
          </a:p>
          <a:p>
            <a:pPr marL="0" indent="0">
              <a:buNone/>
            </a:pPr>
            <a:r>
              <a:rPr lang="zh-CN" altLang="en-US" dirty="0"/>
              <a:t>set_property  IOSTANDARD LVCMOS15 [get_ports SW[4]]</a:t>
            </a:r>
          </a:p>
          <a:p>
            <a:pPr marL="0" indent="0">
              <a:buNone/>
            </a:pPr>
            <a:r>
              <a:rPr lang="zh-CN" altLang="en-US" dirty="0"/>
              <a:t>set_property  PACKAGE_PIN Y13 [get_ports SW[4]]</a:t>
            </a:r>
          </a:p>
          <a:p>
            <a:pPr marL="0" indent="0">
              <a:buNone/>
            </a:pPr>
            <a:r>
              <a:rPr lang="zh-CN" altLang="en-US" dirty="0"/>
              <a:t>set_property  IOSTANDARD LVCMOS15 [get_ports SW[3]]</a:t>
            </a:r>
          </a:p>
          <a:p>
            <a:pPr marL="0" indent="0">
              <a:buNone/>
            </a:pPr>
            <a:r>
              <a:rPr lang="zh-CN" altLang="en-US" dirty="0"/>
              <a:t>set_property  PACKAGE_PIN AA12 [get_ports SW[3]]</a:t>
            </a:r>
          </a:p>
          <a:p>
            <a:pPr marL="0" indent="0">
              <a:buNone/>
            </a:pPr>
            <a:r>
              <a:rPr lang="zh-CN" altLang="en-US" dirty="0"/>
              <a:t>set_property  IOSTANDARD LVCMOS15 [get_ports SW[2]]</a:t>
            </a:r>
          </a:p>
          <a:p>
            <a:pPr marL="0" indent="0">
              <a:buNone/>
            </a:pPr>
            <a:r>
              <a:rPr lang="zh-CN" altLang="en-US" dirty="0"/>
              <a:t>set_property  PACKAGE_PIN AA13 [get_ports SW[2]]</a:t>
            </a:r>
          </a:p>
          <a:p>
            <a:pPr marL="0" indent="0">
              <a:buNone/>
            </a:pPr>
            <a:r>
              <a:rPr lang="zh-CN" altLang="en-US" dirty="0"/>
              <a:t>set_property  IOSTANDARD LVCMOS15 [get_ports SW[1]]</a:t>
            </a:r>
          </a:p>
          <a:p>
            <a:pPr marL="0" indent="0">
              <a:buNone/>
            </a:pPr>
            <a:r>
              <a:rPr lang="zh-CN" altLang="en-US" dirty="0"/>
              <a:t>set_property  PACKAGE_PIN AB10 [get_ports SW[1]]</a:t>
            </a:r>
          </a:p>
          <a:p>
            <a:pPr marL="0" indent="0">
              <a:buNone/>
            </a:pPr>
            <a:r>
              <a:rPr lang="zh-CN" altLang="en-US" dirty="0"/>
              <a:t>set_property  IOSTANDARD LVCMOS15 [get_ports SW[0]]</a:t>
            </a:r>
          </a:p>
          <a:p>
            <a:pPr marL="0" indent="0">
              <a:buNone/>
            </a:pPr>
            <a:r>
              <a:rPr lang="zh-CN" altLang="en-US" dirty="0"/>
              <a:t>set_property  PACKAGE_PIN AA10 [get_ports SW[0]]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注意空格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Constraints XDC2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605" y="1196752"/>
            <a:ext cx="8496935" cy="5544616"/>
          </a:xfrm>
        </p:spPr>
        <p:txBody>
          <a:bodyPr>
            <a:normAutofit fontScale="65000" lnSpcReduction="20000"/>
          </a:bodyPr>
          <a:lstStyle/>
          <a:p>
            <a:pPr marL="0" indent="0">
              <a:buNone/>
            </a:pPr>
            <a:r>
              <a:rPr lang="zh-CN" altLang="en-US" dirty="0"/>
              <a:t>set_property  IOSTANDARD LVCMOS33 [get_ports LED[7]]</a:t>
            </a:r>
          </a:p>
          <a:p>
            <a:pPr marL="0" indent="0">
              <a:buNone/>
            </a:pPr>
            <a:r>
              <a:rPr lang="zh-CN" altLang="en-US" dirty="0"/>
              <a:t>set_property  PACKAGE_PIN AF24 [get_ports LED[7]]</a:t>
            </a:r>
          </a:p>
          <a:p>
            <a:pPr marL="0" indent="0">
              <a:buNone/>
            </a:pPr>
            <a:r>
              <a:rPr lang="zh-CN" altLang="en-US" dirty="0"/>
              <a:t>set_property  IOSTANDARD LVCMOS33 [get_ports LED[6]]</a:t>
            </a:r>
          </a:p>
          <a:p>
            <a:pPr marL="0" indent="0">
              <a:buNone/>
            </a:pPr>
            <a:r>
              <a:rPr lang="zh-CN" altLang="en-US" dirty="0"/>
              <a:t>set_property  PACKAGE_PIN AE21 [get_ports LED[6]]</a:t>
            </a:r>
          </a:p>
          <a:p>
            <a:pPr marL="0" indent="0">
              <a:buNone/>
            </a:pPr>
            <a:r>
              <a:rPr lang="zh-CN" altLang="en-US" dirty="0"/>
              <a:t>set_property  IOSTANDARD LVCMOS33 [get_ports LED[5]]</a:t>
            </a:r>
          </a:p>
          <a:p>
            <a:pPr marL="0" indent="0">
              <a:buNone/>
            </a:pPr>
            <a:r>
              <a:rPr lang="zh-CN" altLang="en-US" dirty="0"/>
              <a:t>set_property  PACKAGE_PIN Y22 [get_ports LED[5]]</a:t>
            </a:r>
          </a:p>
          <a:p>
            <a:pPr marL="0" indent="0">
              <a:buNone/>
            </a:pPr>
            <a:r>
              <a:rPr lang="zh-CN" altLang="en-US" dirty="0"/>
              <a:t>set_property  IOSTANDARD LVCMOS33 [get_ports LED[4]]</a:t>
            </a:r>
          </a:p>
          <a:p>
            <a:pPr marL="0" indent="0">
              <a:buNone/>
            </a:pPr>
            <a:r>
              <a:rPr lang="zh-CN" altLang="en-US" dirty="0"/>
              <a:t>set_property  PACKAGE_PIN Y23 [get_ports LED[4]]</a:t>
            </a:r>
          </a:p>
          <a:p>
            <a:pPr marL="0" indent="0">
              <a:buNone/>
            </a:pPr>
            <a:r>
              <a:rPr lang="zh-CN" altLang="en-US" dirty="0"/>
              <a:t>set_property  IOSTANDARD LVCMOS33 [get_ports LED[3]]</a:t>
            </a:r>
          </a:p>
          <a:p>
            <a:pPr marL="0" indent="0">
              <a:buNone/>
            </a:pPr>
            <a:r>
              <a:rPr lang="zh-CN" altLang="en-US" dirty="0"/>
              <a:t>set_property  PACKAGE_PIN AA23 [get_ports LED[3]]</a:t>
            </a:r>
          </a:p>
          <a:p>
            <a:pPr marL="0" indent="0">
              <a:buNone/>
            </a:pPr>
            <a:r>
              <a:rPr lang="zh-CN" altLang="en-US" dirty="0"/>
              <a:t>set_property  IOSTANDARD LVCMOS33 [get_ports LED[2]]</a:t>
            </a:r>
          </a:p>
          <a:p>
            <a:pPr marL="0" indent="0">
              <a:buNone/>
            </a:pPr>
            <a:r>
              <a:rPr lang="zh-CN" altLang="en-US" dirty="0"/>
              <a:t>set_property  PACKAGE_PIN Y25 [get_ports LED[2]]</a:t>
            </a:r>
          </a:p>
          <a:p>
            <a:pPr marL="0" indent="0">
              <a:buNone/>
            </a:pPr>
            <a:r>
              <a:rPr lang="zh-CN" altLang="en-US" dirty="0"/>
              <a:t>set_property  IOSTANDARD LVCMOS33 [get_ports LED[1]]</a:t>
            </a:r>
          </a:p>
          <a:p>
            <a:pPr marL="0" indent="0">
              <a:buNone/>
            </a:pPr>
            <a:r>
              <a:rPr lang="zh-CN" altLang="en-US" dirty="0"/>
              <a:t>set_property  PACKAGE_PIN AB26 [get_ports LED[1]]</a:t>
            </a:r>
          </a:p>
          <a:p>
            <a:pPr marL="0" indent="0">
              <a:buNone/>
            </a:pPr>
            <a:r>
              <a:rPr lang="zh-CN" altLang="en-US" dirty="0"/>
              <a:t>set_property  IOSTANDARD LVCMOS33 [get_ports LED[0]]</a:t>
            </a:r>
          </a:p>
          <a:p>
            <a:pPr marL="0" indent="0">
              <a:buNone/>
            </a:pPr>
            <a:r>
              <a:rPr lang="zh-CN" altLang="en-US" dirty="0"/>
              <a:t>set_property  PACKAGE_PIN W23 [get_ports LED[0]]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                注意空格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8157592" cy="954360"/>
          </a:xfrm>
        </p:spPr>
        <p:txBody>
          <a:bodyPr>
            <a:normAutofit/>
          </a:bodyPr>
          <a:lstStyle/>
          <a:p>
            <a:r>
              <a:rPr lang="zh-CN" altLang="en-US" dirty="0"/>
              <a:t>任务</a:t>
            </a:r>
            <a:r>
              <a:rPr lang="en-US" altLang="zh-CN" dirty="0"/>
              <a:t>2</a:t>
            </a:r>
            <a:r>
              <a:rPr lang="zh-CN" altLang="en-US" dirty="0"/>
              <a:t>：实现楼道灯控制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新建工程</a:t>
            </a:r>
            <a:r>
              <a:rPr lang="en-US" altLang="zh-CN" dirty="0">
                <a:solidFill>
                  <a:srgbClr val="FF0000"/>
                </a:solidFill>
              </a:rPr>
              <a:t>LAB5_LampCtrl138</a:t>
            </a:r>
            <a:r>
              <a:rPr lang="zh-CN" altLang="en-US" dirty="0">
                <a:solidFill>
                  <a:srgbClr val="FF0000"/>
                </a:solidFill>
              </a:rPr>
              <a:t>。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（第三个工程）</a:t>
            </a:r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95" y="2853055"/>
            <a:ext cx="6814185" cy="360489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LampCtrl138</a:t>
            </a:r>
            <a:r>
              <a:rPr lang="zh-CN" altLang="en-US" dirty="0">
                <a:sym typeface="+mn-ea"/>
              </a:rPr>
              <a:t>电路图</a:t>
            </a:r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605" y="4779645"/>
            <a:ext cx="8229600" cy="20275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60" y="2132965"/>
            <a:ext cx="7011035" cy="2191385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/>
        </p:nvSpPr>
        <p:spPr>
          <a:xfrm>
            <a:off x="323850" y="1268730"/>
            <a:ext cx="8229600" cy="1092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80000"/>
              <a:buFont typeface="Wingdings" panose="05000000000000000000" pitchFamily="2" charset="2"/>
              <a:buChar char="p"/>
              <a:defRPr sz="3200" b="1" kern="120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n"/>
              <a:defRPr sz="2800" b="1" kern="120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p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rgbClr val="FF0000"/>
                </a:solidFill>
              </a:rPr>
              <a:t>Logisim</a:t>
            </a:r>
            <a:r>
              <a:rPr lang="zh-CN" altLang="en-US" sz="2400" dirty="0">
                <a:solidFill>
                  <a:srgbClr val="FF0000"/>
                </a:solidFill>
              </a:rPr>
              <a:t>项目</a:t>
            </a:r>
            <a:r>
              <a:rPr lang="en-US" altLang="zh-CN" sz="2400" dirty="0">
                <a:solidFill>
                  <a:srgbClr val="FF0000"/>
                </a:solidFill>
              </a:rPr>
              <a:t>(</a:t>
            </a:r>
            <a:r>
              <a:rPr lang="zh-CN" altLang="en-US" sz="2400" dirty="0">
                <a:solidFill>
                  <a:srgbClr val="FF0000"/>
                </a:solidFill>
              </a:rPr>
              <a:t>工程</a:t>
            </a:r>
            <a:r>
              <a:rPr lang="en-US" altLang="zh-CN" sz="2400" dirty="0">
                <a:solidFill>
                  <a:srgbClr val="FF0000"/>
                </a:solidFill>
              </a:rPr>
              <a:t>)LAB5_D_74LS138</a:t>
            </a:r>
            <a:r>
              <a:rPr lang="zh-CN" altLang="en-US" sz="2400" dirty="0">
                <a:solidFill>
                  <a:srgbClr val="FF0000"/>
                </a:solidFill>
              </a:rPr>
              <a:t>中新建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  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电路图</a:t>
            </a: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LampCtrl138</a:t>
            </a:r>
            <a:r>
              <a:rPr lang="en-US" altLang="zh-CN" dirty="0"/>
              <a:t> </a:t>
            </a:r>
            <a:endParaRPr dirty="0"/>
          </a:p>
          <a:p>
            <a:pPr marL="0" indent="0">
              <a:buNone/>
            </a:pPr>
            <a:endParaRPr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1140" y="242570"/>
            <a:ext cx="7743825" cy="954405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rgbClr val="FF0000"/>
                </a:solidFill>
                <a:sym typeface="+mn-ea"/>
              </a:rPr>
              <a:t>LampCtrl138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转换成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Verilog code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11505" y="1484630"/>
            <a:ext cx="4911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ym typeface="+mn-ea"/>
              </a:rPr>
              <a:t>D_74LS138_TEST</a:t>
            </a:r>
            <a:r>
              <a:rPr lang="zh-CN" altLang="en-US">
                <a:sym typeface="+mn-ea"/>
              </a:rPr>
              <a:t>电路图转换成</a:t>
            </a:r>
            <a:r>
              <a:rPr lang="en-US" altLang="zh-CN">
                <a:sym typeface="+mn-ea"/>
              </a:rPr>
              <a:t>Verilog code</a:t>
            </a:r>
            <a:endParaRPr lang="zh-CN" altLang="en-US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9160" y="1988820"/>
            <a:ext cx="7873365" cy="44196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LampCtrl138 Verilog Code</a:t>
            </a:r>
            <a:endParaRPr lang="en-US" altLang="zh-CN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1775" y="3154680"/>
            <a:ext cx="6455410" cy="35655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23215" y="1196975"/>
            <a:ext cx="4993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Vivado New Source -&gt;Add Directories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20" y="1484630"/>
            <a:ext cx="5467350" cy="173291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Create Simulation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6185" y="1600200"/>
            <a:ext cx="669036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仿真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同实验</a:t>
            </a:r>
            <a:r>
              <a:rPr lang="en-US" altLang="zh-CN" dirty="0"/>
              <a:t>4</a:t>
            </a:r>
            <a:r>
              <a:rPr lang="zh-CN" altLang="en-US" dirty="0"/>
              <a:t>。</a:t>
            </a:r>
            <a:r>
              <a:rPr lang="zh-CN" altLang="en-US" dirty="0">
                <a:sym typeface="+mn-ea"/>
              </a:rPr>
              <a:t>（</a:t>
            </a:r>
            <a:r>
              <a:rPr lang="en-US" altLang="zh-CN" dirty="0">
                <a:sym typeface="+mn-ea"/>
              </a:rPr>
              <a:t>initial</a:t>
            </a:r>
            <a:r>
              <a:rPr lang="zh-CN" altLang="en-US" dirty="0">
                <a:sym typeface="+mn-ea"/>
              </a:rPr>
              <a:t>主要代码）</a:t>
            </a:r>
            <a:endParaRPr lang="zh-CN" altLang="en-US" dirty="0"/>
          </a:p>
          <a:p>
            <a:pPr>
              <a:lnSpc>
                <a:spcPct val="110000"/>
              </a:lnSpc>
              <a:spcBef>
                <a:spcPts val="0"/>
              </a:spcBef>
              <a:buClrTx/>
              <a:buSzTx/>
              <a:buNone/>
              <a:defRPr/>
            </a:pPr>
            <a:r>
              <a:rPr lang="en-US" altLang="zh-CN" dirty="0">
                <a:solidFill>
                  <a:schemeClr val="tx1"/>
                </a:solidFill>
                <a:latin typeface="Courier New" panose="02070309020205020404" pitchFamily="49" charset="0"/>
                <a:ea typeface="新宋体" panose="02010609030101010101" charset="-122"/>
                <a:cs typeface="Courier New" panose="02070309020205020404" pitchFamily="49" charset="0"/>
                <a:sym typeface="+mn-ea"/>
              </a:rPr>
              <a:t>	integer i;</a:t>
            </a:r>
            <a:endParaRPr lang="en-US" altLang="zh-CN" dirty="0">
              <a:solidFill>
                <a:schemeClr val="tx1"/>
              </a:solidFill>
              <a:latin typeface="Courier New" panose="02070309020205020404" pitchFamily="49" charset="0"/>
              <a:ea typeface="新宋体" panose="02010609030101010101" charset="-122"/>
              <a:cs typeface="Courier New" panose="020703090202050204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ClrTx/>
              <a:buSzTx/>
              <a:buNone/>
              <a:defRPr/>
            </a:pPr>
            <a:r>
              <a:rPr lang="en-US" altLang="zh-CN" dirty="0">
                <a:solidFill>
                  <a:schemeClr val="tx1"/>
                </a:solidFill>
                <a:latin typeface="Courier New" panose="02070309020205020404" pitchFamily="49" charset="0"/>
                <a:ea typeface="新宋体" panose="02010609030101010101" charset="-122"/>
                <a:cs typeface="Courier New" panose="02070309020205020404" pitchFamily="49" charset="0"/>
                <a:sym typeface="+mn-ea"/>
              </a:rPr>
              <a:t>	initial begin</a:t>
            </a:r>
            <a:endParaRPr lang="en-US" altLang="zh-CN" dirty="0">
              <a:solidFill>
                <a:schemeClr val="tx1"/>
              </a:solidFill>
              <a:latin typeface="Courier New" panose="02070309020205020404" pitchFamily="49" charset="0"/>
              <a:ea typeface="新宋体" panose="02010609030101010101" charset="-122"/>
              <a:cs typeface="Courier New" panose="020703090202050204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ClrTx/>
              <a:buSzTx/>
              <a:buNone/>
              <a:defRPr/>
            </a:pPr>
            <a:r>
              <a:rPr lang="en-US" altLang="zh-CN" dirty="0">
                <a:solidFill>
                  <a:schemeClr val="tx1"/>
                </a:solidFill>
                <a:latin typeface="Courier New" panose="02070309020205020404" pitchFamily="49" charset="0"/>
                <a:ea typeface="新宋体" panose="02010609030101010101" charset="-122"/>
                <a:cs typeface="Courier New" panose="02070309020205020404" pitchFamily="49" charset="0"/>
                <a:sym typeface="+mn-ea"/>
              </a:rPr>
              <a:t>		for(i=0;i&lt;=8;i=i+1)begin</a:t>
            </a:r>
            <a:endParaRPr lang="en-US" altLang="zh-CN" dirty="0">
              <a:solidFill>
                <a:schemeClr val="tx1"/>
              </a:solidFill>
              <a:latin typeface="Courier New" panose="02070309020205020404" pitchFamily="49" charset="0"/>
              <a:ea typeface="新宋体" panose="02010609030101010101" charset="-122"/>
              <a:cs typeface="Courier New" panose="020703090202050204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ClrTx/>
              <a:buSzTx/>
              <a:buNone/>
              <a:defRPr/>
            </a:pPr>
            <a:r>
              <a:rPr lang="en-US" altLang="zh-CN" dirty="0">
                <a:solidFill>
                  <a:schemeClr val="tx1"/>
                </a:solidFill>
                <a:latin typeface="Courier New" panose="02070309020205020404" pitchFamily="49" charset="0"/>
                <a:ea typeface="新宋体" panose="02010609030101010101" charset="-122"/>
                <a:cs typeface="Courier New" panose="02070309020205020404" pitchFamily="49" charset="0"/>
                <a:sym typeface="+mn-ea"/>
              </a:rPr>
              <a:t>			{S3,S2,S1} &lt;= i;</a:t>
            </a:r>
            <a:endParaRPr lang="en-US" altLang="zh-CN" dirty="0">
              <a:solidFill>
                <a:schemeClr val="tx1"/>
              </a:solidFill>
              <a:latin typeface="Courier New" panose="02070309020205020404" pitchFamily="49" charset="0"/>
              <a:ea typeface="新宋体" panose="02010609030101010101" charset="-122"/>
              <a:cs typeface="Courier New" panose="020703090202050204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ClrTx/>
              <a:buSzTx/>
              <a:buNone/>
              <a:defRPr/>
            </a:pPr>
            <a:r>
              <a:rPr lang="en-US" altLang="zh-CN" dirty="0">
                <a:solidFill>
                  <a:schemeClr val="tx1"/>
                </a:solidFill>
                <a:latin typeface="Courier New" panose="02070309020205020404" pitchFamily="49" charset="0"/>
                <a:ea typeface="新宋体" panose="02010609030101010101" charset="-122"/>
                <a:cs typeface="Courier New" panose="02070309020205020404" pitchFamily="49" charset="0"/>
                <a:sym typeface="+mn-ea"/>
              </a:rPr>
              <a:t>			#50;</a:t>
            </a:r>
            <a:endParaRPr lang="en-US" altLang="zh-CN" dirty="0">
              <a:solidFill>
                <a:schemeClr val="tx1"/>
              </a:solidFill>
              <a:latin typeface="Courier New" panose="02070309020205020404" pitchFamily="49" charset="0"/>
              <a:ea typeface="新宋体" panose="02010609030101010101" charset="-122"/>
              <a:cs typeface="Courier New" panose="020703090202050204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ClrTx/>
              <a:buSzTx/>
              <a:buNone/>
              <a:defRPr/>
            </a:pPr>
            <a:r>
              <a:rPr lang="en-US" altLang="zh-CN" dirty="0">
                <a:solidFill>
                  <a:schemeClr val="tx1"/>
                </a:solidFill>
                <a:latin typeface="Courier New" panose="02070309020205020404" pitchFamily="49" charset="0"/>
                <a:ea typeface="新宋体" panose="02010609030101010101" charset="-122"/>
                <a:cs typeface="Courier New" panose="02070309020205020404" pitchFamily="49" charset="0"/>
                <a:sym typeface="+mn-ea"/>
              </a:rPr>
              <a:t>		end</a:t>
            </a:r>
            <a:endParaRPr lang="en-US" altLang="zh-CN" dirty="0">
              <a:solidFill>
                <a:schemeClr val="tx1"/>
              </a:solidFill>
              <a:latin typeface="Courier New" panose="02070309020205020404" pitchFamily="49" charset="0"/>
              <a:ea typeface="新宋体" panose="02010609030101010101" charset="-122"/>
              <a:cs typeface="Courier New" panose="020703090202050204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ClrTx/>
              <a:buSzTx/>
              <a:buNone/>
              <a:defRPr/>
            </a:pPr>
            <a:r>
              <a:rPr lang="en-US" altLang="zh-CN" dirty="0">
                <a:solidFill>
                  <a:schemeClr val="tx1"/>
                </a:solidFill>
                <a:latin typeface="Courier New" panose="02070309020205020404" pitchFamily="49" charset="0"/>
                <a:ea typeface="新宋体" panose="02010609030101010101" charset="-122"/>
                <a:cs typeface="Courier New" panose="02070309020205020404" pitchFamily="49" charset="0"/>
                <a:sym typeface="+mn-ea"/>
              </a:rPr>
              <a:t>	end</a:t>
            </a:r>
            <a:endParaRPr lang="zh-CN" alt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Simulation code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505" y="3933190"/>
            <a:ext cx="8229600" cy="23094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530" y="1341120"/>
            <a:ext cx="2743200" cy="256984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下载验证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/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UCF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引脚定义</a:t>
            </a:r>
          </a:p>
          <a:p>
            <a:pPr marL="1257300" lvl="2" indent="-457200"/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输入用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个开关</a:t>
            </a:r>
          </a:p>
          <a:p>
            <a:pPr marL="800100" lvl="2" indent="0"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S1,S2,S3</a:t>
            </a:r>
          </a:p>
          <a:p>
            <a:pPr marL="1257300" lvl="2" indent="-457200"/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输出用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800100" lvl="2" indent="0">
              <a:buNone/>
            </a:pP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constraints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9795" y="1600200"/>
            <a:ext cx="709803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constraints lamp_xdc</a:t>
            </a:r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3315" y="1487805"/>
            <a:ext cx="6733540" cy="463867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constraints code</a:t>
            </a:r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0820" y="1746250"/>
            <a:ext cx="4895850" cy="335216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60648"/>
            <a:ext cx="7005464" cy="720080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电路设计实验箱说明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4" y="1260247"/>
            <a:ext cx="9062680" cy="280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 descr="实验台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110" y="4001135"/>
            <a:ext cx="6714490" cy="268478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SWORD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FPGA</a:t>
            </a:r>
            <a:endParaRPr lang="zh-CN" altLang="en-US"/>
          </a:p>
        </p:txBody>
      </p:sp>
      <p:pic>
        <p:nvPicPr>
          <p:cNvPr id="4" name="内容占位符 3" descr="微信图片_20171016163315_副本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7205" y="1600200"/>
            <a:ext cx="4630420" cy="4526280"/>
          </a:xfrm>
          <a:prstGeom prst="rect">
            <a:avLst/>
          </a:prstGeom>
        </p:spPr>
      </p:pic>
      <p:pic>
        <p:nvPicPr>
          <p:cNvPr id="5" name="内容占位符 3" descr="微信图片_20171016163719_副本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6730" y="1600200"/>
            <a:ext cx="339471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计算机逻辑设计实验要求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2870" y="1344295"/>
            <a:ext cx="8951595" cy="5438140"/>
          </a:xfrm>
        </p:spPr>
        <p:txBody>
          <a:bodyPr>
            <a:normAutofit fontScale="77500" lnSpcReduction="10000"/>
          </a:bodyPr>
          <a:lstStyle/>
          <a:p>
            <a:pPr marL="0" indent="0">
              <a:buNone/>
            </a:pPr>
            <a:r>
              <a:rPr lang="en-US" altLang="zh-CN" sz="3100"/>
              <a:t>1.</a:t>
            </a:r>
            <a:r>
              <a:rPr lang="zh-CN" altLang="en-US" sz="3100"/>
              <a:t>逻辑设计共：</a:t>
            </a:r>
            <a:r>
              <a:rPr lang="en-US" altLang="zh-CN" sz="3100"/>
              <a:t>13</a:t>
            </a:r>
            <a:r>
              <a:rPr lang="zh-CN" altLang="en-US" sz="3100"/>
              <a:t>个实验。每次实验课</a:t>
            </a:r>
            <a:r>
              <a:rPr lang="en-US" altLang="zh-CN" sz="3100"/>
              <a:t>“</a:t>
            </a:r>
            <a:r>
              <a:rPr lang="en-US" altLang="zh-CN" sz="3100">
                <a:latin typeface="Arial" panose="020B0604020202020204" pitchFamily="34" charset="0"/>
                <a:cs typeface="Arial" panose="020B0604020202020204" pitchFamily="34" charset="0"/>
              </a:rPr>
              <a:t>√</a:t>
            </a:r>
            <a:r>
              <a:rPr lang="en-US" altLang="zh-CN" sz="3100"/>
              <a:t>”</a:t>
            </a:r>
            <a:r>
              <a:rPr lang="zh-CN" altLang="en-US" sz="3100"/>
              <a:t>签到。</a:t>
            </a:r>
          </a:p>
          <a:p>
            <a:pPr marL="0" indent="0">
              <a:buNone/>
            </a:pPr>
            <a:r>
              <a:rPr lang="en-US" altLang="zh-CN" sz="3100"/>
              <a:t>2.</a:t>
            </a:r>
            <a:r>
              <a:rPr lang="zh-CN" altLang="en-US" sz="3100"/>
              <a:t>每个实验完成后必须给老师检查通过后在点名册对应实验中签名（没有签名说明实验没有完成）。</a:t>
            </a:r>
          </a:p>
          <a:p>
            <a:pPr marL="0" indent="0">
              <a:buNone/>
            </a:pPr>
            <a:r>
              <a:rPr lang="en-US" altLang="zh-CN" sz="3100"/>
              <a:t>3.</a:t>
            </a:r>
            <a:r>
              <a:rPr lang="zh-CN" altLang="en-US" sz="3100"/>
              <a:t>实验</a:t>
            </a:r>
            <a:r>
              <a:rPr lang="en-US" altLang="zh-CN" sz="3100"/>
              <a:t>1</a:t>
            </a:r>
            <a:r>
              <a:rPr lang="zh-CN" altLang="en-US" sz="3100"/>
              <a:t>至</a:t>
            </a:r>
            <a:r>
              <a:rPr lang="en-US" altLang="zh-CN" sz="3100"/>
              <a:t>3</a:t>
            </a:r>
            <a:r>
              <a:rPr lang="zh-CN" altLang="en-US" sz="3100"/>
              <a:t>必须实验课结束之前完成，实验</a:t>
            </a:r>
            <a:r>
              <a:rPr lang="en-US" altLang="zh-CN" sz="3100"/>
              <a:t>4</a:t>
            </a:r>
            <a:r>
              <a:rPr lang="zh-CN" altLang="en-US" sz="3100"/>
              <a:t>是</a:t>
            </a:r>
            <a:r>
              <a:rPr lang="en-US" altLang="zh-CN" sz="3100"/>
              <a:t>ISE</a:t>
            </a:r>
            <a:r>
              <a:rPr lang="zh-CN" altLang="en-US" sz="3100"/>
              <a:t>平台介绍主要课后自学，实验</a:t>
            </a:r>
            <a:r>
              <a:rPr lang="en-US" altLang="zh-CN" sz="3100"/>
              <a:t>5-13</a:t>
            </a:r>
            <a:r>
              <a:rPr lang="zh-CN" altLang="en-US" sz="3100"/>
              <a:t>在下一次课结束时完成。延期完成请及时给老师检查，同时会扣一定的分数。</a:t>
            </a:r>
          </a:p>
          <a:p>
            <a:pPr marL="0" indent="0">
              <a:buNone/>
            </a:pPr>
            <a:r>
              <a:rPr lang="en-US" altLang="zh-CN" sz="3100"/>
              <a:t>4.</a:t>
            </a:r>
            <a:r>
              <a:rPr lang="zh-CN" altLang="en-US" sz="3100"/>
              <a:t>实验报告说明：实验</a:t>
            </a:r>
            <a:r>
              <a:rPr lang="en-US" altLang="zh-CN" sz="3100"/>
              <a:t>1-4</a:t>
            </a:r>
            <a:r>
              <a:rPr lang="zh-CN" altLang="en-US" sz="3100"/>
              <a:t>、</a:t>
            </a:r>
            <a:r>
              <a:rPr lang="zh-CN" altLang="en-US" sz="3100">
                <a:sym typeface="+mn-ea"/>
              </a:rPr>
              <a:t>实验</a:t>
            </a:r>
            <a:r>
              <a:rPr lang="en-US" altLang="zh-CN" sz="3100">
                <a:sym typeface="+mn-ea"/>
              </a:rPr>
              <a:t>5-7</a:t>
            </a:r>
            <a:r>
              <a:rPr lang="zh-CN" altLang="en-US" sz="3100">
                <a:sym typeface="+mn-ea"/>
              </a:rPr>
              <a:t>、实验</a:t>
            </a:r>
            <a:r>
              <a:rPr lang="en-US" altLang="zh-CN" sz="3100">
                <a:sym typeface="+mn-ea"/>
              </a:rPr>
              <a:t>8-10</a:t>
            </a:r>
            <a:r>
              <a:rPr lang="zh-CN" altLang="en-US" sz="3100">
                <a:sym typeface="+mn-ea"/>
              </a:rPr>
              <a:t>、实验</a:t>
            </a:r>
            <a:r>
              <a:rPr lang="en-US" altLang="zh-CN" sz="3100">
                <a:sym typeface="+mn-ea"/>
              </a:rPr>
              <a:t>11-13</a:t>
            </a:r>
            <a:r>
              <a:rPr lang="zh-CN" altLang="en-US" sz="3100">
                <a:sym typeface="+mn-ea"/>
              </a:rPr>
              <a:t>各</a:t>
            </a:r>
            <a:r>
              <a:rPr lang="zh-CN" altLang="en-US" sz="3100"/>
              <a:t>合写一份报告，共计</a:t>
            </a:r>
            <a:r>
              <a:rPr lang="en-US" altLang="zh-CN" sz="3100"/>
              <a:t>4</a:t>
            </a:r>
            <a:r>
              <a:rPr lang="zh-CN" altLang="en-US" sz="3100"/>
              <a:t>份报告。报告迟交每天扣</a:t>
            </a:r>
            <a:r>
              <a:rPr lang="en-US" altLang="zh-CN" sz="3100"/>
              <a:t>5</a:t>
            </a:r>
            <a:r>
              <a:rPr lang="zh-CN" altLang="en-US" sz="3100"/>
              <a:t>分。</a:t>
            </a:r>
          </a:p>
          <a:p>
            <a:pPr marL="0" indent="0">
              <a:buNone/>
            </a:pPr>
            <a:r>
              <a:rPr lang="en-US" altLang="zh-CN" sz="3100"/>
              <a:t>5.</a:t>
            </a:r>
            <a:r>
              <a:rPr lang="zh-CN" altLang="en-US" sz="3100"/>
              <a:t>实验占总成绩</a:t>
            </a:r>
            <a:r>
              <a:rPr lang="en-US" altLang="zh-CN" sz="3100"/>
              <a:t>30</a:t>
            </a:r>
            <a:r>
              <a:rPr lang="zh-CN" altLang="en-US" sz="3100"/>
              <a:t>分。每个实验完成签名</a:t>
            </a:r>
            <a:r>
              <a:rPr lang="en-US" altLang="zh-CN" sz="3100"/>
              <a:t>1</a:t>
            </a:r>
            <a:r>
              <a:rPr lang="zh-CN" altLang="en-US" sz="3100"/>
              <a:t>分，小计</a:t>
            </a:r>
            <a:r>
              <a:rPr lang="en-US" altLang="zh-CN" sz="3100"/>
              <a:t>13</a:t>
            </a:r>
            <a:r>
              <a:rPr lang="zh-CN" altLang="en-US" sz="3100"/>
              <a:t>分。每</a:t>
            </a:r>
            <a:r>
              <a:rPr lang="zh-CN" altLang="en-US" sz="3100">
                <a:sym typeface="+mn-ea"/>
              </a:rPr>
              <a:t>份报告</a:t>
            </a:r>
            <a:r>
              <a:rPr lang="en-US" altLang="zh-CN" sz="3100">
                <a:sym typeface="+mn-ea"/>
              </a:rPr>
              <a:t>4</a:t>
            </a:r>
            <a:r>
              <a:rPr lang="zh-CN" altLang="en-US" sz="3100">
                <a:sym typeface="+mn-ea"/>
              </a:rPr>
              <a:t>分，小计</a:t>
            </a:r>
            <a:r>
              <a:rPr lang="en-US" altLang="zh-CN" sz="3100">
                <a:sym typeface="+mn-ea"/>
              </a:rPr>
              <a:t>16</a:t>
            </a:r>
            <a:r>
              <a:rPr lang="zh-CN" altLang="en-US" sz="3100">
                <a:sym typeface="+mn-ea"/>
              </a:rPr>
              <a:t>分，加</a:t>
            </a:r>
            <a:r>
              <a:rPr lang="en-US" altLang="zh-CN" sz="3100">
                <a:sym typeface="+mn-ea"/>
              </a:rPr>
              <a:t>1</a:t>
            </a:r>
            <a:r>
              <a:rPr lang="zh-CN" altLang="en-US" sz="3100">
                <a:sym typeface="+mn-ea"/>
              </a:rPr>
              <a:t>分机动合计</a:t>
            </a:r>
            <a:r>
              <a:rPr lang="en-US" altLang="zh-CN" sz="3100">
                <a:sym typeface="+mn-ea"/>
              </a:rPr>
              <a:t>30</a:t>
            </a:r>
            <a:r>
              <a:rPr lang="zh-CN" altLang="en-US" sz="3100">
                <a:sym typeface="+mn-ea"/>
              </a:rPr>
              <a:t>分。超过</a:t>
            </a:r>
            <a:r>
              <a:rPr lang="en-US" altLang="zh-CN" sz="3100">
                <a:sym typeface="+mn-ea"/>
              </a:rPr>
              <a:t>5</a:t>
            </a:r>
            <a:r>
              <a:rPr lang="zh-CN" altLang="en-US" sz="3100">
                <a:sym typeface="+mn-ea"/>
              </a:rPr>
              <a:t>个实验来完成，实验成绩计</a:t>
            </a:r>
            <a:r>
              <a:rPr lang="en-US" altLang="zh-CN" sz="3100">
                <a:sym typeface="+mn-ea"/>
              </a:rPr>
              <a:t>0</a:t>
            </a:r>
            <a:r>
              <a:rPr lang="zh-CN" altLang="en-US" sz="3100">
                <a:sym typeface="+mn-ea"/>
              </a:rPr>
              <a:t>分。</a:t>
            </a:r>
          </a:p>
          <a:p>
            <a:pPr marL="0" indent="0">
              <a:buNone/>
            </a:pPr>
            <a:r>
              <a:rPr lang="en-US" altLang="zh-CN" sz="3100">
                <a:sym typeface="+mn-ea"/>
              </a:rPr>
              <a:t>6.</a:t>
            </a:r>
            <a:r>
              <a:rPr lang="zh-CN" altLang="en-US" sz="3100">
                <a:sym typeface="+mn-ea"/>
              </a:rPr>
              <a:t>实验报告必须上交到指定的网站：</a:t>
            </a:r>
            <a:r>
              <a:rPr lang="zh-CN" altLang="en-US" sz="4000">
                <a:solidFill>
                  <a:srgbClr val="FF0000"/>
                </a:solidFill>
                <a:sym typeface="+mn-ea"/>
              </a:rPr>
              <a:t>学在浙大</a:t>
            </a:r>
            <a:r>
              <a:rPr lang="en-US" altLang="zh-CN" sz="4000">
                <a:solidFill>
                  <a:srgbClr val="FF0000"/>
                </a:solidFill>
                <a:sym typeface="+mn-ea"/>
              </a:rPr>
              <a:t>,</a:t>
            </a:r>
            <a:r>
              <a:rPr lang="zh-CN" altLang="en-US" sz="4000">
                <a:solidFill>
                  <a:srgbClr val="FF0000"/>
                </a:solidFill>
                <a:sym typeface="+mn-ea"/>
              </a:rPr>
              <a:t>钉钉发给老师不计成绩。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实验室规章制度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975"/>
            <a:ext cx="8229600" cy="3733800"/>
          </a:xfrm>
        </p:spPr>
        <p:txBody>
          <a:bodyPr>
            <a:normAutofit fontScale="90000" lnSpcReduction="10000"/>
          </a:bodyPr>
          <a:lstStyle/>
          <a:p>
            <a:pPr marL="0" indent="0">
              <a:buNone/>
            </a:pPr>
            <a:r>
              <a:rPr lang="en-US" altLang="zh-CN"/>
              <a:t>1.</a:t>
            </a:r>
            <a:r>
              <a:rPr lang="zh-CN" altLang="en-US"/>
              <a:t>不能在实验室内吃零食和就餐。订餐请到走道上就餐。</a:t>
            </a:r>
          </a:p>
          <a:p>
            <a:pPr marL="0" indent="0">
              <a:buNone/>
            </a:pPr>
            <a:r>
              <a:rPr lang="en-US" altLang="zh-CN"/>
              <a:t>2.</a:t>
            </a:r>
            <a:r>
              <a:rPr lang="zh-CN" altLang="en-US"/>
              <a:t>实验结束时请关闭电脑主机电源，勿关显示器电源，后面实验同学以为电脑坏了。</a:t>
            </a:r>
          </a:p>
          <a:p>
            <a:pPr marL="0" indent="0">
              <a:buNone/>
            </a:pPr>
            <a:r>
              <a:rPr lang="en-US" altLang="zh-CN"/>
              <a:t>3.</a:t>
            </a:r>
            <a:r>
              <a:rPr lang="en-US" altLang="zh-CN">
                <a:sym typeface="+mn-ea"/>
              </a:rPr>
              <a:t>Sword</a:t>
            </a:r>
            <a:r>
              <a:rPr lang="zh-CN" altLang="en-US">
                <a:sym typeface="+mn-ea"/>
              </a:rPr>
              <a:t>实验箱</a:t>
            </a:r>
            <a:r>
              <a:rPr lang="zh-CN" altLang="en-US"/>
              <a:t>的盖子不要合上，</a:t>
            </a:r>
            <a:r>
              <a:rPr lang="zh-CN" altLang="en-US">
                <a:sym typeface="+mn-ea"/>
              </a:rPr>
              <a:t>关闭各种仪器的电源。导线放实验箱内。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4.</a:t>
            </a:r>
            <a:r>
              <a:rPr lang="zh-CN" altLang="en-US">
                <a:sym typeface="+mn-ea"/>
              </a:rPr>
              <a:t>实验结束后请整理好</a:t>
            </a:r>
            <a:r>
              <a:rPr lang="zh-CN" altLang="en-US" sz="5000">
                <a:solidFill>
                  <a:srgbClr val="FF0000"/>
                </a:solidFill>
                <a:sym typeface="+mn-ea"/>
              </a:rPr>
              <a:t>椅子</a:t>
            </a:r>
            <a:r>
              <a:rPr lang="zh-CN" altLang="en-US">
                <a:sym typeface="+mn-ea"/>
              </a:rPr>
              <a:t>，实验签上</a:t>
            </a:r>
            <a:r>
              <a:rPr lang="zh-CN" altLang="en-US" sz="3555">
                <a:solidFill>
                  <a:srgbClr val="FF0000"/>
                </a:solidFill>
                <a:sym typeface="+mn-ea"/>
              </a:rPr>
              <a:t>椅子号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</p:txBody>
      </p:sp>
      <p:pic>
        <p:nvPicPr>
          <p:cNvPr id="5" name="图片 4" descr="椅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30" y="4627880"/>
            <a:ext cx="2421890" cy="2178050"/>
          </a:xfrm>
          <a:prstGeom prst="rect">
            <a:avLst/>
          </a:prstGeom>
        </p:spPr>
      </p:pic>
      <p:pic>
        <p:nvPicPr>
          <p:cNvPr id="6" name="图片 5" descr="SWORD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0" y="4699635"/>
            <a:ext cx="2440940" cy="2134870"/>
          </a:xfrm>
          <a:prstGeom prst="rect">
            <a:avLst/>
          </a:prstGeom>
        </p:spPr>
      </p:pic>
      <p:pic>
        <p:nvPicPr>
          <p:cNvPr id="7" name="图片 6" descr="SWORD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656455"/>
            <a:ext cx="2849245" cy="213741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实验室规章制度</a:t>
            </a:r>
            <a:endParaRPr lang="zh-CN" altLang="en-US"/>
          </a:p>
        </p:txBody>
      </p:sp>
      <p:graphicFrame>
        <p:nvGraphicFramePr>
          <p:cNvPr id="4" name="内容占位符 3"/>
          <p:cNvGraphicFramePr>
            <a:graphicFrameLocks noGrp="1" noChangeAspect="1"/>
          </p:cNvGraphicFramePr>
          <p:nvPr>
            <p:ph idx="1"/>
          </p:nvPr>
        </p:nvGraphicFramePr>
        <p:xfrm>
          <a:off x="231140" y="1548765"/>
          <a:ext cx="4103370" cy="4636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3" r:id="rId3" imgW="10810240" imgH="7562850" progId="Paint.Picture">
                  <p:embed/>
                </p:oleObj>
              </mc:Choice>
              <mc:Fallback>
                <p:oleObj r:id="rId3" imgW="10810240" imgH="756285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1140" y="1548765"/>
                        <a:ext cx="4103370" cy="46367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/>
          <p:nvPr/>
        </p:nvGraphicFramePr>
        <p:xfrm>
          <a:off x="4424045" y="1438275"/>
          <a:ext cx="4563110" cy="4817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4" r:id="rId5" imgW="10106025" imgH="11372215" progId="Paint.Picture">
                  <p:embed/>
                </p:oleObj>
              </mc:Choice>
              <mc:Fallback>
                <p:oleObj r:id="rId5" imgW="10106025" imgH="11372215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24045" y="1438275"/>
                        <a:ext cx="4563110" cy="48177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WordArt 3"/>
          <p:cNvSpPr>
            <a:spLocks noChangeArrowheads="1" noChangeShapeType="1" noTextEdit="1"/>
          </p:cNvSpPr>
          <p:nvPr/>
        </p:nvSpPr>
        <p:spPr bwMode="gray">
          <a:xfrm>
            <a:off x="2051720" y="3212976"/>
            <a:ext cx="4724400" cy="6096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5400" b="1" kern="10" dirty="0">
                <a:ln w="28575">
                  <a:solidFill>
                    <a:schemeClr val="bg1"/>
                  </a:solidFill>
                  <a:round/>
                </a:ln>
                <a:gradFill rotWithShape="1">
                  <a:gsLst>
                    <a:gs pos="0">
                      <a:schemeClr val="tx2"/>
                    </a:gs>
                    <a:gs pos="100000">
                      <a:schemeClr val="accent1"/>
                    </a:gs>
                  </a:gsLst>
                  <a:lin ang="0" scaled="1"/>
                </a:gradFill>
                <a:effectLst>
                  <a:outerShdw dist="89803" dir="2700000" algn="ctr" rotWithShape="0">
                    <a:srgbClr val="000000">
                      <a:alpha val="50000"/>
                    </a:srgbClr>
                  </a:outerShdw>
                </a:effectLst>
                <a:latin typeface="Verdana" panose="020B0604030504040204"/>
                <a:ea typeface="Verdana" panose="020B0604030504040204"/>
                <a:cs typeface="Verdana" panose="020B0604030504040204"/>
              </a:rPr>
              <a:t>Thank You !</a:t>
            </a:r>
            <a:endParaRPr lang="zh-CN" altLang="en-US" sz="5400" b="1" kern="10" dirty="0">
              <a:ln w="28575">
                <a:solidFill>
                  <a:schemeClr val="bg1"/>
                </a:solidFill>
                <a:round/>
              </a:ln>
              <a:gradFill rotWithShape="1"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1"/>
              </a:gradFill>
              <a:effectLst>
                <a:outerShdw dist="89803" dir="2700000" algn="ctr" rotWithShape="0">
                  <a:srgbClr val="000000">
                    <a:alpha val="50000"/>
                  </a:srgbClr>
                </a:outerShdw>
              </a:effectLst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d4d8a85d-7b39-4b4c-a683-6895b0b70614"/>
  <p:tag name="COMMONDATA" val="eyJoZGlkIjoiMmU5ZjJjNjQyYTMxOTRmZDUxZWUzOWQ0MzczNzQ3YT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9150,&quot;width&quot;:802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ad1fada-2f03-4db9-ac66-7dd3290aebb0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8361,&quot;width&quot;:9472}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实验室PPT模版2013 beta1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3748</Words>
  <Application>Microsoft Office PowerPoint</Application>
  <PresentationFormat>On-screen Show (4:3)</PresentationFormat>
  <Paragraphs>476</Paragraphs>
  <Slides>62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62</vt:i4>
      </vt:variant>
    </vt:vector>
  </HeadingPairs>
  <TitlesOfParts>
    <vt:vector size="81" baseType="lpstr">
      <vt:lpstr>黑体</vt:lpstr>
      <vt:lpstr>华文楷体</vt:lpstr>
      <vt:lpstr>华文细黑</vt:lpstr>
      <vt:lpstr>楷体_GB2312</vt:lpstr>
      <vt:lpstr>宋体</vt:lpstr>
      <vt:lpstr>微软雅黑</vt:lpstr>
      <vt:lpstr>新宋体</vt:lpstr>
      <vt:lpstr>Arial</vt:lpstr>
      <vt:lpstr>Calibri</vt:lpstr>
      <vt:lpstr>Courier New</vt:lpstr>
      <vt:lpstr>Helvetica</vt:lpstr>
      <vt:lpstr>Times New Roman</vt:lpstr>
      <vt:lpstr>Verdana</vt:lpstr>
      <vt:lpstr>Wingdings</vt:lpstr>
      <vt:lpstr>自定义设计方案</vt:lpstr>
      <vt:lpstr>实验室PPT模版2013 beta1</vt:lpstr>
      <vt:lpstr>1_自定义设计方案</vt:lpstr>
      <vt:lpstr>Visio</vt:lpstr>
      <vt:lpstr>Bitmap Image</vt:lpstr>
      <vt:lpstr>数字逻辑设计实验</vt:lpstr>
      <vt:lpstr>提  纲</vt:lpstr>
      <vt:lpstr>实验目的</vt:lpstr>
      <vt:lpstr>实验设备与材料</vt:lpstr>
      <vt:lpstr>实验任务</vt:lpstr>
      <vt:lpstr>实验原理</vt:lpstr>
      <vt:lpstr>变量译码器</vt:lpstr>
      <vt:lpstr>变量译码器—74LS138</vt:lpstr>
      <vt:lpstr>变量译码器—74LS138</vt:lpstr>
      <vt:lpstr>变量译码器—74LS138 连线明细图</vt:lpstr>
      <vt:lpstr>变量译码器—74LS138</vt:lpstr>
      <vt:lpstr>变量译码器—74LS139</vt:lpstr>
      <vt:lpstr>用变量译码器实现组合函数</vt:lpstr>
      <vt:lpstr>用变量译码器实现组合函数</vt:lpstr>
      <vt:lpstr>变量译码器实现存储器地址译码</vt:lpstr>
      <vt:lpstr>变量译码器实现存储器地址译码</vt:lpstr>
      <vt:lpstr>变量译码器实现存储器地址译码</vt:lpstr>
      <vt:lpstr>实验内容与步骤</vt:lpstr>
      <vt:lpstr>D_74LS138</vt:lpstr>
      <vt:lpstr>设计实现74LS138</vt:lpstr>
      <vt:lpstr>Circuit Name修改为D_74LS138</vt:lpstr>
      <vt:lpstr>电路图</vt:lpstr>
      <vt:lpstr>Splitter分流器</vt:lpstr>
      <vt:lpstr>output:Y数据位数改为8位</vt:lpstr>
      <vt:lpstr>导出为Verilog</vt:lpstr>
      <vt:lpstr>导出为Verilog</vt:lpstr>
      <vt:lpstr>导出为Verilog</vt:lpstr>
      <vt:lpstr>Vivado新建LAB5_D_74LS138</vt:lpstr>
      <vt:lpstr>New Source</vt:lpstr>
      <vt:lpstr>D_74LS138 Verilog Code</vt:lpstr>
      <vt:lpstr>Run Synthesis</vt:lpstr>
      <vt:lpstr>Simulation Code</vt:lpstr>
      <vt:lpstr>模拟图</vt:lpstr>
      <vt:lpstr>initial开始正确的模拟代码</vt:lpstr>
      <vt:lpstr>波形图示例</vt:lpstr>
      <vt:lpstr>74LS138测试电路图</vt:lpstr>
      <vt:lpstr>D_74LS138_TEST图加D_74LS138</vt:lpstr>
      <vt:lpstr>D_74LS138_TEST转Verilog code</vt:lpstr>
      <vt:lpstr>Vivado新建LAB5_D_74LS138T</vt:lpstr>
      <vt:lpstr>New Source</vt:lpstr>
      <vt:lpstr>D_74LS138 Verilog Code</vt:lpstr>
      <vt:lpstr>Run Synthesis</vt:lpstr>
      <vt:lpstr>Creat Constraints File D74LS138TEST</vt:lpstr>
      <vt:lpstr>Constraints XDC1</vt:lpstr>
      <vt:lpstr>Constraints XDC2</vt:lpstr>
      <vt:lpstr>任务2：实现楼道灯控制</vt:lpstr>
      <vt:lpstr>LampCtrl138电路图</vt:lpstr>
      <vt:lpstr>LampCtrl138转换成Verilog code</vt:lpstr>
      <vt:lpstr>LampCtrl138 Verilog Code</vt:lpstr>
      <vt:lpstr>Create Simulation</vt:lpstr>
      <vt:lpstr>仿真</vt:lpstr>
      <vt:lpstr>Simulation code</vt:lpstr>
      <vt:lpstr>下载验证</vt:lpstr>
      <vt:lpstr>constraints</vt:lpstr>
      <vt:lpstr>constraints lamp_xdc</vt:lpstr>
      <vt:lpstr>constraints code</vt:lpstr>
      <vt:lpstr>电路设计实验箱说明</vt:lpstr>
      <vt:lpstr>SWORD FPGA</vt:lpstr>
      <vt:lpstr>计算机逻辑设计实验要求</vt:lpstr>
      <vt:lpstr>实验室规章制度</vt:lpstr>
      <vt:lpstr>实验室规章制度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xu3stones</dc:creator>
  <cp:lastModifiedBy>RedFlag</cp:lastModifiedBy>
  <cp:revision>425</cp:revision>
  <dcterms:created xsi:type="dcterms:W3CDTF">2011-08-03T07:44:00Z</dcterms:created>
  <dcterms:modified xsi:type="dcterms:W3CDTF">2025-03-19T04:20:40Z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2052-12.1.0.16417</vt:lpwstr>
  </property>
  <property fmtid="{D5CDD505-2E9C-101B-9397-08002B2CF9AE}" pid="3" name="ICV">
    <vt:lpwstr>1D0CD04F2868467B9D24C45E17A437C6_13</vt:lpwstr>
  </property>
</Properties>
</file>